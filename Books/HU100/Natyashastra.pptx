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crdownload"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2"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1D8BD707-D9CF-40AE-B4C6-C98DA3205C09}" type="datetimeFigureOut">
              <a:rPr lang="en-US" smtClean="0"/>
              <a:pPr/>
              <a:t>9/11/2024</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B6F15528-21DE-4FAA-801E-634DDDAF4B2B}" type="slidenum">
              <a:rPr lang="en-US" smtClean="0"/>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9/11/2024</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B6F15528-21DE-4FAA-801E-634DDDAF4B2B}" type="slidenum">
              <a:rPr lang="en-US" smtClean="0"/>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1D8BD707-D9CF-40AE-B4C6-C98DA3205C09}" type="datetimeFigureOut">
              <a:rPr lang="en-US" smtClean="0"/>
              <a:pPr/>
              <a:t>9/11/2024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9/11/2024</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B6F15528-21DE-4FAA-801E-634DDDAF4B2B}"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9/11/2024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1D8BD707-D9CF-40AE-B4C6-C98DA3205C09}" type="datetimeFigureOut">
              <a:rPr lang="en-US" smtClean="0"/>
              <a:pPr/>
              <a:t>9/11/2024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B6F15528-21DE-4FAA-801E-634DDDAF4B2B}" type="slidenum">
              <a:rPr lang="en-US" smtClean="0"/>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9/11/2024</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B6F15528-21DE-4FAA-801E-634DDDAF4B2B}" type="slidenum">
              <a:rPr lang="en-US" smtClean="0"/>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1D8BD707-D9CF-40AE-B4C6-C98DA3205C09}" type="datetimeFigureOut">
              <a:rPr lang="en-US" smtClean="0"/>
              <a:pPr/>
              <a:t>9/11/2024</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B6F15528-21DE-4FAA-801E-634DDDAF4B2B}" type="slidenum">
              <a:rPr lang="en-US" smtClean="0"/>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9/11/2024</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1D8BD707-D9CF-40AE-B4C6-C98DA3205C09}" type="datetimeFigureOut">
              <a:rPr lang="en-US" smtClean="0"/>
              <a:pPr/>
              <a:t>9/11/2024</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B6F15528-21DE-4FAA-801E-634DDDAF4B2B}" type="slidenum">
              <a:rPr lang="en-US" smtClean="0"/>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crdownload"/><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err="1" smtClean="0"/>
              <a:t>Dr.unais</a:t>
            </a:r>
            <a:r>
              <a:rPr lang="en-US" dirty="0" smtClean="0"/>
              <a:t> kt</a:t>
            </a:r>
          </a:p>
          <a:p>
            <a:r>
              <a:rPr lang="en-US" dirty="0" smtClean="0"/>
              <a:t>Nit </a:t>
            </a:r>
            <a:r>
              <a:rPr lang="en-US" dirty="0" err="1" smtClean="0"/>
              <a:t>goa</a:t>
            </a:r>
            <a:endParaRPr lang="en-IN" dirty="0"/>
          </a:p>
        </p:txBody>
      </p:sp>
      <p:sp>
        <p:nvSpPr>
          <p:cNvPr id="2" name="Title 1"/>
          <p:cNvSpPr>
            <a:spLocks noGrp="1"/>
          </p:cNvSpPr>
          <p:nvPr>
            <p:ph type="ctrTitle"/>
          </p:nvPr>
        </p:nvSpPr>
        <p:spPr/>
        <p:txBody>
          <a:bodyPr>
            <a:normAutofit fontScale="90000"/>
          </a:bodyPr>
          <a:lstStyle/>
          <a:p>
            <a:r>
              <a:rPr lang="en-IN" sz="3600" dirty="0" smtClean="0"/>
              <a:t/>
            </a:r>
            <a:br>
              <a:rPr lang="en-IN" sz="3600" dirty="0" smtClean="0"/>
            </a:br>
            <a:r>
              <a:rPr lang="en-IN" sz="3600" dirty="0"/>
              <a:t/>
            </a:r>
            <a:br>
              <a:rPr lang="en-IN" sz="3600" dirty="0"/>
            </a:br>
            <a:r>
              <a:rPr lang="en-IN" sz="3600" dirty="0" smtClean="0"/>
              <a:t/>
            </a:r>
            <a:br>
              <a:rPr lang="en-IN" sz="3600" dirty="0" smtClean="0"/>
            </a:br>
            <a:r>
              <a:rPr lang="en-IN" sz="3600" dirty="0" smtClean="0"/>
              <a:t>Module 1</a:t>
            </a:r>
            <a:r>
              <a:rPr lang="en-IN" sz="3600" dirty="0"/>
              <a:t/>
            </a:r>
            <a:br>
              <a:rPr lang="en-IN" sz="3600" dirty="0"/>
            </a:br>
            <a:r>
              <a:rPr lang="en-IN" sz="3600" dirty="0" smtClean="0"/>
              <a:t>Introduction </a:t>
            </a:r>
            <a:r>
              <a:rPr lang="en-IN" sz="3600" dirty="0"/>
              <a:t>to </a:t>
            </a:r>
            <a:r>
              <a:rPr lang="en-IN" sz="3600" dirty="0" err="1" smtClean="0"/>
              <a:t>Natyashastra</a:t>
            </a:r>
            <a:r>
              <a:rPr lang="en-IN" sz="3600" dirty="0"/>
              <a:t/>
            </a:r>
            <a:br>
              <a:rPr lang="en-IN" sz="3600" dirty="0"/>
            </a:br>
            <a:r>
              <a:rPr lang="en-IN" sz="3100" dirty="0" err="1"/>
              <a:t>Bharatmuni</a:t>
            </a:r>
            <a:r>
              <a:rPr lang="en-IN" sz="3100" dirty="0"/>
              <a:t/>
            </a:r>
            <a:br>
              <a:rPr lang="en-IN" sz="3100" dirty="0"/>
            </a:br>
            <a:r>
              <a:rPr lang="en-IN" sz="3100" dirty="0"/>
              <a:t> </a:t>
            </a:r>
          </a:p>
        </p:txBody>
      </p:sp>
    </p:spTree>
    <p:extLst>
      <p:ext uri="{BB962C8B-B14F-4D97-AF65-F5344CB8AC3E}">
        <p14:creationId xmlns:p14="http://schemas.microsoft.com/office/powerpoint/2010/main" val="2198353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Introduction</a:t>
            </a:r>
            <a:endParaRPr lang="en-IN" dirty="0"/>
          </a:p>
        </p:txBody>
      </p:sp>
      <p:sp>
        <p:nvSpPr>
          <p:cNvPr id="3" name="Content Placeholder 2"/>
          <p:cNvSpPr>
            <a:spLocks noGrp="1"/>
          </p:cNvSpPr>
          <p:nvPr>
            <p:ph sz="quarter" idx="1"/>
          </p:nvPr>
        </p:nvSpPr>
        <p:spPr/>
        <p:txBody>
          <a:bodyPr>
            <a:normAutofit/>
          </a:bodyPr>
          <a:lstStyle/>
          <a:p>
            <a:pPr algn="just"/>
            <a:r>
              <a:rPr lang="en-US" dirty="0" err="1"/>
              <a:t>Natyashastra</a:t>
            </a:r>
            <a:r>
              <a:rPr lang="en-US" dirty="0"/>
              <a:t> by </a:t>
            </a:r>
            <a:r>
              <a:rPr lang="en-US" dirty="0" err="1"/>
              <a:t>Bharata</a:t>
            </a:r>
            <a:r>
              <a:rPr lang="en-US" dirty="0"/>
              <a:t> is the most detailed and elaborate of </a:t>
            </a:r>
            <a:r>
              <a:rPr lang="en-US" dirty="0" smtClean="0"/>
              <a:t>all treatises   </a:t>
            </a:r>
            <a:r>
              <a:rPr lang="en-US" dirty="0"/>
              <a:t>on   dramatic   criticism   and   acting   ever   written   in   </a:t>
            </a:r>
            <a:r>
              <a:rPr lang="en-US" dirty="0" smtClean="0"/>
              <a:t>any language </a:t>
            </a:r>
            <a:r>
              <a:rPr lang="en-US" dirty="0"/>
              <a:t>and is regarded as the oldest surviving text on </a:t>
            </a:r>
            <a:r>
              <a:rPr lang="en-US" dirty="0" smtClean="0"/>
              <a:t>stage craft in </a:t>
            </a:r>
            <a:r>
              <a:rPr lang="en-US" dirty="0"/>
              <a:t>the world</a:t>
            </a:r>
            <a:r>
              <a:rPr lang="en-US" dirty="0" smtClean="0"/>
              <a:t>.</a:t>
            </a:r>
          </a:p>
          <a:p>
            <a:pPr algn="just"/>
            <a:r>
              <a:rPr lang="en-US" dirty="0" err="1"/>
              <a:t>Bharata</a:t>
            </a:r>
            <a:r>
              <a:rPr lang="en-US" dirty="0"/>
              <a:t> in his </a:t>
            </a:r>
            <a:r>
              <a:rPr lang="en-US" dirty="0" err="1"/>
              <a:t>Natyashastra</a:t>
            </a:r>
            <a:r>
              <a:rPr lang="en-US" dirty="0"/>
              <a:t> demonstrates every </a:t>
            </a:r>
            <a:r>
              <a:rPr lang="en-US" dirty="0" smtClean="0"/>
              <a:t>aspect </a:t>
            </a:r>
            <a:r>
              <a:rPr lang="en-US" dirty="0"/>
              <a:t>of </a:t>
            </a:r>
            <a:r>
              <a:rPr lang="en-US" dirty="0" smtClean="0"/>
              <a:t>Indian drama </a:t>
            </a:r>
            <a:r>
              <a:rPr lang="en-US" dirty="0"/>
              <a:t>whilst covering areas like music, stage-design, make up, </a:t>
            </a:r>
            <a:r>
              <a:rPr lang="en-US" dirty="0" smtClean="0"/>
              <a:t>dance and </a:t>
            </a:r>
            <a:r>
              <a:rPr lang="en-US" dirty="0"/>
              <a:t>virtually every aspect of stagecraft</a:t>
            </a:r>
            <a:r>
              <a:rPr lang="en-US" dirty="0" smtClean="0"/>
              <a:t>.</a:t>
            </a:r>
          </a:p>
        </p:txBody>
      </p:sp>
    </p:spTree>
    <p:extLst>
      <p:ext uri="{BB962C8B-B14F-4D97-AF65-F5344CB8AC3E}">
        <p14:creationId xmlns:p14="http://schemas.microsoft.com/office/powerpoint/2010/main" val="1685153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Origin of </a:t>
            </a:r>
            <a:r>
              <a:rPr lang="en-US" dirty="0" err="1" smtClean="0"/>
              <a:t>Natyasastra</a:t>
            </a:r>
            <a:endParaRPr lang="en-IN" dirty="0"/>
          </a:p>
        </p:txBody>
      </p:sp>
      <p:sp>
        <p:nvSpPr>
          <p:cNvPr id="3" name="Content Placeholder 2"/>
          <p:cNvSpPr>
            <a:spLocks noGrp="1"/>
          </p:cNvSpPr>
          <p:nvPr>
            <p:ph sz="quarter" idx="1"/>
          </p:nvPr>
        </p:nvSpPr>
        <p:spPr/>
        <p:txBody>
          <a:bodyPr/>
          <a:lstStyle/>
          <a:p>
            <a:pPr algn="just"/>
            <a:r>
              <a:rPr lang="en-US" dirty="0"/>
              <a:t>The origin of the </a:t>
            </a:r>
            <a:r>
              <a:rPr lang="en-US" dirty="0" err="1"/>
              <a:t>Natyasastra</a:t>
            </a:r>
            <a:r>
              <a:rPr lang="en-US" dirty="0"/>
              <a:t> is from the spoken or recited words that have been </a:t>
            </a:r>
            <a:r>
              <a:rPr lang="en-US" dirty="0" smtClean="0"/>
              <a:t>extracted from the </a:t>
            </a:r>
            <a:r>
              <a:rPr lang="en-US" dirty="0" err="1" smtClean="0"/>
              <a:t>Rigveda</a:t>
            </a:r>
            <a:r>
              <a:rPr lang="en-US" dirty="0" smtClean="0"/>
              <a:t>, the songs that have been extracted from </a:t>
            </a:r>
            <a:r>
              <a:rPr lang="en-US" dirty="0" err="1" smtClean="0"/>
              <a:t>samveda</a:t>
            </a:r>
            <a:r>
              <a:rPr lang="en-US" dirty="0" smtClean="0"/>
              <a:t> and the action has been taken from the </a:t>
            </a:r>
            <a:r>
              <a:rPr lang="en-US" dirty="0" err="1" smtClean="0"/>
              <a:t>Yajurveda</a:t>
            </a:r>
            <a:r>
              <a:rPr lang="en-US" dirty="0" smtClean="0"/>
              <a:t>.  </a:t>
            </a:r>
            <a:endParaRPr lang="en-US" dirty="0"/>
          </a:p>
          <a:p>
            <a:pPr algn="just"/>
            <a:endParaRPr lang="en-IN" dirty="0"/>
          </a:p>
        </p:txBody>
      </p:sp>
    </p:spTree>
    <p:extLst>
      <p:ext uri="{BB962C8B-B14F-4D97-AF65-F5344CB8AC3E}">
        <p14:creationId xmlns:p14="http://schemas.microsoft.com/office/powerpoint/2010/main" val="1006971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lstStyle/>
          <a:p>
            <a:pPr algn="just"/>
            <a:r>
              <a:rPr lang="en-US" dirty="0" err="1" smtClean="0"/>
              <a:t>Natyashastra</a:t>
            </a:r>
            <a:r>
              <a:rPr lang="en-US" dirty="0" smtClean="0"/>
              <a:t> has </a:t>
            </a:r>
            <a:r>
              <a:rPr lang="en-US" dirty="0"/>
              <a:t>offered a remarkable dimension to growth and development </a:t>
            </a:r>
            <a:r>
              <a:rPr lang="en-US" dirty="0" smtClean="0"/>
              <a:t>of Indian </a:t>
            </a:r>
            <a:r>
              <a:rPr lang="en-US" dirty="0"/>
              <a:t>classical music, dance, drama and art. </a:t>
            </a:r>
            <a:endParaRPr lang="en-US" dirty="0" smtClean="0"/>
          </a:p>
          <a:p>
            <a:pPr algn="just"/>
            <a:r>
              <a:rPr lang="en-US" dirty="0" err="1" smtClean="0"/>
              <a:t>Natyashastra</a:t>
            </a:r>
            <a:r>
              <a:rPr lang="en-US" dirty="0" smtClean="0"/>
              <a:t> indeed laid </a:t>
            </a:r>
            <a:r>
              <a:rPr lang="en-US" dirty="0"/>
              <a:t>the cornerstone of the fine arts in </a:t>
            </a:r>
            <a:r>
              <a:rPr lang="en-US" dirty="0" smtClean="0"/>
              <a:t>India. </a:t>
            </a:r>
          </a:p>
          <a:p>
            <a:pPr algn="just"/>
            <a:r>
              <a:rPr lang="en-US" dirty="0" smtClean="0"/>
              <a:t>Bharat Muni </a:t>
            </a:r>
            <a:r>
              <a:rPr lang="en-US" dirty="0"/>
              <a:t>is the first author to deal with theory of aesthetics. He analyses various sentiments and their portrayal through the permanent state of mind, the determinants and consequences. </a:t>
            </a:r>
            <a:endParaRPr lang="en-IN" dirty="0"/>
          </a:p>
        </p:txBody>
      </p:sp>
    </p:spTree>
    <p:extLst>
      <p:ext uri="{BB962C8B-B14F-4D97-AF65-F5344CB8AC3E}">
        <p14:creationId xmlns:p14="http://schemas.microsoft.com/office/powerpoint/2010/main" val="2412992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 the Title</a:t>
            </a:r>
            <a:endParaRPr lang="en-IN" dirty="0"/>
          </a:p>
        </p:txBody>
      </p:sp>
      <p:sp>
        <p:nvSpPr>
          <p:cNvPr id="3" name="Content Placeholder 2"/>
          <p:cNvSpPr>
            <a:spLocks noGrp="1"/>
          </p:cNvSpPr>
          <p:nvPr>
            <p:ph sz="quarter" idx="1"/>
          </p:nvPr>
        </p:nvSpPr>
        <p:spPr/>
        <p:txBody>
          <a:bodyPr>
            <a:normAutofit fontScale="92500" lnSpcReduction="20000"/>
          </a:bodyPr>
          <a:lstStyle/>
          <a:p>
            <a:pPr algn="just"/>
            <a:r>
              <a:rPr lang="en-US" dirty="0"/>
              <a:t>The </a:t>
            </a:r>
            <a:r>
              <a:rPr lang="en-US" dirty="0" err="1"/>
              <a:t>Natyashastra</a:t>
            </a:r>
            <a:r>
              <a:rPr lang="en-US" dirty="0"/>
              <a:t>, which has been described as the science of drama, is an ancient treatise </a:t>
            </a:r>
            <a:r>
              <a:rPr lang="en-US" dirty="0" smtClean="0"/>
              <a:t>on dramaturgy </a:t>
            </a:r>
            <a:r>
              <a:rPr lang="en-US" dirty="0"/>
              <a:t>that throws light on Indian aesthetics, poetics and performing arts. </a:t>
            </a:r>
            <a:endParaRPr lang="en-US" dirty="0" smtClean="0"/>
          </a:p>
          <a:p>
            <a:pPr algn="just"/>
            <a:r>
              <a:rPr lang="en-US" dirty="0" smtClean="0"/>
              <a:t>The </a:t>
            </a:r>
            <a:r>
              <a:rPr lang="en-US" dirty="0"/>
              <a:t>title of the text </a:t>
            </a:r>
            <a:r>
              <a:rPr lang="en-US" dirty="0" smtClean="0"/>
              <a:t>is composed </a:t>
            </a:r>
            <a:r>
              <a:rPr lang="en-US" dirty="0"/>
              <a:t>of two words, “</a:t>
            </a:r>
            <a:r>
              <a:rPr lang="en-US" dirty="0" err="1"/>
              <a:t>Natya</a:t>
            </a:r>
            <a:r>
              <a:rPr lang="en-US" dirty="0"/>
              <a:t>” and “</a:t>
            </a:r>
            <a:r>
              <a:rPr lang="en-US" dirty="0" err="1"/>
              <a:t>Shastra</a:t>
            </a:r>
            <a:r>
              <a:rPr lang="en-US" dirty="0"/>
              <a:t>”. The root of the Sanskrit word </a:t>
            </a:r>
            <a:r>
              <a:rPr lang="en-US" dirty="0" err="1"/>
              <a:t>Natya</a:t>
            </a:r>
            <a:r>
              <a:rPr lang="en-US" dirty="0"/>
              <a:t> is Nat which means “act, represent”. </a:t>
            </a:r>
            <a:endParaRPr lang="en-US" dirty="0" smtClean="0"/>
          </a:p>
          <a:p>
            <a:pPr algn="just"/>
            <a:r>
              <a:rPr lang="en-US" dirty="0" smtClean="0"/>
              <a:t>The </a:t>
            </a:r>
            <a:r>
              <a:rPr lang="en-US" dirty="0"/>
              <a:t>word </a:t>
            </a:r>
            <a:r>
              <a:rPr lang="en-US" dirty="0" err="1"/>
              <a:t>Shastra</a:t>
            </a:r>
            <a:r>
              <a:rPr lang="en-US" dirty="0"/>
              <a:t> means “precept, rules, manual, compendium, book or treatise”, and is generally used as a suffix in the Indian literature context, for knowledge in a defined area of practice. </a:t>
            </a:r>
            <a:endParaRPr lang="en-US" dirty="0" smtClean="0"/>
          </a:p>
          <a:p>
            <a:pPr algn="just"/>
            <a:r>
              <a:rPr lang="en-US" dirty="0" smtClean="0"/>
              <a:t>The </a:t>
            </a:r>
            <a:r>
              <a:rPr lang="en-US" dirty="0"/>
              <a:t>text consists of 36 chapters with a cumulative total of 6000 poetic verses describing performance arts.</a:t>
            </a:r>
          </a:p>
          <a:p>
            <a:pPr algn="just"/>
            <a:endParaRPr lang="en-IN" dirty="0"/>
          </a:p>
        </p:txBody>
      </p:sp>
    </p:spTree>
    <p:extLst>
      <p:ext uri="{BB962C8B-B14F-4D97-AF65-F5344CB8AC3E}">
        <p14:creationId xmlns:p14="http://schemas.microsoft.com/office/powerpoint/2010/main" val="229705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Date of Composition</a:t>
            </a:r>
            <a:endParaRPr lang="en-IN" dirty="0"/>
          </a:p>
        </p:txBody>
      </p:sp>
      <p:sp>
        <p:nvSpPr>
          <p:cNvPr id="3" name="Content Placeholder 2"/>
          <p:cNvSpPr>
            <a:spLocks noGrp="1"/>
          </p:cNvSpPr>
          <p:nvPr>
            <p:ph sz="quarter" idx="1"/>
          </p:nvPr>
        </p:nvSpPr>
        <p:spPr/>
        <p:txBody>
          <a:bodyPr>
            <a:normAutofit fontScale="92500" lnSpcReduction="20000"/>
          </a:bodyPr>
          <a:lstStyle/>
          <a:p>
            <a:pPr algn="just"/>
            <a:r>
              <a:rPr lang="en-US" dirty="0"/>
              <a:t>The composition date of </a:t>
            </a:r>
            <a:r>
              <a:rPr lang="en-US" dirty="0" err="1"/>
              <a:t>Natyashastra</a:t>
            </a:r>
            <a:r>
              <a:rPr lang="en-US" dirty="0"/>
              <a:t> is unknown as the estimates vary from 500 BC to 500 AD.</a:t>
            </a:r>
          </a:p>
          <a:p>
            <a:pPr algn="just"/>
            <a:r>
              <a:rPr lang="en-US" dirty="0"/>
              <a:t>However, </a:t>
            </a:r>
            <a:r>
              <a:rPr lang="en-US" dirty="0" err="1"/>
              <a:t>Bharata</a:t>
            </a:r>
            <a:r>
              <a:rPr lang="en-US" dirty="0"/>
              <a:t> Muni in the second century BC is supposed to have composed this text on theatrical practice and theory that formulates Indian aesthetics</a:t>
            </a:r>
            <a:r>
              <a:rPr lang="en-US" dirty="0" smtClean="0"/>
              <a:t>.</a:t>
            </a:r>
          </a:p>
          <a:p>
            <a:pPr algn="just"/>
            <a:r>
              <a:rPr lang="en-US" dirty="0" smtClean="0"/>
              <a:t> </a:t>
            </a:r>
            <a:r>
              <a:rPr lang="en-US" dirty="0"/>
              <a:t>The text of </a:t>
            </a:r>
            <a:r>
              <a:rPr lang="en-US" dirty="0" err="1"/>
              <a:t>Natyashastra</a:t>
            </a:r>
            <a:r>
              <a:rPr lang="en-US" dirty="0"/>
              <a:t> provides a system by which performance experience can be </a:t>
            </a:r>
            <a:r>
              <a:rPr lang="en-US" dirty="0" err="1"/>
              <a:t>organised</a:t>
            </a:r>
            <a:r>
              <a:rPr lang="en-US" dirty="0"/>
              <a:t> and made sense of and rendered comprehensible. </a:t>
            </a:r>
            <a:endParaRPr lang="en-US" dirty="0" smtClean="0"/>
          </a:p>
          <a:p>
            <a:pPr algn="just"/>
            <a:r>
              <a:rPr lang="en-US" dirty="0" smtClean="0"/>
              <a:t>Scholars </a:t>
            </a:r>
            <a:r>
              <a:rPr lang="en-US" dirty="0"/>
              <a:t>date the origin of </a:t>
            </a:r>
            <a:r>
              <a:rPr lang="en-US" dirty="0" err="1"/>
              <a:t>Natyashastra</a:t>
            </a:r>
            <a:r>
              <a:rPr lang="en-US" dirty="0"/>
              <a:t> as early as 200 BC, and as late as 600 AD. </a:t>
            </a:r>
            <a:endParaRPr lang="en-US" dirty="0" smtClean="0"/>
          </a:p>
          <a:p>
            <a:pPr algn="just"/>
            <a:r>
              <a:rPr lang="en-US" dirty="0" smtClean="0"/>
              <a:t>The </a:t>
            </a:r>
            <a:r>
              <a:rPr lang="en-US" dirty="0"/>
              <a:t>text in an oral form, similar to what </a:t>
            </a:r>
            <a:r>
              <a:rPr lang="en-US" dirty="0" smtClean="0"/>
              <a:t>we know </a:t>
            </a:r>
            <a:r>
              <a:rPr lang="en-US" dirty="0"/>
              <a:t>as </a:t>
            </a:r>
            <a:r>
              <a:rPr lang="en-US" dirty="0" err="1"/>
              <a:t>Natyashastra</a:t>
            </a:r>
            <a:r>
              <a:rPr lang="en-US" dirty="0"/>
              <a:t> today, was most likely composed between 200 BC and 400 AD. </a:t>
            </a:r>
          </a:p>
          <a:p>
            <a:endParaRPr lang="en-IN" dirty="0"/>
          </a:p>
        </p:txBody>
      </p:sp>
    </p:spTree>
    <p:extLst>
      <p:ext uri="{BB962C8B-B14F-4D97-AF65-F5344CB8AC3E}">
        <p14:creationId xmlns:p14="http://schemas.microsoft.com/office/powerpoint/2010/main" val="3448869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IN" dirty="0"/>
          </a:p>
        </p:txBody>
      </p:sp>
      <p:sp>
        <p:nvSpPr>
          <p:cNvPr id="3" name="Content Placeholder 2"/>
          <p:cNvSpPr>
            <a:spLocks noGrp="1"/>
          </p:cNvSpPr>
          <p:nvPr>
            <p:ph sz="quarter" idx="1"/>
          </p:nvPr>
        </p:nvSpPr>
        <p:spPr/>
        <p:txBody>
          <a:bodyPr>
            <a:normAutofit lnSpcReduction="10000"/>
          </a:bodyPr>
          <a:lstStyle/>
          <a:p>
            <a:pPr algn="just"/>
            <a:r>
              <a:rPr lang="en-US" dirty="0"/>
              <a:t>The </a:t>
            </a:r>
            <a:r>
              <a:rPr lang="en-US" dirty="0" err="1"/>
              <a:t>Natyashastra’s</a:t>
            </a:r>
            <a:r>
              <a:rPr lang="en-US" dirty="0"/>
              <a:t> primary concerns are not philosophical or theoretical; rather, the text elucidates and elaborates how theatre is </a:t>
            </a:r>
            <a:r>
              <a:rPr lang="en-US" dirty="0" smtClean="0"/>
              <a:t>performed.</a:t>
            </a:r>
          </a:p>
          <a:p>
            <a:pPr algn="just"/>
            <a:r>
              <a:rPr lang="en-US" dirty="0"/>
              <a:t>It prescribes in detail the construction of theatre spaces in India, the application of make-up, the design and building of props, arm, foot, eye and other body movements, ritual practices, the organization of theatre companies, the audience, dramatic competitions and the community of actors with additional chapters on music and audience appreciation</a:t>
            </a:r>
            <a:endParaRPr lang="en-IN" dirty="0"/>
          </a:p>
        </p:txBody>
      </p:sp>
    </p:spTree>
    <p:extLst>
      <p:ext uri="{BB962C8B-B14F-4D97-AF65-F5344CB8AC3E}">
        <p14:creationId xmlns:p14="http://schemas.microsoft.com/office/powerpoint/2010/main" val="2646356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lstStyle/>
          <a:p>
            <a:pPr algn="just"/>
            <a:r>
              <a:rPr lang="en-US" dirty="0"/>
              <a:t>It elaborates the </a:t>
            </a:r>
            <a:r>
              <a:rPr lang="en-US" dirty="0" smtClean="0"/>
              <a:t>effectiveness </a:t>
            </a:r>
            <a:r>
              <a:rPr lang="en-US" dirty="0"/>
              <a:t>of theatre. Primarily dealing with stagecraft, the </a:t>
            </a:r>
            <a:r>
              <a:rPr lang="en-US" dirty="0" err="1"/>
              <a:t>Natyashastra</a:t>
            </a:r>
            <a:r>
              <a:rPr lang="en-US" dirty="0"/>
              <a:t> prescribes and influences Indian music, dance and </a:t>
            </a:r>
            <a:r>
              <a:rPr lang="en-US" dirty="0" smtClean="0"/>
              <a:t>literature.</a:t>
            </a:r>
          </a:p>
          <a:p>
            <a:pPr algn="just"/>
            <a:r>
              <a:rPr lang="en-US" dirty="0"/>
              <a:t>It nourishes itself with mythology of classical India which was transcribed into drama and performed in the temples and courts. </a:t>
            </a:r>
            <a:endParaRPr lang="en-US" dirty="0" smtClean="0"/>
          </a:p>
          <a:p>
            <a:pPr algn="just"/>
            <a:r>
              <a:rPr lang="en-US" dirty="0" smtClean="0"/>
              <a:t>Besides </a:t>
            </a:r>
            <a:r>
              <a:rPr lang="en-US" dirty="0"/>
              <a:t>its relevance to the theatre, the </a:t>
            </a:r>
            <a:r>
              <a:rPr lang="en-US" dirty="0" err="1"/>
              <a:t>Natyashastra</a:t>
            </a:r>
            <a:r>
              <a:rPr lang="en-US" dirty="0"/>
              <a:t> shapes our understanding of music and dance in ancient India. </a:t>
            </a:r>
          </a:p>
          <a:p>
            <a:pPr algn="just"/>
            <a:endParaRPr lang="en-IN" dirty="0"/>
          </a:p>
        </p:txBody>
      </p:sp>
    </p:spTree>
    <p:extLst>
      <p:ext uri="{BB962C8B-B14F-4D97-AF65-F5344CB8AC3E}">
        <p14:creationId xmlns:p14="http://schemas.microsoft.com/office/powerpoint/2010/main" val="1582677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 of the Text</a:t>
            </a:r>
            <a:endParaRPr lang="en-IN" dirty="0"/>
          </a:p>
        </p:txBody>
      </p:sp>
      <p:sp>
        <p:nvSpPr>
          <p:cNvPr id="3" name="Content Placeholder 2"/>
          <p:cNvSpPr>
            <a:spLocks noGrp="1"/>
          </p:cNvSpPr>
          <p:nvPr>
            <p:ph sz="quarter" idx="1"/>
          </p:nvPr>
        </p:nvSpPr>
        <p:spPr/>
        <p:txBody>
          <a:bodyPr>
            <a:normAutofit lnSpcReduction="10000"/>
          </a:bodyPr>
          <a:lstStyle/>
          <a:p>
            <a:pPr algn="just"/>
            <a:r>
              <a:rPr lang="en-US" dirty="0"/>
              <a:t>The most studied version of the text, consisting of about 6000 poetic verses, is structured into 36 chapters. The tradition believes that the text originally had 12,000 verses. </a:t>
            </a:r>
          </a:p>
          <a:p>
            <a:pPr algn="just"/>
            <a:r>
              <a:rPr lang="en-US" dirty="0"/>
              <a:t>The structure of the text harmoniously compiles aspects of the theatrical arts into separate chapters</a:t>
            </a:r>
            <a:r>
              <a:rPr lang="en-US" dirty="0" smtClean="0"/>
              <a:t>.</a:t>
            </a:r>
          </a:p>
          <a:p>
            <a:pPr algn="just"/>
            <a:r>
              <a:rPr lang="en-US" dirty="0" smtClean="0"/>
              <a:t>The </a:t>
            </a:r>
            <a:r>
              <a:rPr lang="en-US" dirty="0"/>
              <a:t>background of </a:t>
            </a:r>
            <a:r>
              <a:rPr lang="en-US" dirty="0" err="1"/>
              <a:t>Natyashastra</a:t>
            </a:r>
            <a:r>
              <a:rPr lang="en-US" dirty="0"/>
              <a:t> is framed in a situation where </a:t>
            </a:r>
            <a:r>
              <a:rPr lang="en-US" dirty="0" smtClean="0"/>
              <a:t>a number </a:t>
            </a:r>
            <a:r>
              <a:rPr lang="en-US" dirty="0"/>
              <a:t>of </a:t>
            </a:r>
            <a:r>
              <a:rPr lang="en-US" dirty="0" err="1"/>
              <a:t>munis</a:t>
            </a:r>
            <a:r>
              <a:rPr lang="en-US" dirty="0"/>
              <a:t> approach </a:t>
            </a:r>
            <a:r>
              <a:rPr lang="en-US" dirty="0" err="1"/>
              <a:t>Bharata</a:t>
            </a:r>
            <a:r>
              <a:rPr lang="en-US" dirty="0"/>
              <a:t> to know about the secrets </a:t>
            </a:r>
            <a:r>
              <a:rPr lang="en-US" dirty="0" smtClean="0"/>
              <a:t>of </a:t>
            </a:r>
            <a:r>
              <a:rPr lang="en-US" dirty="0" err="1" smtClean="0"/>
              <a:t>Natyaveda</a:t>
            </a:r>
            <a:r>
              <a:rPr lang="en-US" dirty="0"/>
              <a:t>. The answer to this question comprises the rest of </a:t>
            </a:r>
            <a:r>
              <a:rPr lang="en-US" dirty="0" smtClean="0"/>
              <a:t>the book.  </a:t>
            </a:r>
          </a:p>
        </p:txBody>
      </p:sp>
    </p:spTree>
    <p:extLst>
      <p:ext uri="{BB962C8B-B14F-4D97-AF65-F5344CB8AC3E}">
        <p14:creationId xmlns:p14="http://schemas.microsoft.com/office/powerpoint/2010/main" val="3351627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normAutofit/>
          </a:bodyPr>
          <a:lstStyle/>
          <a:p>
            <a:pPr algn="just"/>
            <a:r>
              <a:rPr lang="en-US" dirty="0"/>
              <a:t>The text opens with the mythical genesis and history of drama, mentions the role of different Hindu deities in various aspects of the arts, and recommended Puja (consecration ceremony) of a stage before performance. </a:t>
            </a:r>
            <a:endParaRPr lang="en-US" dirty="0" smtClean="0"/>
          </a:p>
          <a:p>
            <a:pPr algn="just"/>
            <a:r>
              <a:rPr lang="en-US" dirty="0" smtClean="0"/>
              <a:t>The </a:t>
            </a:r>
            <a:r>
              <a:rPr lang="en-US" dirty="0"/>
              <a:t>text then describes the theory of </a:t>
            </a:r>
            <a:r>
              <a:rPr lang="en-US" dirty="0" err="1"/>
              <a:t>Tandava</a:t>
            </a:r>
            <a:r>
              <a:rPr lang="en-US" dirty="0"/>
              <a:t> dance (Shiva), the theory of rasa (emotion), of </a:t>
            </a:r>
            <a:r>
              <a:rPr lang="en-US" dirty="0" err="1"/>
              <a:t>bhava</a:t>
            </a:r>
            <a:r>
              <a:rPr lang="en-US" dirty="0"/>
              <a:t> (feelings), expression, gestures, acting techniques, basic steps &amp; standing postures.</a:t>
            </a:r>
          </a:p>
          <a:p>
            <a:pPr algn="just"/>
            <a:endParaRPr lang="en-IN" dirty="0"/>
          </a:p>
        </p:txBody>
      </p:sp>
    </p:spTree>
    <p:extLst>
      <p:ext uri="{BB962C8B-B14F-4D97-AF65-F5344CB8AC3E}">
        <p14:creationId xmlns:p14="http://schemas.microsoft.com/office/powerpoint/2010/main" val="199936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Contents of </a:t>
            </a:r>
            <a:r>
              <a:rPr lang="en-IN" dirty="0" err="1"/>
              <a:t>Natyashastra</a:t>
            </a:r>
            <a:endParaRPr lang="en-IN" dirty="0"/>
          </a:p>
        </p:txBody>
      </p:sp>
      <p:sp>
        <p:nvSpPr>
          <p:cNvPr id="3" name="Content Placeholder 2"/>
          <p:cNvSpPr>
            <a:spLocks noGrp="1"/>
          </p:cNvSpPr>
          <p:nvPr>
            <p:ph sz="quarter" idx="1"/>
          </p:nvPr>
        </p:nvSpPr>
        <p:spPr/>
        <p:txBody>
          <a:bodyPr/>
          <a:lstStyle/>
          <a:p>
            <a:pPr algn="just"/>
            <a:r>
              <a:rPr lang="en-US" dirty="0"/>
              <a:t>The   principal   theme   is   the   dramatic   art   which   concerns   </a:t>
            </a:r>
            <a:r>
              <a:rPr lang="en-US" dirty="0" smtClean="0"/>
              <a:t>the producers  </a:t>
            </a:r>
            <a:r>
              <a:rPr lang="en-US" dirty="0"/>
              <a:t>of   the  plays  as   well  as  those   who  compose   them,  </a:t>
            </a:r>
            <a:r>
              <a:rPr lang="en-US" dirty="0" smtClean="0"/>
              <a:t>the playwrights.</a:t>
            </a:r>
          </a:p>
          <a:p>
            <a:pPr algn="just"/>
            <a:r>
              <a:rPr lang="en-US" dirty="0" err="1"/>
              <a:t>Bharata</a:t>
            </a:r>
            <a:r>
              <a:rPr lang="en-US" dirty="0"/>
              <a:t>   wanted   the   plays   to   be   a   </a:t>
            </a:r>
            <a:r>
              <a:rPr lang="en-US" dirty="0" err="1"/>
              <a:t>Drisya</a:t>
            </a:r>
            <a:r>
              <a:rPr lang="en-US" dirty="0"/>
              <a:t>   </a:t>
            </a:r>
            <a:r>
              <a:rPr lang="en-US" dirty="0" err="1"/>
              <a:t>Kavya</a:t>
            </a:r>
            <a:r>
              <a:rPr lang="en-US" dirty="0"/>
              <a:t>   that   can   </a:t>
            </a:r>
            <a:r>
              <a:rPr lang="en-US" dirty="0" smtClean="0"/>
              <a:t>be successfully </a:t>
            </a:r>
            <a:r>
              <a:rPr lang="en-US" dirty="0"/>
              <a:t>and profitably represented on the </a:t>
            </a:r>
            <a:r>
              <a:rPr lang="en-US" dirty="0" smtClean="0"/>
              <a:t>stage.</a:t>
            </a:r>
          </a:p>
          <a:p>
            <a:pPr algn="just"/>
            <a:r>
              <a:rPr lang="en-US" dirty="0" err="1"/>
              <a:t>Prakrita</a:t>
            </a:r>
            <a:r>
              <a:rPr lang="en-US" dirty="0"/>
              <a:t> and allied native languages are meticulously dealt with </a:t>
            </a:r>
            <a:r>
              <a:rPr lang="en-US" dirty="0" smtClean="0"/>
              <a:t>by means </a:t>
            </a:r>
            <a:r>
              <a:rPr lang="en-US" dirty="0"/>
              <a:t>of examples in the </a:t>
            </a:r>
            <a:r>
              <a:rPr lang="en-US" dirty="0" err="1" smtClean="0"/>
              <a:t>Natyashastra</a:t>
            </a:r>
            <a:r>
              <a:rPr lang="en-US" dirty="0" smtClean="0"/>
              <a:t>.</a:t>
            </a:r>
          </a:p>
          <a:p>
            <a:pPr algn="just"/>
            <a:endParaRPr lang="en-US" dirty="0" smtClean="0"/>
          </a:p>
          <a:p>
            <a:pPr algn="just"/>
            <a:endParaRPr lang="en-IN" dirty="0"/>
          </a:p>
        </p:txBody>
      </p:sp>
    </p:spTree>
    <p:extLst>
      <p:ext uri="{BB962C8B-B14F-4D97-AF65-F5344CB8AC3E}">
        <p14:creationId xmlns:p14="http://schemas.microsoft.com/office/powerpoint/2010/main" val="3861730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lstStyle/>
          <a:p>
            <a:pPr algn="just"/>
            <a:r>
              <a:rPr lang="en-US" dirty="0"/>
              <a:t>References have been made to the languages of ancient tribes </a:t>
            </a:r>
            <a:r>
              <a:rPr lang="en-US" dirty="0" err="1"/>
              <a:t>suchas</a:t>
            </a:r>
            <a:r>
              <a:rPr lang="en-US" dirty="0"/>
              <a:t> </a:t>
            </a:r>
            <a:r>
              <a:rPr lang="en-US" dirty="0" err="1"/>
              <a:t>Barbaras</a:t>
            </a:r>
            <a:r>
              <a:rPr lang="en-US" dirty="0"/>
              <a:t>, </a:t>
            </a:r>
            <a:r>
              <a:rPr lang="en-US" dirty="0" err="1"/>
              <a:t>Kiratas</a:t>
            </a:r>
            <a:r>
              <a:rPr lang="en-US" dirty="0"/>
              <a:t>, </a:t>
            </a:r>
            <a:r>
              <a:rPr lang="en-US" dirty="0" err="1"/>
              <a:t>Andhras</a:t>
            </a:r>
            <a:r>
              <a:rPr lang="en-US" dirty="0"/>
              <a:t>, </a:t>
            </a:r>
            <a:r>
              <a:rPr lang="en-US" dirty="0" err="1"/>
              <a:t>Dravidas</a:t>
            </a:r>
            <a:r>
              <a:rPr lang="en-US" dirty="0"/>
              <a:t>, </a:t>
            </a:r>
            <a:r>
              <a:rPr lang="en-US" dirty="0" err="1"/>
              <a:t>Sabaras</a:t>
            </a:r>
            <a:r>
              <a:rPr lang="en-US" dirty="0"/>
              <a:t>, </a:t>
            </a:r>
            <a:r>
              <a:rPr lang="en-US" dirty="0" err="1"/>
              <a:t>Candalar</a:t>
            </a:r>
            <a:r>
              <a:rPr lang="en-US" dirty="0"/>
              <a:t> </a:t>
            </a:r>
            <a:r>
              <a:rPr lang="en-US" dirty="0" smtClean="0"/>
              <a:t>etc.</a:t>
            </a:r>
          </a:p>
          <a:p>
            <a:pPr algn="just"/>
            <a:r>
              <a:rPr lang="en-US" dirty="0" err="1"/>
              <a:t>Natyashastra</a:t>
            </a:r>
            <a:r>
              <a:rPr lang="en-US" dirty="0"/>
              <a:t> gives detailed directions about the dressing material</a:t>
            </a:r>
            <a:r>
              <a:rPr lang="en-US" dirty="0" smtClean="0"/>
              <a:t>, modes </a:t>
            </a:r>
            <a:r>
              <a:rPr lang="en-US" dirty="0"/>
              <a:t>of wearing the garments and </a:t>
            </a:r>
            <a:r>
              <a:rPr lang="en-US" dirty="0" err="1"/>
              <a:t>jewellery</a:t>
            </a:r>
            <a:r>
              <a:rPr lang="en-US" dirty="0"/>
              <a:t>, articles to be used </a:t>
            </a:r>
            <a:r>
              <a:rPr lang="en-US" dirty="0" smtClean="0"/>
              <a:t>by the </a:t>
            </a:r>
            <a:r>
              <a:rPr lang="en-US" dirty="0"/>
              <a:t>different characters in a play in accordance with their </a:t>
            </a:r>
            <a:r>
              <a:rPr lang="en-US" dirty="0" smtClean="0"/>
              <a:t>social status</a:t>
            </a:r>
            <a:r>
              <a:rPr lang="en-US" dirty="0"/>
              <a:t>, profession, the cultural practice </a:t>
            </a:r>
            <a:r>
              <a:rPr lang="en-US" dirty="0" smtClean="0"/>
              <a:t>etc.</a:t>
            </a:r>
            <a:endParaRPr lang="en-IN" dirty="0"/>
          </a:p>
        </p:txBody>
      </p:sp>
    </p:spTree>
    <p:extLst>
      <p:ext uri="{BB962C8B-B14F-4D97-AF65-F5344CB8AC3E}">
        <p14:creationId xmlns:p14="http://schemas.microsoft.com/office/powerpoint/2010/main" val="1363085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Chapters of </a:t>
            </a:r>
            <a:r>
              <a:rPr lang="en-IN" dirty="0" err="1"/>
              <a:t>Natyashastra</a:t>
            </a:r>
            <a:endParaRPr lang="en-IN" dirty="0"/>
          </a:p>
        </p:txBody>
      </p:sp>
      <p:sp>
        <p:nvSpPr>
          <p:cNvPr id="3" name="Content Placeholder 2"/>
          <p:cNvSpPr>
            <a:spLocks noGrp="1"/>
          </p:cNvSpPr>
          <p:nvPr>
            <p:ph sz="quarter" idx="1"/>
          </p:nvPr>
        </p:nvSpPr>
        <p:spPr/>
        <p:txBody>
          <a:bodyPr>
            <a:normAutofit fontScale="92500"/>
          </a:bodyPr>
          <a:lstStyle/>
          <a:p>
            <a:pPr algn="just"/>
            <a:r>
              <a:rPr lang="en-US" dirty="0"/>
              <a:t>In the first chapter </a:t>
            </a:r>
            <a:r>
              <a:rPr lang="en-US" dirty="0" err="1" smtClean="0"/>
              <a:t>Bharata</a:t>
            </a:r>
            <a:r>
              <a:rPr lang="en-US" dirty="0" smtClean="0"/>
              <a:t> </a:t>
            </a:r>
            <a:r>
              <a:rPr lang="en-US" dirty="0"/>
              <a:t>talks about the response </a:t>
            </a:r>
            <a:r>
              <a:rPr lang="en-US" dirty="0" smtClean="0"/>
              <a:t>and involvement </a:t>
            </a:r>
            <a:r>
              <a:rPr lang="en-US" dirty="0"/>
              <a:t>of the spectator in drama. </a:t>
            </a:r>
            <a:endParaRPr lang="en-US" dirty="0" smtClean="0"/>
          </a:p>
          <a:p>
            <a:pPr algn="just"/>
            <a:r>
              <a:rPr lang="en-US" dirty="0"/>
              <a:t>The   spectators   come   from   all   classes   of   society   without   </a:t>
            </a:r>
            <a:r>
              <a:rPr lang="en-US" dirty="0" smtClean="0"/>
              <a:t>any distinction</a:t>
            </a:r>
            <a:r>
              <a:rPr lang="en-US" dirty="0"/>
              <a:t>, but are expected to be at least minimally initiated </a:t>
            </a:r>
            <a:r>
              <a:rPr lang="en-US" dirty="0" smtClean="0"/>
              <a:t>into the </a:t>
            </a:r>
            <a:r>
              <a:rPr lang="en-US" dirty="0"/>
              <a:t>appreciation of theatre</a:t>
            </a:r>
            <a:r>
              <a:rPr lang="en-US" dirty="0" smtClean="0"/>
              <a:t>.</a:t>
            </a:r>
          </a:p>
          <a:p>
            <a:pPr algn="just"/>
            <a:r>
              <a:rPr lang="en-US" dirty="0"/>
              <a:t>The second chapter lays down the norms for theatre architecture </a:t>
            </a:r>
            <a:r>
              <a:rPr lang="en-US" dirty="0" smtClean="0"/>
              <a:t>or the </a:t>
            </a:r>
            <a:r>
              <a:rPr lang="en-US" dirty="0" err="1"/>
              <a:t>prekshagriha</a:t>
            </a:r>
            <a:r>
              <a:rPr lang="en-US" dirty="0"/>
              <a:t> i.e. auditorium</a:t>
            </a:r>
            <a:r>
              <a:rPr lang="en-US" dirty="0" smtClean="0"/>
              <a:t>.</a:t>
            </a:r>
          </a:p>
          <a:p>
            <a:pPr algn="just"/>
            <a:r>
              <a:rPr lang="en-US" dirty="0"/>
              <a:t>It   describes   the   medium   sized   rectangular   space   as   ideal   </a:t>
            </a:r>
            <a:r>
              <a:rPr lang="en-US" dirty="0" smtClean="0"/>
              <a:t>for audibility   </a:t>
            </a:r>
            <a:r>
              <a:rPr lang="en-US" dirty="0"/>
              <a:t>and   visibility,   apparently   holding   about   four   </a:t>
            </a:r>
            <a:r>
              <a:rPr lang="en-US" dirty="0" smtClean="0"/>
              <a:t>hundred spectators</a:t>
            </a:r>
          </a:p>
          <a:p>
            <a:pPr algn="just"/>
            <a:endParaRPr lang="en-IN" dirty="0"/>
          </a:p>
        </p:txBody>
      </p:sp>
    </p:spTree>
    <p:extLst>
      <p:ext uri="{BB962C8B-B14F-4D97-AF65-F5344CB8AC3E}">
        <p14:creationId xmlns:p14="http://schemas.microsoft.com/office/powerpoint/2010/main" val="2164969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lstStyle/>
          <a:p>
            <a:pPr algn="just"/>
            <a:r>
              <a:rPr lang="en-US" dirty="0"/>
              <a:t>The  third chapter  describes an   elaborate  puja for the  gods   </a:t>
            </a:r>
            <a:r>
              <a:rPr lang="en-US" dirty="0" smtClean="0"/>
              <a:t>and goddesses   </a:t>
            </a:r>
            <a:r>
              <a:rPr lang="en-US" dirty="0"/>
              <a:t>protecting   the   auditorium,   and   prescribes   rituals   </a:t>
            </a:r>
            <a:r>
              <a:rPr lang="en-US" dirty="0" smtClean="0"/>
              <a:t>to dedicate </a:t>
            </a:r>
            <a:r>
              <a:rPr lang="en-US" dirty="0"/>
              <a:t>the </a:t>
            </a:r>
            <a:r>
              <a:rPr lang="en-US" dirty="0" smtClean="0"/>
              <a:t>space.</a:t>
            </a:r>
          </a:p>
          <a:p>
            <a:pPr algn="just"/>
            <a:r>
              <a:rPr lang="en-US" dirty="0" smtClean="0"/>
              <a:t>Fourth   </a:t>
            </a:r>
            <a:r>
              <a:rPr lang="en-US" dirty="0"/>
              <a:t>chapter   also   lays   </a:t>
            </a:r>
            <a:r>
              <a:rPr lang="en-US" dirty="0" smtClean="0"/>
              <a:t>the foundation </a:t>
            </a:r>
            <a:r>
              <a:rPr lang="en-US" dirty="0"/>
              <a:t>of </a:t>
            </a:r>
            <a:r>
              <a:rPr lang="en-US" dirty="0" err="1"/>
              <a:t>angika</a:t>
            </a:r>
            <a:r>
              <a:rPr lang="en-US" dirty="0"/>
              <a:t> </a:t>
            </a:r>
            <a:r>
              <a:rPr lang="en-US" dirty="0" err="1"/>
              <a:t>abhinaya</a:t>
            </a:r>
            <a:r>
              <a:rPr lang="en-US" dirty="0"/>
              <a:t> or physical acting developed in </a:t>
            </a:r>
            <a:r>
              <a:rPr lang="en-US" dirty="0" smtClean="0"/>
              <a:t>later chapters. </a:t>
            </a:r>
          </a:p>
          <a:p>
            <a:pPr algn="just"/>
            <a:r>
              <a:rPr lang="en-US" dirty="0"/>
              <a:t>The fifth chapter however details the elements of </a:t>
            </a:r>
            <a:r>
              <a:rPr lang="en-US" dirty="0" err="1" smtClean="0"/>
              <a:t>Purvaranga</a:t>
            </a:r>
            <a:r>
              <a:rPr lang="en-US" dirty="0"/>
              <a:t> (ceremonies connected with it are performed at the inauguration of the staging of </a:t>
            </a:r>
            <a:r>
              <a:rPr lang="en-US" dirty="0" smtClean="0"/>
              <a:t>play).</a:t>
            </a:r>
          </a:p>
          <a:p>
            <a:pPr algn="just"/>
            <a:endParaRPr lang="en-IN" dirty="0"/>
          </a:p>
        </p:txBody>
      </p:sp>
    </p:spTree>
    <p:extLst>
      <p:ext uri="{BB962C8B-B14F-4D97-AF65-F5344CB8AC3E}">
        <p14:creationId xmlns:p14="http://schemas.microsoft.com/office/powerpoint/2010/main" val="2674100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lstStyle/>
          <a:p>
            <a:pPr algn="just"/>
            <a:r>
              <a:rPr lang="en-US" dirty="0"/>
              <a:t>Chapters 6 and 7 of The </a:t>
            </a:r>
            <a:r>
              <a:rPr lang="en-US" dirty="0" err="1"/>
              <a:t>Natyashastra</a:t>
            </a:r>
            <a:r>
              <a:rPr lang="en-US" dirty="0"/>
              <a:t> present the rasa theory in performing </a:t>
            </a:r>
            <a:r>
              <a:rPr lang="en-US" dirty="0" smtClean="0"/>
              <a:t>arts. </a:t>
            </a:r>
          </a:p>
          <a:p>
            <a:pPr algn="just"/>
            <a:r>
              <a:rPr lang="en-US" dirty="0" smtClean="0"/>
              <a:t>while </a:t>
            </a:r>
            <a:r>
              <a:rPr lang="en-US" dirty="0"/>
              <a:t>chapters 8 to 13 are dedicated to the art of acting. Stage instruments such as methods for holding accessories, weapons, relative movement of actors and actresses, scene formulation, stage zones, conventions and customs are included in chapters 10 to 13 of the </a:t>
            </a:r>
            <a:r>
              <a:rPr lang="en-US" dirty="0" smtClean="0"/>
              <a:t>text.</a:t>
            </a:r>
          </a:p>
          <a:p>
            <a:pPr algn="just"/>
            <a:r>
              <a:rPr lang="en-US" dirty="0"/>
              <a:t>The chapters 14 to 20 are dedicated to plot and structure of underlying text behind the performance.</a:t>
            </a:r>
            <a:endParaRPr lang="en-US" dirty="0" smtClean="0"/>
          </a:p>
          <a:p>
            <a:pPr algn="just"/>
            <a:endParaRPr lang="en-IN" dirty="0"/>
          </a:p>
        </p:txBody>
      </p:sp>
    </p:spTree>
    <p:extLst>
      <p:ext uri="{BB962C8B-B14F-4D97-AF65-F5344CB8AC3E}">
        <p14:creationId xmlns:p14="http://schemas.microsoft.com/office/powerpoint/2010/main" val="2038923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lstStyle/>
          <a:p>
            <a:pPr algn="just"/>
            <a:r>
              <a:rPr lang="en-US" dirty="0"/>
              <a:t>Chapter 17 presents the attributes of poetry and figures of </a:t>
            </a:r>
            <a:r>
              <a:rPr lang="en-US" dirty="0" smtClean="0"/>
              <a:t>speech.</a:t>
            </a:r>
          </a:p>
          <a:p>
            <a:pPr algn="just"/>
            <a:r>
              <a:rPr lang="en-US" dirty="0"/>
              <a:t>W</a:t>
            </a:r>
            <a:r>
              <a:rPr lang="en-US" dirty="0" smtClean="0"/>
              <a:t>hile </a:t>
            </a:r>
            <a:r>
              <a:rPr lang="en-US" dirty="0"/>
              <a:t>chapter 18 presents the art of speech and delivery in the performing arts. The text lists ten kinds of play, presents its theory of plot, costumes, and make-up</a:t>
            </a:r>
            <a:r>
              <a:rPr lang="en-US" dirty="0" smtClean="0"/>
              <a:t>.</a:t>
            </a:r>
          </a:p>
          <a:p>
            <a:pPr algn="just"/>
            <a:r>
              <a:rPr lang="en-US" dirty="0"/>
              <a:t>The text dedicates several chapters exclusively to women in performing arts, (especially chap- 24 is on the participation of women in theatre. </a:t>
            </a:r>
            <a:endParaRPr lang="en-IN" dirty="0"/>
          </a:p>
        </p:txBody>
      </p:sp>
    </p:spTree>
    <p:extLst>
      <p:ext uri="{BB962C8B-B14F-4D97-AF65-F5344CB8AC3E}">
        <p14:creationId xmlns:p14="http://schemas.microsoft.com/office/powerpoint/2010/main" val="1912968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lstStyle/>
          <a:p>
            <a:pPr algn="just"/>
            <a:r>
              <a:rPr lang="en-US" dirty="0"/>
              <a:t>The training of actors is presented in chapter 26 and 35 of the text. </a:t>
            </a:r>
            <a:endParaRPr lang="en-US" dirty="0" smtClean="0"/>
          </a:p>
          <a:p>
            <a:pPr algn="just"/>
            <a:r>
              <a:rPr lang="en-US" dirty="0" smtClean="0"/>
              <a:t>The </a:t>
            </a:r>
            <a:r>
              <a:rPr lang="en-US" dirty="0"/>
              <a:t>theory of music, techniques for singing, and music instruments are discussed from chapters 28 to 34. </a:t>
            </a:r>
            <a:endParaRPr lang="en-US" dirty="0" smtClean="0"/>
          </a:p>
          <a:p>
            <a:pPr algn="just"/>
            <a:r>
              <a:rPr lang="en-US" dirty="0" smtClean="0"/>
              <a:t>The </a:t>
            </a:r>
            <a:r>
              <a:rPr lang="en-US" dirty="0"/>
              <a:t>text in its final chapters describes the various types of dramatic characters, their roles and need for team work, what constitutes an ideal troupe, closing out the text with its comments of the importance of performance arts on culture.</a:t>
            </a:r>
          </a:p>
          <a:p>
            <a:pPr algn="just"/>
            <a:endParaRPr lang="en-IN" dirty="0"/>
          </a:p>
        </p:txBody>
      </p:sp>
    </p:spTree>
    <p:extLst>
      <p:ext uri="{BB962C8B-B14F-4D97-AF65-F5344CB8AC3E}">
        <p14:creationId xmlns:p14="http://schemas.microsoft.com/office/powerpoint/2010/main" val="19455820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Origin of </a:t>
            </a:r>
            <a:r>
              <a:rPr lang="en-IN" dirty="0" smtClean="0"/>
              <a:t>Theatre</a:t>
            </a:r>
            <a:endParaRPr lang="en-IN" dirty="0"/>
          </a:p>
        </p:txBody>
      </p:sp>
      <p:sp>
        <p:nvSpPr>
          <p:cNvPr id="3" name="Content Placeholder 2"/>
          <p:cNvSpPr>
            <a:spLocks noGrp="1"/>
          </p:cNvSpPr>
          <p:nvPr>
            <p:ph sz="quarter" idx="1"/>
          </p:nvPr>
        </p:nvSpPr>
        <p:spPr/>
        <p:txBody>
          <a:bodyPr>
            <a:normAutofit fontScale="92500"/>
          </a:bodyPr>
          <a:lstStyle/>
          <a:p>
            <a:pPr algn="just"/>
            <a:r>
              <a:rPr lang="en-US" dirty="0" smtClean="0"/>
              <a:t>Surviving </a:t>
            </a:r>
            <a:r>
              <a:rPr lang="en-US" dirty="0"/>
              <a:t>texts and </a:t>
            </a:r>
            <a:r>
              <a:rPr lang="en-US" dirty="0" smtClean="0"/>
              <a:t>treatises </a:t>
            </a:r>
            <a:r>
              <a:rPr lang="en-US" dirty="0"/>
              <a:t>suggest that theatre existed in the Indian subcontinent prior to the </a:t>
            </a:r>
            <a:r>
              <a:rPr lang="en-US" dirty="0" smtClean="0"/>
              <a:t>Vedic </a:t>
            </a:r>
            <a:r>
              <a:rPr lang="en-US" dirty="0"/>
              <a:t>age</a:t>
            </a:r>
            <a:r>
              <a:rPr lang="en-US" dirty="0" smtClean="0"/>
              <a:t>.</a:t>
            </a:r>
          </a:p>
          <a:p>
            <a:pPr algn="just"/>
            <a:r>
              <a:rPr lang="en-US" dirty="0"/>
              <a:t>The golden era of Indian theatre is believed to have continued until the 5th century, after which the prominence of Sanskrit drama gradually diminished</a:t>
            </a:r>
            <a:r>
              <a:rPr lang="en-US" dirty="0" smtClean="0"/>
              <a:t>.</a:t>
            </a:r>
          </a:p>
          <a:p>
            <a:pPr algn="just"/>
            <a:r>
              <a:rPr lang="en-US" dirty="0"/>
              <a:t>Paul </a:t>
            </a:r>
            <a:r>
              <a:rPr lang="en-US" dirty="0" smtClean="0"/>
              <a:t>Kurtz suggests </a:t>
            </a:r>
            <a:r>
              <a:rPr lang="en-US" dirty="0"/>
              <a:t>that the Rig Veda gives evidence that dramatic theatre in India came into being </a:t>
            </a:r>
            <a:r>
              <a:rPr lang="en-US" dirty="0" smtClean="0"/>
              <a:t>around </a:t>
            </a:r>
            <a:r>
              <a:rPr lang="en-US" dirty="0"/>
              <a:t>the eighth century B.C</a:t>
            </a:r>
            <a:r>
              <a:rPr lang="en-US" dirty="0" smtClean="0"/>
              <a:t>.</a:t>
            </a:r>
          </a:p>
          <a:p>
            <a:pPr algn="just"/>
            <a:r>
              <a:rPr lang="en-US" dirty="0"/>
              <a:t>According to Kurtz, the </a:t>
            </a:r>
            <a:r>
              <a:rPr lang="en-US" dirty="0" err="1"/>
              <a:t>Jataka</a:t>
            </a:r>
            <a:r>
              <a:rPr lang="en-US" dirty="0"/>
              <a:t> stories illustrating Indian life </a:t>
            </a:r>
            <a:r>
              <a:rPr lang="en-US" dirty="0" smtClean="0"/>
              <a:t>between </a:t>
            </a:r>
            <a:r>
              <a:rPr lang="en-US" dirty="0"/>
              <a:t>600 B.C. and 300 B.C. contain evidences of theatre</a:t>
            </a:r>
          </a:p>
          <a:p>
            <a:pPr algn="just"/>
            <a:endParaRPr lang="en-IN" dirty="0"/>
          </a:p>
        </p:txBody>
      </p:sp>
    </p:spTree>
    <p:extLst>
      <p:ext uri="{BB962C8B-B14F-4D97-AF65-F5344CB8AC3E}">
        <p14:creationId xmlns:p14="http://schemas.microsoft.com/office/powerpoint/2010/main" val="4240002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normAutofit/>
          </a:bodyPr>
          <a:lstStyle/>
          <a:p>
            <a:pPr algn="just"/>
            <a:r>
              <a:rPr lang="en-US" dirty="0" smtClean="0"/>
              <a:t>Like </a:t>
            </a:r>
            <a:r>
              <a:rPr lang="en-US" dirty="0"/>
              <a:t>its Greek counterpart Indian </a:t>
            </a:r>
            <a:r>
              <a:rPr lang="en-US" dirty="0" smtClean="0"/>
              <a:t>drama </a:t>
            </a:r>
            <a:r>
              <a:rPr lang="en-US" dirty="0"/>
              <a:t>and theatre owes its origin to religion. </a:t>
            </a:r>
            <a:endParaRPr lang="en-US" dirty="0" smtClean="0"/>
          </a:p>
          <a:p>
            <a:pPr algn="just"/>
            <a:r>
              <a:rPr lang="en-US" dirty="0" smtClean="0"/>
              <a:t>The </a:t>
            </a:r>
            <a:r>
              <a:rPr lang="en-US" dirty="0"/>
              <a:t>two great Indian epics, the Ramayana and the </a:t>
            </a:r>
            <a:r>
              <a:rPr lang="en-US" dirty="0" smtClean="0"/>
              <a:t>Mahabharata </a:t>
            </a:r>
            <a:r>
              <a:rPr lang="en-US" dirty="0"/>
              <a:t>have contributed vastly to performing arts in ancient </a:t>
            </a:r>
            <a:r>
              <a:rPr lang="en-US" dirty="0" smtClean="0"/>
              <a:t>times. </a:t>
            </a:r>
          </a:p>
          <a:p>
            <a:pPr algn="just"/>
            <a:r>
              <a:rPr lang="en-IN" dirty="0"/>
              <a:t>Kurtz </a:t>
            </a:r>
            <a:r>
              <a:rPr lang="en-IN" dirty="0" smtClean="0"/>
              <a:t>observes </a:t>
            </a:r>
            <a:r>
              <a:rPr lang="en-US" dirty="0"/>
              <a:t> In the </a:t>
            </a:r>
            <a:r>
              <a:rPr lang="en-US" dirty="0" smtClean="0"/>
              <a:t>fourth </a:t>
            </a:r>
            <a:r>
              <a:rPr lang="en-US" dirty="0"/>
              <a:t>century B.C, actors were employed to perform at temples in the </a:t>
            </a:r>
            <a:r>
              <a:rPr lang="en-US" dirty="0" err="1"/>
              <a:t>honour</a:t>
            </a:r>
            <a:r>
              <a:rPr lang="en-US" dirty="0"/>
              <a:t> of Gods. Also, </a:t>
            </a:r>
            <a:r>
              <a:rPr lang="en-US" dirty="0" smtClean="0"/>
              <a:t>some </a:t>
            </a:r>
            <a:r>
              <a:rPr lang="en-US" dirty="0"/>
              <a:t>villages exhibited public performances in the form of </a:t>
            </a:r>
            <a:r>
              <a:rPr lang="en-US" dirty="0" err="1"/>
              <a:t>Stree</a:t>
            </a:r>
            <a:r>
              <a:rPr lang="en-US" dirty="0"/>
              <a:t> </a:t>
            </a:r>
            <a:r>
              <a:rPr lang="en-US" dirty="0" err="1"/>
              <a:t>Preksha</a:t>
            </a:r>
            <a:r>
              <a:rPr lang="en-US" dirty="0"/>
              <a:t> (women’s drama) and </a:t>
            </a:r>
            <a:r>
              <a:rPr lang="en-US" dirty="0" err="1" smtClean="0"/>
              <a:t>Purusha</a:t>
            </a:r>
            <a:r>
              <a:rPr lang="en-US" dirty="0" smtClean="0"/>
              <a:t> </a:t>
            </a:r>
            <a:r>
              <a:rPr lang="en-US" dirty="0" err="1"/>
              <a:t>Preksha</a:t>
            </a:r>
            <a:r>
              <a:rPr lang="en-US" dirty="0"/>
              <a:t> (men’s drama</a:t>
            </a:r>
            <a:r>
              <a:rPr lang="en-US" dirty="0" smtClean="0"/>
              <a:t>). </a:t>
            </a:r>
            <a:endParaRPr lang="en-IN" dirty="0"/>
          </a:p>
        </p:txBody>
      </p:sp>
    </p:spTree>
    <p:extLst>
      <p:ext uri="{BB962C8B-B14F-4D97-AF65-F5344CB8AC3E}">
        <p14:creationId xmlns:p14="http://schemas.microsoft.com/office/powerpoint/2010/main" val="3118520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lstStyle/>
          <a:p>
            <a:pPr algn="just"/>
            <a:r>
              <a:rPr lang="en-US" dirty="0"/>
              <a:t>The </a:t>
            </a:r>
            <a:r>
              <a:rPr lang="en-US" dirty="0" err="1"/>
              <a:t>Natyshastra</a:t>
            </a:r>
            <a:r>
              <a:rPr lang="en-US" dirty="0"/>
              <a:t> of </a:t>
            </a:r>
            <a:r>
              <a:rPr lang="en-US" dirty="0" err="1"/>
              <a:t>Bharata</a:t>
            </a:r>
            <a:r>
              <a:rPr lang="en-US" dirty="0"/>
              <a:t> Muni brings out the evidence </a:t>
            </a:r>
            <a:r>
              <a:rPr lang="en-US" dirty="0" smtClean="0"/>
              <a:t>of </a:t>
            </a:r>
            <a:r>
              <a:rPr lang="en-US" dirty="0"/>
              <a:t>theatre arts at festivals and public celebrations during the </a:t>
            </a:r>
            <a:r>
              <a:rPr lang="en-US" dirty="0" err="1"/>
              <a:t>Maurya</a:t>
            </a:r>
            <a:r>
              <a:rPr lang="en-US" dirty="0"/>
              <a:t> Dynasty, founded by King </a:t>
            </a:r>
            <a:r>
              <a:rPr lang="en-US" dirty="0" smtClean="0"/>
              <a:t>Chandragupta </a:t>
            </a:r>
            <a:r>
              <a:rPr lang="en-US" dirty="0"/>
              <a:t>(reigned 321 B.C -297 B.C</a:t>
            </a:r>
            <a:r>
              <a:rPr lang="en-US" dirty="0" smtClean="0"/>
              <a:t>).</a:t>
            </a:r>
          </a:p>
          <a:p>
            <a:pPr algn="just"/>
            <a:r>
              <a:rPr lang="en-IN" dirty="0"/>
              <a:t>The </a:t>
            </a:r>
            <a:r>
              <a:rPr lang="en-IN" dirty="0" err="1"/>
              <a:t>Maurya</a:t>
            </a:r>
            <a:r>
              <a:rPr lang="en-IN" dirty="0"/>
              <a:t> Dynasty ruled India for a long period. </a:t>
            </a:r>
            <a:r>
              <a:rPr lang="en-IN" dirty="0" smtClean="0"/>
              <a:t>During </a:t>
            </a:r>
            <a:r>
              <a:rPr lang="en-IN" dirty="0"/>
              <a:t>this period, kings sent Buddhist missionaries to various places like Ceylon, Syria, Egypt, </a:t>
            </a:r>
            <a:r>
              <a:rPr lang="en-IN" dirty="0" smtClean="0"/>
              <a:t>Greece</a:t>
            </a:r>
            <a:r>
              <a:rPr lang="en-IN" dirty="0"/>
              <a:t>, Tibet, China and Japan to spread Buddhism. The missionaries used various forms of arts </a:t>
            </a:r>
            <a:r>
              <a:rPr lang="en-IN" dirty="0" smtClean="0"/>
              <a:t>including </a:t>
            </a:r>
            <a:r>
              <a:rPr lang="en-IN" dirty="0"/>
              <a:t>drama, to teach Buddhist </a:t>
            </a:r>
            <a:r>
              <a:rPr lang="en-IN" dirty="0" smtClean="0"/>
              <a:t>dogma.</a:t>
            </a:r>
            <a:endParaRPr lang="en-IN" dirty="0"/>
          </a:p>
        </p:txBody>
      </p:sp>
    </p:spTree>
    <p:extLst>
      <p:ext uri="{BB962C8B-B14F-4D97-AF65-F5344CB8AC3E}">
        <p14:creationId xmlns:p14="http://schemas.microsoft.com/office/powerpoint/2010/main" val="9369241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lstStyle/>
          <a:p>
            <a:pPr algn="just"/>
            <a:r>
              <a:rPr lang="en-US" dirty="0" smtClean="0"/>
              <a:t>In </a:t>
            </a:r>
            <a:r>
              <a:rPr lang="en-US" dirty="0"/>
              <a:t>a similar way, the Gupta Dynasty (A.D. 320- A.D. </a:t>
            </a:r>
            <a:r>
              <a:rPr lang="en-US" dirty="0" smtClean="0"/>
              <a:t>535</a:t>
            </a:r>
            <a:r>
              <a:rPr lang="en-US" dirty="0"/>
              <a:t>) </a:t>
            </a:r>
            <a:r>
              <a:rPr lang="en-US" dirty="0" smtClean="0"/>
              <a:t>accompanied </a:t>
            </a:r>
            <a:r>
              <a:rPr lang="en-US" dirty="0"/>
              <a:t>in India’s golden or classical age in which the Buddhism accepted by King Asoka </a:t>
            </a:r>
            <a:r>
              <a:rPr lang="en-US" dirty="0" smtClean="0"/>
              <a:t>(</a:t>
            </a:r>
            <a:r>
              <a:rPr lang="en-US" dirty="0"/>
              <a:t>reigned 274B.C- 232 B.C) and the dramatic theatre flourished. </a:t>
            </a:r>
            <a:endParaRPr lang="en-US" dirty="0" smtClean="0"/>
          </a:p>
          <a:p>
            <a:pPr algn="just"/>
            <a:r>
              <a:rPr lang="en-US" dirty="0" smtClean="0"/>
              <a:t>The </a:t>
            </a:r>
            <a:r>
              <a:rPr lang="en-US" dirty="0"/>
              <a:t>great playwright </a:t>
            </a:r>
            <a:r>
              <a:rPr lang="en-US" dirty="0" err="1"/>
              <a:t>Kalidasa</a:t>
            </a:r>
            <a:r>
              <a:rPr lang="en-US" dirty="0"/>
              <a:t> </a:t>
            </a:r>
            <a:r>
              <a:rPr lang="en-US" dirty="0" smtClean="0"/>
              <a:t>was </a:t>
            </a:r>
            <a:r>
              <a:rPr lang="en-US" dirty="0"/>
              <a:t>patronized by King </a:t>
            </a:r>
            <a:r>
              <a:rPr lang="en-US" dirty="0" err="1"/>
              <a:t>Vikramaditya</a:t>
            </a:r>
            <a:r>
              <a:rPr lang="en-US" dirty="0"/>
              <a:t> (A.D. 373 – A.D. 415) and also gathered a unique group </a:t>
            </a:r>
            <a:r>
              <a:rPr lang="en-US" dirty="0" smtClean="0"/>
              <a:t>of </a:t>
            </a:r>
            <a:r>
              <a:rPr lang="en-US" dirty="0"/>
              <a:t>poets and </a:t>
            </a:r>
            <a:r>
              <a:rPr lang="en-US" dirty="0" smtClean="0"/>
              <a:t>scholars. </a:t>
            </a:r>
            <a:endParaRPr lang="en-IN" dirty="0"/>
          </a:p>
        </p:txBody>
      </p:sp>
    </p:spTree>
    <p:extLst>
      <p:ext uri="{BB962C8B-B14F-4D97-AF65-F5344CB8AC3E}">
        <p14:creationId xmlns:p14="http://schemas.microsoft.com/office/powerpoint/2010/main" val="1143422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Description of the playhouse in </a:t>
            </a:r>
            <a:r>
              <a:rPr lang="en-US" dirty="0" err="1" smtClean="0"/>
              <a:t>Natyashastra</a:t>
            </a:r>
            <a:endParaRPr lang="en-IN" dirty="0"/>
          </a:p>
        </p:txBody>
      </p:sp>
      <p:sp>
        <p:nvSpPr>
          <p:cNvPr id="3" name="Content Placeholder 2"/>
          <p:cNvSpPr>
            <a:spLocks noGrp="1"/>
          </p:cNvSpPr>
          <p:nvPr>
            <p:ph sz="quarter" idx="1"/>
          </p:nvPr>
        </p:nvSpPr>
        <p:spPr/>
        <p:txBody>
          <a:bodyPr>
            <a:normAutofit/>
          </a:bodyPr>
          <a:lstStyle/>
          <a:p>
            <a:pPr algn="just"/>
            <a:r>
              <a:rPr lang="en-US" dirty="0" err="1"/>
              <a:t>Natyashastra</a:t>
            </a:r>
            <a:r>
              <a:rPr lang="en-US" dirty="0"/>
              <a:t>, the ancient Indian text, has provided valuable insights into various aspects of performing arts, including the playhouse</a:t>
            </a:r>
            <a:r>
              <a:rPr lang="en-US" dirty="0" smtClean="0"/>
              <a:t>.</a:t>
            </a:r>
          </a:p>
          <a:p>
            <a:pPr algn="just"/>
            <a:r>
              <a:rPr lang="en-US" dirty="0"/>
              <a:t>According to the </a:t>
            </a:r>
            <a:r>
              <a:rPr lang="en-US" dirty="0" err="1"/>
              <a:t>Natyashastra</a:t>
            </a:r>
            <a:r>
              <a:rPr lang="en-US" dirty="0"/>
              <a:t>, the playhouse should be rectangular, square, or triangular in shape, with the rectangular one being most common. </a:t>
            </a:r>
            <a:endParaRPr lang="en-US" dirty="0" smtClean="0"/>
          </a:p>
          <a:p>
            <a:pPr algn="just"/>
            <a:r>
              <a:rPr lang="en-US" dirty="0" smtClean="0"/>
              <a:t>The </a:t>
            </a:r>
            <a:r>
              <a:rPr lang="en-US" dirty="0"/>
              <a:t>dimensions are carefully laid out to ensure proper </a:t>
            </a:r>
            <a:r>
              <a:rPr lang="en-US" dirty="0" smtClean="0"/>
              <a:t>audibility </a:t>
            </a:r>
            <a:r>
              <a:rPr lang="en-US" dirty="0"/>
              <a:t>and visibility for the audience</a:t>
            </a:r>
            <a:r>
              <a:rPr lang="en-US" dirty="0" smtClean="0"/>
              <a:t>.</a:t>
            </a:r>
          </a:p>
          <a:p>
            <a:pPr marL="0" indent="0" algn="just">
              <a:buNone/>
            </a:pPr>
            <a:endParaRPr lang="en-IN" dirty="0"/>
          </a:p>
        </p:txBody>
      </p:sp>
    </p:spTree>
    <p:extLst>
      <p:ext uri="{BB962C8B-B14F-4D97-AF65-F5344CB8AC3E}">
        <p14:creationId xmlns:p14="http://schemas.microsoft.com/office/powerpoint/2010/main" val="1640219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lstStyle/>
          <a:p>
            <a:pPr algn="just"/>
            <a:r>
              <a:rPr lang="en-US" dirty="0"/>
              <a:t>Three Sections: The playhouse is divided into three sections—the stage area (</a:t>
            </a:r>
            <a:r>
              <a:rPr lang="en-US" dirty="0" err="1"/>
              <a:t>rangaśīrṣa</a:t>
            </a:r>
            <a:r>
              <a:rPr lang="en-US" dirty="0"/>
              <a:t>), the backstage (</a:t>
            </a:r>
            <a:r>
              <a:rPr lang="en-US" dirty="0" err="1"/>
              <a:t>nepathya</a:t>
            </a:r>
            <a:r>
              <a:rPr lang="en-US" dirty="0"/>
              <a:t>), and the audience area (</a:t>
            </a:r>
            <a:r>
              <a:rPr lang="en-US" dirty="0" err="1"/>
              <a:t>rangapīṭha</a:t>
            </a:r>
            <a:r>
              <a:rPr lang="en-US" dirty="0"/>
              <a:t>). </a:t>
            </a:r>
            <a:endParaRPr lang="en-US" dirty="0" smtClean="0"/>
          </a:p>
          <a:p>
            <a:pPr algn="just"/>
            <a:r>
              <a:rPr lang="en-US" dirty="0" smtClean="0"/>
              <a:t>The </a:t>
            </a:r>
            <a:r>
              <a:rPr lang="en-US" dirty="0"/>
              <a:t>stage was raised and decorated elaborately, providing space for actors to </a:t>
            </a:r>
            <a:r>
              <a:rPr lang="en-US" dirty="0" smtClean="0"/>
              <a:t>perform.</a:t>
            </a:r>
          </a:p>
          <a:p>
            <a:pPr algn="just"/>
            <a:r>
              <a:rPr lang="en-US" dirty="0"/>
              <a:t>Size: The playhouse could be of three sizes—small, medium, or large, depending on the scale of performances. The small ones could accommodate around 300 spectators, while the large ones could hold about 500.</a:t>
            </a:r>
            <a:endParaRPr lang="en-IN" dirty="0"/>
          </a:p>
        </p:txBody>
      </p:sp>
    </p:spTree>
    <p:extLst>
      <p:ext uri="{BB962C8B-B14F-4D97-AF65-F5344CB8AC3E}">
        <p14:creationId xmlns:p14="http://schemas.microsoft.com/office/powerpoint/2010/main" val="7387311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normAutofit/>
          </a:bodyPr>
          <a:lstStyle/>
          <a:p>
            <a:pPr algn="just"/>
            <a:r>
              <a:rPr lang="en-US" dirty="0"/>
              <a:t>Decorative Elements: The interiors were adorned with ornamental pillars, murals, and artistic carvings, with attention to aesthetics</a:t>
            </a:r>
            <a:r>
              <a:rPr lang="en-US" dirty="0" smtClean="0"/>
              <a:t>.</a:t>
            </a:r>
          </a:p>
          <a:p>
            <a:pPr algn="just"/>
            <a:r>
              <a:rPr lang="en-US" dirty="0" smtClean="0"/>
              <a:t>Audio </a:t>
            </a:r>
            <a:r>
              <a:rPr lang="en-US" dirty="0"/>
              <a:t>Design: Special attention was given to acoustics to ensure the performers’ voices were audible throughout the playhouse. This included the use of certain materials and design elements that helped in sound </a:t>
            </a:r>
            <a:r>
              <a:rPr lang="en-US" dirty="0" smtClean="0"/>
              <a:t>projection.</a:t>
            </a:r>
          </a:p>
          <a:p>
            <a:pPr marL="0" indent="0" algn="just">
              <a:buNone/>
            </a:pPr>
            <a:endParaRPr lang="en-IN" dirty="0"/>
          </a:p>
        </p:txBody>
      </p:sp>
    </p:spTree>
    <p:extLst>
      <p:ext uri="{BB962C8B-B14F-4D97-AF65-F5344CB8AC3E}">
        <p14:creationId xmlns:p14="http://schemas.microsoft.com/office/powerpoint/2010/main" val="1415849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lstStyle/>
          <a:p>
            <a:pPr algn="just"/>
            <a:r>
              <a:rPr lang="en-US" dirty="0"/>
              <a:t>Audience Seating: The audience seating was tiered, ensuring clear visibility from all parts of the playhouse. The </a:t>
            </a:r>
            <a:r>
              <a:rPr lang="en-US" dirty="0" err="1"/>
              <a:t>Natyashastra</a:t>
            </a:r>
            <a:r>
              <a:rPr lang="en-US" dirty="0"/>
              <a:t> also outlines the placement of spectators based on social hierarchy</a:t>
            </a:r>
            <a:r>
              <a:rPr lang="en-US" dirty="0" smtClean="0"/>
              <a:t>.</a:t>
            </a:r>
          </a:p>
          <a:p>
            <a:pPr algn="just"/>
            <a:r>
              <a:rPr lang="en-US" dirty="0" smtClean="0"/>
              <a:t>Curtains </a:t>
            </a:r>
            <a:r>
              <a:rPr lang="en-US" dirty="0"/>
              <a:t>and Props: Curtains were used to separate the backstage from the stage, and various props were placed to create an immersive theatrical experience</a:t>
            </a:r>
            <a:endParaRPr lang="en-IN" dirty="0"/>
          </a:p>
        </p:txBody>
      </p:sp>
    </p:spTree>
    <p:extLst>
      <p:ext uri="{BB962C8B-B14F-4D97-AF65-F5344CB8AC3E}">
        <p14:creationId xmlns:p14="http://schemas.microsoft.com/office/powerpoint/2010/main" val="2704650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Ten kinds of plays</a:t>
            </a:r>
          </a:p>
        </p:txBody>
      </p:sp>
      <p:sp>
        <p:nvSpPr>
          <p:cNvPr id="3" name="Content Placeholder 2"/>
          <p:cNvSpPr>
            <a:spLocks noGrp="1"/>
          </p:cNvSpPr>
          <p:nvPr>
            <p:ph sz="quarter" idx="1"/>
          </p:nvPr>
        </p:nvSpPr>
        <p:spPr/>
        <p:txBody>
          <a:bodyPr>
            <a:normAutofit lnSpcReduction="10000"/>
          </a:bodyPr>
          <a:lstStyle/>
          <a:p>
            <a:pPr algn="just"/>
            <a:r>
              <a:rPr lang="en-US" dirty="0"/>
              <a:t>The </a:t>
            </a:r>
            <a:r>
              <a:rPr lang="en-US" dirty="0" err="1"/>
              <a:t>Natyashastra</a:t>
            </a:r>
            <a:r>
              <a:rPr lang="en-US" dirty="0"/>
              <a:t> categorizes plays into ten distinct types, known as </a:t>
            </a:r>
            <a:r>
              <a:rPr lang="en-US" dirty="0" err="1"/>
              <a:t>Daśarūpaka</a:t>
            </a:r>
            <a:r>
              <a:rPr lang="en-US" dirty="0"/>
              <a:t> (ten forms of drama), each with its own structure, themes, and styles</a:t>
            </a:r>
            <a:r>
              <a:rPr lang="en-US" dirty="0" smtClean="0"/>
              <a:t>.</a:t>
            </a:r>
          </a:p>
          <a:p>
            <a:pPr algn="just"/>
            <a:r>
              <a:rPr lang="en-US" dirty="0" smtClean="0"/>
              <a:t> </a:t>
            </a:r>
            <a:r>
              <a:rPr lang="en-US" dirty="0"/>
              <a:t>These classifications are based on the nature of the story, the characters involved, and the dramatic composition</a:t>
            </a:r>
            <a:r>
              <a:rPr lang="en-US" dirty="0" smtClean="0"/>
              <a:t>.</a:t>
            </a:r>
          </a:p>
          <a:p>
            <a:pPr algn="just"/>
            <a:r>
              <a:rPr lang="en-US" dirty="0"/>
              <a:t>1. </a:t>
            </a:r>
            <a:r>
              <a:rPr lang="en-US" b="1" dirty="0" err="1" smtClean="0"/>
              <a:t>Nāṭaka</a:t>
            </a:r>
            <a:r>
              <a:rPr lang="en-US" b="1" dirty="0"/>
              <a:t> (Heroic or Epic </a:t>
            </a:r>
            <a:r>
              <a:rPr lang="en-US" b="1" dirty="0" smtClean="0"/>
              <a:t>Play</a:t>
            </a:r>
            <a:r>
              <a:rPr lang="en-US" dirty="0" smtClean="0"/>
              <a:t>): </a:t>
            </a:r>
            <a:r>
              <a:rPr lang="en-US" dirty="0"/>
              <a:t>The most prominent and grand form, </a:t>
            </a:r>
            <a:r>
              <a:rPr lang="en-US" dirty="0" err="1"/>
              <a:t>Nāṭaka</a:t>
            </a:r>
            <a:r>
              <a:rPr lang="en-US" dirty="0"/>
              <a:t> typically deals with stories of heroic figures, especially kings, and is based on epics or historical events. It has five to ten acts and focuses on high ideals and morals.</a:t>
            </a:r>
            <a:endParaRPr lang="en-IN" dirty="0"/>
          </a:p>
        </p:txBody>
      </p:sp>
    </p:spTree>
    <p:extLst>
      <p:ext uri="{BB962C8B-B14F-4D97-AF65-F5344CB8AC3E}">
        <p14:creationId xmlns:p14="http://schemas.microsoft.com/office/powerpoint/2010/main" val="3756044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lstStyle/>
          <a:p>
            <a:pPr algn="just"/>
            <a:r>
              <a:rPr lang="en-US" dirty="0"/>
              <a:t>2. </a:t>
            </a:r>
            <a:r>
              <a:rPr lang="en-US" b="1" dirty="0" err="1" smtClean="0"/>
              <a:t>Prakaraṇa</a:t>
            </a:r>
            <a:r>
              <a:rPr lang="en-US" b="1" dirty="0" smtClean="0"/>
              <a:t> (Social Play)</a:t>
            </a:r>
            <a:r>
              <a:rPr lang="en-US" dirty="0" smtClean="0"/>
              <a:t>: </a:t>
            </a:r>
            <a:r>
              <a:rPr lang="en-US" dirty="0"/>
              <a:t>A fictional play revolving around middle-class or common people, often dealing with love, social issues, or domestic life. The hero is usually a Brahmin or merchant. It has five to ten acts, like </a:t>
            </a:r>
            <a:r>
              <a:rPr lang="en-US" dirty="0" err="1"/>
              <a:t>Nāṭaka</a:t>
            </a:r>
            <a:r>
              <a:rPr lang="en-US" dirty="0" smtClean="0"/>
              <a:t>.</a:t>
            </a:r>
            <a:endParaRPr lang="en-IN" dirty="0"/>
          </a:p>
          <a:p>
            <a:pPr algn="just"/>
            <a:r>
              <a:rPr lang="en-US" dirty="0" smtClean="0"/>
              <a:t>3</a:t>
            </a:r>
            <a:r>
              <a:rPr lang="en-US" dirty="0"/>
              <a:t>. </a:t>
            </a:r>
            <a:r>
              <a:rPr lang="en-US" b="1" dirty="0" err="1" smtClean="0"/>
              <a:t>Bhaṇa</a:t>
            </a:r>
            <a:r>
              <a:rPr lang="en-US" b="1" dirty="0" smtClean="0"/>
              <a:t>(Monologue Play): </a:t>
            </a:r>
            <a:r>
              <a:rPr lang="en-US" dirty="0"/>
              <a:t>A one-act monologue play where a single actor portrays multiple characters, often narrating a humorous or satirical story.</a:t>
            </a:r>
            <a:endParaRPr lang="en-IN" dirty="0"/>
          </a:p>
        </p:txBody>
      </p:sp>
    </p:spTree>
    <p:extLst>
      <p:ext uri="{BB962C8B-B14F-4D97-AF65-F5344CB8AC3E}">
        <p14:creationId xmlns:p14="http://schemas.microsoft.com/office/powerpoint/2010/main" val="24798844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normAutofit lnSpcReduction="10000"/>
          </a:bodyPr>
          <a:lstStyle/>
          <a:p>
            <a:pPr algn="just"/>
            <a:r>
              <a:rPr lang="en-US" dirty="0" smtClean="0"/>
              <a:t>4.</a:t>
            </a:r>
            <a:r>
              <a:rPr lang="en-US" b="1" dirty="0" smtClean="0"/>
              <a:t>Samavakara</a:t>
            </a:r>
            <a:r>
              <a:rPr lang="en-US" dirty="0" smtClean="0"/>
              <a:t> (Mythological Play): </a:t>
            </a:r>
            <a:r>
              <a:rPr lang="en-US" dirty="0"/>
              <a:t>A mythological play in three acts, usually involving gods, demons, and supernatural events. It depicts intense conflicts and </a:t>
            </a:r>
            <a:r>
              <a:rPr lang="en-US" dirty="0" smtClean="0"/>
              <a:t>resolutions</a:t>
            </a:r>
            <a:r>
              <a:rPr lang="en-US" dirty="0"/>
              <a:t>, often of cosmic significance</a:t>
            </a:r>
            <a:r>
              <a:rPr lang="en-US" dirty="0" smtClean="0"/>
              <a:t>.</a:t>
            </a:r>
          </a:p>
          <a:p>
            <a:pPr algn="just"/>
            <a:r>
              <a:rPr lang="en-US" dirty="0"/>
              <a:t>5. </a:t>
            </a:r>
            <a:r>
              <a:rPr lang="en-US" b="1" dirty="0" err="1" smtClean="0"/>
              <a:t>Vithi</a:t>
            </a:r>
            <a:r>
              <a:rPr lang="en-US" b="1" dirty="0" smtClean="0"/>
              <a:t> </a:t>
            </a:r>
            <a:r>
              <a:rPr lang="en-US" b="1" dirty="0"/>
              <a:t>– Farcical Play: </a:t>
            </a:r>
            <a:r>
              <a:rPr lang="en-US" dirty="0"/>
              <a:t>A one-act farce that combines prose and poetry, characterized by wit and humor. It often includes humorous dialogues and situations</a:t>
            </a:r>
            <a:r>
              <a:rPr lang="en-US" dirty="0" smtClean="0"/>
              <a:t>.</a:t>
            </a:r>
          </a:p>
          <a:p>
            <a:pPr algn="just"/>
            <a:r>
              <a:rPr lang="en-US" dirty="0"/>
              <a:t>6. </a:t>
            </a:r>
            <a:r>
              <a:rPr lang="en-US" b="1" dirty="0" err="1"/>
              <a:t>Anka</a:t>
            </a:r>
            <a:r>
              <a:rPr lang="en-US" b="1" dirty="0"/>
              <a:t> </a:t>
            </a:r>
            <a:r>
              <a:rPr lang="en-US" b="1" dirty="0" smtClean="0"/>
              <a:t> </a:t>
            </a:r>
            <a:r>
              <a:rPr lang="en-US" b="1" dirty="0"/>
              <a:t>– Tragic Play: </a:t>
            </a:r>
            <a:r>
              <a:rPr lang="en-US" dirty="0"/>
              <a:t>A one-act play focusing on sorrowful or tragic events. It generally involves noble characters in distress and ends in tragedy or loss.</a:t>
            </a:r>
            <a:endParaRPr lang="en-IN" dirty="0"/>
          </a:p>
        </p:txBody>
      </p:sp>
    </p:spTree>
    <p:extLst>
      <p:ext uri="{BB962C8B-B14F-4D97-AF65-F5344CB8AC3E}">
        <p14:creationId xmlns:p14="http://schemas.microsoft.com/office/powerpoint/2010/main" val="30710536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normAutofit fontScale="92500"/>
          </a:bodyPr>
          <a:lstStyle/>
          <a:p>
            <a:pPr algn="just"/>
            <a:r>
              <a:rPr lang="en-US" dirty="0"/>
              <a:t>7. </a:t>
            </a:r>
            <a:r>
              <a:rPr lang="en-US" b="1" dirty="0" err="1" smtClean="0"/>
              <a:t>Vyayoga</a:t>
            </a:r>
            <a:r>
              <a:rPr lang="en-US" b="1" dirty="0" smtClean="0"/>
              <a:t> </a:t>
            </a:r>
            <a:r>
              <a:rPr lang="en-US" b="1" dirty="0"/>
              <a:t>– Heroic Conflict Play: </a:t>
            </a:r>
            <a:r>
              <a:rPr lang="en-US" dirty="0"/>
              <a:t>A one-act heroic play that involves conflicts between great warriors or supernatural beings. It focuses on battle, strength, and valor but </a:t>
            </a:r>
            <a:r>
              <a:rPr lang="en-US" dirty="0" smtClean="0"/>
              <a:t>lacks </a:t>
            </a:r>
            <a:r>
              <a:rPr lang="en-US" dirty="0"/>
              <a:t>romantic elements</a:t>
            </a:r>
            <a:r>
              <a:rPr lang="en-US" dirty="0" smtClean="0"/>
              <a:t>.</a:t>
            </a:r>
          </a:p>
          <a:p>
            <a:pPr algn="just"/>
            <a:r>
              <a:rPr lang="en-US" dirty="0"/>
              <a:t>8. </a:t>
            </a:r>
            <a:r>
              <a:rPr lang="en-US" b="1" dirty="0" err="1"/>
              <a:t>Dima</a:t>
            </a:r>
            <a:r>
              <a:rPr lang="en-US" b="1" dirty="0"/>
              <a:t> – Supernatural Play: </a:t>
            </a:r>
            <a:r>
              <a:rPr lang="en-US" dirty="0"/>
              <a:t>A mythological or supernatural drama in four acts, often involving conflict between gods and demons. It is characterized by fear, supernatural elements, and battles</a:t>
            </a:r>
            <a:r>
              <a:rPr lang="en-US" dirty="0" smtClean="0"/>
              <a:t>.</a:t>
            </a:r>
          </a:p>
          <a:p>
            <a:pPr algn="just"/>
            <a:r>
              <a:rPr lang="en-IN" dirty="0" smtClean="0"/>
              <a:t>9. </a:t>
            </a:r>
            <a:r>
              <a:rPr lang="en-IN" b="1" dirty="0" err="1" smtClean="0"/>
              <a:t>Ihamṛga</a:t>
            </a:r>
            <a:r>
              <a:rPr lang="en-IN" b="1" dirty="0" smtClean="0"/>
              <a:t> </a:t>
            </a:r>
            <a:r>
              <a:rPr lang="en-IN" b="1" dirty="0"/>
              <a:t>– Adventure </a:t>
            </a:r>
            <a:r>
              <a:rPr lang="en-IN" b="1" dirty="0" smtClean="0"/>
              <a:t>Play: </a:t>
            </a:r>
            <a:r>
              <a:rPr lang="en-US" dirty="0"/>
              <a:t>A complex play in one act, dealing with the pursuit of unattainable desires, often involving a combination of romance and adventure.</a:t>
            </a:r>
            <a:endParaRPr lang="en-IN" dirty="0"/>
          </a:p>
        </p:txBody>
      </p:sp>
    </p:spTree>
    <p:extLst>
      <p:ext uri="{BB962C8B-B14F-4D97-AF65-F5344CB8AC3E}">
        <p14:creationId xmlns:p14="http://schemas.microsoft.com/office/powerpoint/2010/main" val="2838637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sz="quarter" idx="1"/>
          </p:nvPr>
        </p:nvSpPr>
        <p:spPr/>
        <p:txBody>
          <a:bodyPr/>
          <a:lstStyle/>
          <a:p>
            <a:pPr algn="just"/>
            <a:r>
              <a:rPr lang="en-US" dirty="0"/>
              <a:t>10. </a:t>
            </a:r>
            <a:r>
              <a:rPr lang="en-US" b="1" dirty="0" err="1"/>
              <a:t>Prahasana</a:t>
            </a:r>
            <a:r>
              <a:rPr lang="en-US" b="1" dirty="0"/>
              <a:t> – Comic Play: </a:t>
            </a:r>
            <a:r>
              <a:rPr lang="en-US" dirty="0"/>
              <a:t>A farcical comedy, usually divided into two types—superior (involving noble characters) and inferior (dealing with commoners). It satirizes social, religious, or political issues in a lighthearted manner.</a:t>
            </a:r>
            <a:endParaRPr lang="en-IN" dirty="0"/>
          </a:p>
        </p:txBody>
      </p:sp>
    </p:spTree>
    <p:extLst>
      <p:ext uri="{BB962C8B-B14F-4D97-AF65-F5344CB8AC3E}">
        <p14:creationId xmlns:p14="http://schemas.microsoft.com/office/powerpoint/2010/main" val="16062880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Dharmi</a:t>
            </a:r>
            <a:r>
              <a:rPr lang="en-IN" dirty="0"/>
              <a:t>-Acting</a:t>
            </a:r>
          </a:p>
        </p:txBody>
      </p:sp>
      <p:sp>
        <p:nvSpPr>
          <p:cNvPr id="3" name="Content Placeholder 2"/>
          <p:cNvSpPr>
            <a:spLocks noGrp="1"/>
          </p:cNvSpPr>
          <p:nvPr>
            <p:ph sz="quarter" idx="1"/>
          </p:nvPr>
        </p:nvSpPr>
        <p:spPr/>
        <p:txBody>
          <a:bodyPr>
            <a:normAutofit lnSpcReduction="10000"/>
          </a:bodyPr>
          <a:lstStyle/>
          <a:p>
            <a:pPr algn="just"/>
            <a:r>
              <a:rPr lang="en-US" dirty="0"/>
              <a:t>In </a:t>
            </a:r>
            <a:r>
              <a:rPr lang="en-US" dirty="0" err="1"/>
              <a:t>Natya</a:t>
            </a:r>
            <a:r>
              <a:rPr lang="en-US" dirty="0"/>
              <a:t> </a:t>
            </a:r>
            <a:r>
              <a:rPr lang="en-US" dirty="0" err="1"/>
              <a:t>Shastra</a:t>
            </a:r>
            <a:r>
              <a:rPr lang="en-US" dirty="0"/>
              <a:t>, </a:t>
            </a:r>
            <a:r>
              <a:rPr lang="en-US" dirty="0" err="1"/>
              <a:t>Dharmi</a:t>
            </a:r>
            <a:r>
              <a:rPr lang="en-US" dirty="0"/>
              <a:t> refers to the styles or modes of acting. There are two main </a:t>
            </a:r>
            <a:r>
              <a:rPr lang="en-US" dirty="0" err="1"/>
              <a:t>Dharmis</a:t>
            </a:r>
            <a:r>
              <a:rPr lang="en-US" dirty="0" smtClean="0"/>
              <a:t>:</a:t>
            </a:r>
          </a:p>
          <a:p>
            <a:pPr algn="just"/>
            <a:r>
              <a:rPr lang="en-US" b="1" dirty="0" err="1" smtClean="0"/>
              <a:t>Natyadharmi</a:t>
            </a:r>
            <a:r>
              <a:rPr lang="en-US" b="1" dirty="0" smtClean="0"/>
              <a:t> </a:t>
            </a:r>
            <a:r>
              <a:rPr lang="en-US" b="1" dirty="0"/>
              <a:t>(Theatrical </a:t>
            </a:r>
            <a:r>
              <a:rPr lang="en-US" b="1" dirty="0" smtClean="0"/>
              <a:t>style</a:t>
            </a:r>
            <a:r>
              <a:rPr lang="en-US" dirty="0" smtClean="0"/>
              <a:t>)- This </a:t>
            </a:r>
            <a:r>
              <a:rPr lang="en-US" dirty="0"/>
              <a:t>is a stylized, exaggerated, and symbolic mode of acting, commonly used in classical and traditional forms like </a:t>
            </a:r>
            <a:r>
              <a:rPr lang="en-US" dirty="0" err="1"/>
              <a:t>Kathakali</a:t>
            </a:r>
            <a:r>
              <a:rPr lang="en-US" dirty="0"/>
              <a:t> or </a:t>
            </a:r>
            <a:r>
              <a:rPr lang="en-US" dirty="0" err="1"/>
              <a:t>Bharatanatyam</a:t>
            </a:r>
            <a:r>
              <a:rPr lang="en-US" dirty="0"/>
              <a:t>. It does not focus on realism but on heightened expressions and gestures</a:t>
            </a:r>
            <a:r>
              <a:rPr lang="en-US" dirty="0" smtClean="0"/>
              <a:t>.</a:t>
            </a:r>
          </a:p>
          <a:p>
            <a:pPr algn="just"/>
            <a:r>
              <a:rPr lang="en-US" b="1" dirty="0" smtClean="0"/>
              <a:t>L0kadharmi </a:t>
            </a:r>
            <a:r>
              <a:rPr lang="en-US" b="1" dirty="0"/>
              <a:t>(Realistic style</a:t>
            </a:r>
            <a:r>
              <a:rPr lang="en-US" dirty="0"/>
              <a:t>) – This style focuses on realistic, everyday behavior and emotions, often used in modern drama or films. It mimics real-life situations and interactions more closely.</a:t>
            </a:r>
            <a:endParaRPr lang="en-IN" dirty="0"/>
          </a:p>
        </p:txBody>
      </p:sp>
    </p:spTree>
    <p:extLst>
      <p:ext uri="{BB962C8B-B14F-4D97-AF65-F5344CB8AC3E}">
        <p14:creationId xmlns:p14="http://schemas.microsoft.com/office/powerpoint/2010/main" val="23864435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62000"/>
          </a:xfrm>
        </p:spPr>
        <p:txBody>
          <a:bodyPr>
            <a:normAutofit/>
          </a:bodyPr>
          <a:lstStyle/>
          <a:p>
            <a:r>
              <a:rPr lang="en-IN" dirty="0"/>
              <a:t>Rasa </a:t>
            </a:r>
            <a:r>
              <a:rPr lang="en-IN" dirty="0" smtClean="0"/>
              <a:t>&amp; </a:t>
            </a:r>
            <a:r>
              <a:rPr lang="en-IN" dirty="0" err="1" smtClean="0"/>
              <a:t>Bhav</a:t>
            </a:r>
            <a:endParaRPr lang="en-IN" dirty="0"/>
          </a:p>
        </p:txBody>
      </p:sp>
      <p:sp>
        <p:nvSpPr>
          <p:cNvPr id="3" name="Content Placeholder 2"/>
          <p:cNvSpPr>
            <a:spLocks noGrp="1"/>
          </p:cNvSpPr>
          <p:nvPr>
            <p:ph sz="quarter" idx="1"/>
          </p:nvPr>
        </p:nvSpPr>
        <p:spPr/>
        <p:txBody>
          <a:bodyPr/>
          <a:lstStyle/>
          <a:p>
            <a:pPr algn="just"/>
            <a:r>
              <a:rPr lang="en-US" dirty="0"/>
              <a:t>In Indian classical performing arts, particularly in </a:t>
            </a:r>
            <a:r>
              <a:rPr lang="en-US" dirty="0" err="1"/>
              <a:t>Natya</a:t>
            </a:r>
            <a:r>
              <a:rPr lang="en-US" dirty="0"/>
              <a:t> </a:t>
            </a:r>
            <a:r>
              <a:rPr lang="en-US" dirty="0" err="1"/>
              <a:t>Shastra</a:t>
            </a:r>
            <a:r>
              <a:rPr lang="en-US" dirty="0"/>
              <a:t>, </a:t>
            </a:r>
            <a:r>
              <a:rPr lang="en-US" dirty="0" smtClean="0"/>
              <a:t>“Rasa” </a:t>
            </a:r>
            <a:r>
              <a:rPr lang="en-US" dirty="0"/>
              <a:t>and </a:t>
            </a:r>
            <a:r>
              <a:rPr lang="en-US" dirty="0" smtClean="0"/>
              <a:t>“</a:t>
            </a:r>
            <a:r>
              <a:rPr lang="en-US" dirty="0" err="1" smtClean="0"/>
              <a:t>Bhava</a:t>
            </a:r>
            <a:r>
              <a:rPr lang="en-US" dirty="0" smtClean="0"/>
              <a:t>” </a:t>
            </a:r>
            <a:r>
              <a:rPr lang="en-US" dirty="0"/>
              <a:t>are central concepts in understanding the emotional and aesthetic experience of drama and </a:t>
            </a:r>
            <a:r>
              <a:rPr lang="en-US" dirty="0" smtClean="0"/>
              <a:t>performance.</a:t>
            </a:r>
          </a:p>
          <a:p>
            <a:pPr algn="just"/>
            <a:r>
              <a:rPr lang="en-US" b="1" dirty="0" err="1"/>
              <a:t>Bhava</a:t>
            </a:r>
            <a:r>
              <a:rPr lang="en-US" dirty="0"/>
              <a:t> represents the emotions expressed by the actor, and </a:t>
            </a:r>
            <a:r>
              <a:rPr lang="en-US" b="1" dirty="0"/>
              <a:t>Rasa</a:t>
            </a:r>
            <a:r>
              <a:rPr lang="en-US" dirty="0"/>
              <a:t> is the emotional response evoked in the audience. </a:t>
            </a:r>
            <a:endParaRPr lang="en-US" dirty="0" smtClean="0"/>
          </a:p>
          <a:p>
            <a:pPr algn="just"/>
            <a:r>
              <a:rPr lang="en-US" dirty="0" smtClean="0"/>
              <a:t>The </a:t>
            </a:r>
            <a:r>
              <a:rPr lang="en-US" dirty="0"/>
              <a:t>combination of different </a:t>
            </a:r>
            <a:r>
              <a:rPr lang="en-US" dirty="0" err="1"/>
              <a:t>Bhavas</a:t>
            </a:r>
            <a:r>
              <a:rPr lang="en-US" dirty="0"/>
              <a:t> gives rise to various </a:t>
            </a:r>
            <a:r>
              <a:rPr lang="en-US" dirty="0" err="1"/>
              <a:t>Rasas</a:t>
            </a:r>
            <a:r>
              <a:rPr lang="en-US" dirty="0"/>
              <a:t> in the spectators, thus creating the aesthetic and emotional essence of the performance.</a:t>
            </a:r>
            <a:endParaRPr lang="en-IN" dirty="0"/>
          </a:p>
        </p:txBody>
      </p:sp>
    </p:spTree>
    <p:extLst>
      <p:ext uri="{BB962C8B-B14F-4D97-AF65-F5344CB8AC3E}">
        <p14:creationId xmlns:p14="http://schemas.microsoft.com/office/powerpoint/2010/main" val="42903734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Bhava</a:t>
            </a:r>
            <a:r>
              <a:rPr lang="en-US" dirty="0" smtClean="0"/>
              <a:t> (Emotion or Mood)</a:t>
            </a:r>
            <a:endParaRPr lang="en-IN" dirty="0"/>
          </a:p>
        </p:txBody>
      </p:sp>
      <p:sp>
        <p:nvSpPr>
          <p:cNvPr id="3" name="Content Placeholder 2"/>
          <p:cNvSpPr>
            <a:spLocks noGrp="1"/>
          </p:cNvSpPr>
          <p:nvPr>
            <p:ph sz="quarter" idx="1"/>
          </p:nvPr>
        </p:nvSpPr>
        <p:spPr/>
        <p:txBody>
          <a:bodyPr/>
          <a:lstStyle/>
          <a:p>
            <a:pPr algn="just"/>
            <a:r>
              <a:rPr lang="en-US" dirty="0" err="1"/>
              <a:t>Bhava</a:t>
            </a:r>
            <a:r>
              <a:rPr lang="en-US" dirty="0"/>
              <a:t> refers to the emotional states or feelings portrayed by the actor or performer. </a:t>
            </a:r>
            <a:endParaRPr lang="en-US" dirty="0" smtClean="0"/>
          </a:p>
          <a:p>
            <a:pPr algn="just"/>
            <a:r>
              <a:rPr lang="en-US" dirty="0" smtClean="0"/>
              <a:t>It </a:t>
            </a:r>
            <a:r>
              <a:rPr lang="en-US" dirty="0"/>
              <a:t>is the foundation upon which the Rasa is evoked in the audience. </a:t>
            </a:r>
            <a:endParaRPr lang="en-US" dirty="0" smtClean="0"/>
          </a:p>
          <a:p>
            <a:pPr algn="just"/>
            <a:r>
              <a:rPr lang="en-US" dirty="0" smtClean="0"/>
              <a:t>There </a:t>
            </a:r>
            <a:r>
              <a:rPr lang="en-US" dirty="0"/>
              <a:t>are different types of </a:t>
            </a:r>
            <a:r>
              <a:rPr lang="en-US" dirty="0" err="1"/>
              <a:t>Bhavas</a:t>
            </a:r>
            <a:r>
              <a:rPr lang="en-US" dirty="0"/>
              <a:t> that correspond to specific emotions. The </a:t>
            </a:r>
            <a:r>
              <a:rPr lang="en-US" dirty="0" err="1"/>
              <a:t>Natya</a:t>
            </a:r>
            <a:r>
              <a:rPr lang="en-US" dirty="0"/>
              <a:t> </a:t>
            </a:r>
            <a:r>
              <a:rPr lang="en-US" dirty="0" err="1"/>
              <a:t>Shastra</a:t>
            </a:r>
            <a:r>
              <a:rPr lang="en-US" dirty="0"/>
              <a:t> identifies eight primary emotional states, called </a:t>
            </a:r>
            <a:r>
              <a:rPr lang="en-US" b="1" dirty="0" err="1"/>
              <a:t>Sthayi</a:t>
            </a:r>
            <a:r>
              <a:rPr lang="en-US" b="1" dirty="0"/>
              <a:t> </a:t>
            </a:r>
            <a:r>
              <a:rPr lang="en-US" b="1" dirty="0" err="1"/>
              <a:t>Bhavas</a:t>
            </a:r>
            <a:r>
              <a:rPr lang="en-US" dirty="0" smtClean="0"/>
              <a:t>:</a:t>
            </a:r>
          </a:p>
          <a:p>
            <a:pPr algn="just"/>
            <a:endParaRPr lang="en-IN" dirty="0"/>
          </a:p>
        </p:txBody>
      </p:sp>
    </p:spTree>
    <p:extLst>
      <p:ext uri="{BB962C8B-B14F-4D97-AF65-F5344CB8AC3E}">
        <p14:creationId xmlns:p14="http://schemas.microsoft.com/office/powerpoint/2010/main" val="40811506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Sthayi</a:t>
            </a:r>
            <a:r>
              <a:rPr lang="en-US" dirty="0" smtClean="0"/>
              <a:t> </a:t>
            </a:r>
            <a:r>
              <a:rPr lang="en-US" dirty="0" err="1" smtClean="0"/>
              <a:t>Bhavas</a:t>
            </a:r>
            <a:endParaRPr lang="en-IN" dirty="0"/>
          </a:p>
        </p:txBody>
      </p:sp>
      <p:sp>
        <p:nvSpPr>
          <p:cNvPr id="3" name="Content Placeholder 2"/>
          <p:cNvSpPr>
            <a:spLocks noGrp="1"/>
          </p:cNvSpPr>
          <p:nvPr>
            <p:ph sz="quarter" idx="1"/>
          </p:nvPr>
        </p:nvSpPr>
        <p:spPr/>
        <p:txBody>
          <a:bodyPr>
            <a:normAutofit fontScale="92500"/>
          </a:bodyPr>
          <a:lstStyle/>
          <a:p>
            <a:pPr algn="just"/>
            <a:r>
              <a:rPr lang="en-IN" dirty="0" smtClean="0"/>
              <a:t>1.Rati </a:t>
            </a:r>
            <a:r>
              <a:rPr lang="en-IN" dirty="0"/>
              <a:t>(Love</a:t>
            </a:r>
            <a:r>
              <a:rPr lang="en-IN" dirty="0" smtClean="0"/>
              <a:t>)</a:t>
            </a:r>
          </a:p>
          <a:p>
            <a:pPr algn="just"/>
            <a:r>
              <a:rPr lang="en-IN" dirty="0" smtClean="0"/>
              <a:t>2.Hasya </a:t>
            </a:r>
            <a:r>
              <a:rPr lang="en-IN" dirty="0"/>
              <a:t>(Laughter</a:t>
            </a:r>
            <a:r>
              <a:rPr lang="en-IN" dirty="0" smtClean="0"/>
              <a:t>)</a:t>
            </a:r>
          </a:p>
          <a:p>
            <a:pPr algn="just"/>
            <a:r>
              <a:rPr lang="en-IN" dirty="0" smtClean="0"/>
              <a:t>3.Shoka </a:t>
            </a:r>
            <a:r>
              <a:rPr lang="en-IN" dirty="0"/>
              <a:t>(Sorrow</a:t>
            </a:r>
            <a:r>
              <a:rPr lang="en-IN" dirty="0" smtClean="0"/>
              <a:t>)</a:t>
            </a:r>
          </a:p>
          <a:p>
            <a:pPr algn="just"/>
            <a:r>
              <a:rPr lang="en-IN" dirty="0" smtClean="0"/>
              <a:t>4.Krodha </a:t>
            </a:r>
            <a:r>
              <a:rPr lang="en-IN" dirty="0"/>
              <a:t>(Anger</a:t>
            </a:r>
            <a:r>
              <a:rPr lang="en-IN" dirty="0" smtClean="0"/>
              <a:t>)</a:t>
            </a:r>
          </a:p>
          <a:p>
            <a:pPr algn="just"/>
            <a:r>
              <a:rPr lang="en-IN" dirty="0" smtClean="0"/>
              <a:t>5.Utsaha </a:t>
            </a:r>
            <a:r>
              <a:rPr lang="en-IN" dirty="0"/>
              <a:t>(Energy or Heroism</a:t>
            </a:r>
            <a:r>
              <a:rPr lang="en-IN" dirty="0" smtClean="0"/>
              <a:t>)</a:t>
            </a:r>
          </a:p>
          <a:p>
            <a:pPr algn="just"/>
            <a:r>
              <a:rPr lang="en-IN" dirty="0" smtClean="0"/>
              <a:t>6.Bhaya </a:t>
            </a:r>
            <a:r>
              <a:rPr lang="en-IN" dirty="0"/>
              <a:t>(Fear</a:t>
            </a:r>
            <a:r>
              <a:rPr lang="en-IN" dirty="0" smtClean="0"/>
              <a:t>)</a:t>
            </a:r>
          </a:p>
          <a:p>
            <a:pPr algn="just"/>
            <a:r>
              <a:rPr lang="en-IN" dirty="0" smtClean="0"/>
              <a:t>7.Jugupsa </a:t>
            </a:r>
            <a:r>
              <a:rPr lang="en-IN" dirty="0"/>
              <a:t>(Disgust</a:t>
            </a:r>
            <a:r>
              <a:rPr lang="en-IN" dirty="0" smtClean="0"/>
              <a:t>)</a:t>
            </a:r>
          </a:p>
          <a:p>
            <a:pPr algn="just"/>
            <a:r>
              <a:rPr lang="en-IN" dirty="0" smtClean="0"/>
              <a:t>8.Vismaya </a:t>
            </a:r>
            <a:r>
              <a:rPr lang="en-IN" dirty="0"/>
              <a:t>(Wonder</a:t>
            </a:r>
            <a:r>
              <a:rPr lang="en-IN" dirty="0" smtClean="0"/>
              <a:t>)</a:t>
            </a:r>
          </a:p>
          <a:p>
            <a:pPr algn="just"/>
            <a:r>
              <a:rPr lang="en-US" dirty="0"/>
              <a:t>These emotional states are communicated through facial expressions, gestures, and body language by the actor.</a:t>
            </a:r>
            <a:endParaRPr lang="en-IN" dirty="0"/>
          </a:p>
        </p:txBody>
      </p:sp>
    </p:spTree>
    <p:extLst>
      <p:ext uri="{BB962C8B-B14F-4D97-AF65-F5344CB8AC3E}">
        <p14:creationId xmlns:p14="http://schemas.microsoft.com/office/powerpoint/2010/main" val="33231522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Rasa</a:t>
            </a:r>
            <a:endParaRPr lang="en-IN" dirty="0"/>
          </a:p>
        </p:txBody>
      </p:sp>
      <p:sp>
        <p:nvSpPr>
          <p:cNvPr id="3" name="Content Placeholder 2"/>
          <p:cNvSpPr>
            <a:spLocks noGrp="1"/>
          </p:cNvSpPr>
          <p:nvPr>
            <p:ph sz="quarter" idx="1"/>
          </p:nvPr>
        </p:nvSpPr>
        <p:spPr/>
        <p:txBody>
          <a:bodyPr/>
          <a:lstStyle/>
          <a:p>
            <a:pPr algn="just"/>
            <a:r>
              <a:rPr lang="en-US" dirty="0"/>
              <a:t>Rasa is the emotional flavor or essence that is experienced by the audience when the actor performs. </a:t>
            </a:r>
            <a:endParaRPr lang="en-US" dirty="0" smtClean="0"/>
          </a:p>
          <a:p>
            <a:pPr algn="just"/>
            <a:r>
              <a:rPr lang="en-US" dirty="0" smtClean="0"/>
              <a:t>The </a:t>
            </a:r>
            <a:r>
              <a:rPr lang="en-US" dirty="0"/>
              <a:t>concept of Rasa is the aesthetic experience that arises from the </a:t>
            </a:r>
            <a:r>
              <a:rPr lang="en-US" dirty="0" err="1"/>
              <a:t>Bhavas</a:t>
            </a:r>
            <a:r>
              <a:rPr lang="en-US" dirty="0"/>
              <a:t> portrayed in the performance. </a:t>
            </a:r>
            <a:endParaRPr lang="en-US" dirty="0" smtClean="0"/>
          </a:p>
          <a:p>
            <a:pPr algn="just"/>
            <a:r>
              <a:rPr lang="en-US" dirty="0" smtClean="0"/>
              <a:t>There </a:t>
            </a:r>
            <a:r>
              <a:rPr lang="en-US" dirty="0"/>
              <a:t>are nine main types of </a:t>
            </a:r>
            <a:r>
              <a:rPr lang="en-US" dirty="0" err="1"/>
              <a:t>Rasas</a:t>
            </a:r>
            <a:r>
              <a:rPr lang="en-US" dirty="0"/>
              <a:t> (called </a:t>
            </a:r>
            <a:r>
              <a:rPr lang="en-US" b="1" dirty="0"/>
              <a:t>Nava </a:t>
            </a:r>
            <a:r>
              <a:rPr lang="en-US" b="1" dirty="0" err="1"/>
              <a:t>Rasas</a:t>
            </a:r>
            <a:r>
              <a:rPr lang="en-US" dirty="0"/>
              <a:t>), which correspond to the eight </a:t>
            </a:r>
            <a:r>
              <a:rPr lang="en-US" dirty="0" err="1"/>
              <a:t>Sthayi</a:t>
            </a:r>
            <a:r>
              <a:rPr lang="en-US" dirty="0"/>
              <a:t> </a:t>
            </a:r>
            <a:r>
              <a:rPr lang="en-US" dirty="0" err="1"/>
              <a:t>Bhavas</a:t>
            </a:r>
            <a:endParaRPr lang="en-IN" dirty="0"/>
          </a:p>
        </p:txBody>
      </p:sp>
    </p:spTree>
    <p:extLst>
      <p:ext uri="{BB962C8B-B14F-4D97-AF65-F5344CB8AC3E}">
        <p14:creationId xmlns:p14="http://schemas.microsoft.com/office/powerpoint/2010/main" val="40146151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Nava </a:t>
            </a:r>
            <a:r>
              <a:rPr lang="en-IN" dirty="0" err="1"/>
              <a:t>Rasas</a:t>
            </a:r>
            <a:endParaRPr lang="en-IN" dirty="0"/>
          </a:p>
        </p:txBody>
      </p:sp>
      <p:sp>
        <p:nvSpPr>
          <p:cNvPr id="3" name="Content Placeholder 2"/>
          <p:cNvSpPr>
            <a:spLocks noGrp="1"/>
          </p:cNvSpPr>
          <p:nvPr>
            <p:ph sz="quarter" idx="1"/>
          </p:nvPr>
        </p:nvSpPr>
        <p:spPr/>
        <p:txBody>
          <a:bodyPr>
            <a:normAutofit fontScale="92500"/>
          </a:bodyPr>
          <a:lstStyle/>
          <a:p>
            <a:pPr algn="just"/>
            <a:r>
              <a:rPr lang="en-IN" dirty="0" err="1" smtClean="0"/>
              <a:t>Śhṛiṅgāra</a:t>
            </a:r>
            <a:r>
              <a:rPr lang="en-IN" dirty="0" smtClean="0"/>
              <a:t> </a:t>
            </a:r>
            <a:r>
              <a:rPr lang="en-IN" dirty="0"/>
              <a:t>(Love or Romance) – linked with </a:t>
            </a:r>
            <a:r>
              <a:rPr lang="en-IN" dirty="0" err="1" smtClean="0"/>
              <a:t>Rati</a:t>
            </a:r>
            <a:endParaRPr lang="en-IN" dirty="0" smtClean="0"/>
          </a:p>
          <a:p>
            <a:pPr algn="just"/>
            <a:r>
              <a:rPr lang="en-IN" dirty="0" err="1" smtClean="0"/>
              <a:t>Hāsya</a:t>
            </a:r>
            <a:r>
              <a:rPr lang="en-IN" dirty="0" smtClean="0"/>
              <a:t> </a:t>
            </a:r>
            <a:r>
              <a:rPr lang="en-IN" dirty="0"/>
              <a:t>(Laughter or Comedy) – linked with </a:t>
            </a:r>
            <a:r>
              <a:rPr lang="en-IN" dirty="0" err="1" smtClean="0"/>
              <a:t>Hasya</a:t>
            </a:r>
            <a:endParaRPr lang="en-IN" dirty="0" smtClean="0"/>
          </a:p>
          <a:p>
            <a:pPr algn="just"/>
            <a:r>
              <a:rPr lang="en-IN" dirty="0" err="1" smtClean="0"/>
              <a:t>Karuna</a:t>
            </a:r>
            <a:r>
              <a:rPr lang="en-IN" dirty="0" smtClean="0"/>
              <a:t> </a:t>
            </a:r>
            <a:r>
              <a:rPr lang="en-IN" dirty="0"/>
              <a:t>(Compassion or Pathos) – linked with </a:t>
            </a:r>
            <a:r>
              <a:rPr lang="en-IN" dirty="0" err="1" smtClean="0"/>
              <a:t>Shoka</a:t>
            </a:r>
            <a:endParaRPr lang="en-IN" dirty="0" smtClean="0"/>
          </a:p>
          <a:p>
            <a:pPr algn="just"/>
            <a:r>
              <a:rPr lang="en-IN" dirty="0" err="1" smtClean="0"/>
              <a:t>Raudra</a:t>
            </a:r>
            <a:r>
              <a:rPr lang="en-IN" dirty="0" smtClean="0"/>
              <a:t> </a:t>
            </a:r>
            <a:r>
              <a:rPr lang="en-IN" dirty="0"/>
              <a:t>(Anger or Fury) – linked with </a:t>
            </a:r>
            <a:r>
              <a:rPr lang="en-IN" dirty="0" err="1" smtClean="0"/>
              <a:t>Krodha</a:t>
            </a:r>
            <a:endParaRPr lang="en-IN" dirty="0" smtClean="0"/>
          </a:p>
          <a:p>
            <a:pPr algn="just"/>
            <a:r>
              <a:rPr lang="en-IN" dirty="0" err="1" smtClean="0"/>
              <a:t>Veera</a:t>
            </a:r>
            <a:r>
              <a:rPr lang="en-IN" dirty="0" smtClean="0"/>
              <a:t> </a:t>
            </a:r>
            <a:r>
              <a:rPr lang="en-IN" dirty="0"/>
              <a:t>(Heroism or Courage) – linked with </a:t>
            </a:r>
            <a:r>
              <a:rPr lang="en-IN" dirty="0" err="1" smtClean="0"/>
              <a:t>Utsaha</a:t>
            </a:r>
            <a:endParaRPr lang="en-IN" dirty="0" smtClean="0"/>
          </a:p>
          <a:p>
            <a:pPr algn="just"/>
            <a:r>
              <a:rPr lang="en-IN" dirty="0" err="1" smtClean="0"/>
              <a:t>Bhayanaka</a:t>
            </a:r>
            <a:r>
              <a:rPr lang="en-IN" dirty="0" smtClean="0"/>
              <a:t> </a:t>
            </a:r>
            <a:r>
              <a:rPr lang="en-IN" dirty="0"/>
              <a:t>(Terror or Fear) – linked with </a:t>
            </a:r>
            <a:r>
              <a:rPr lang="en-IN" dirty="0" err="1" smtClean="0"/>
              <a:t>Bhaya</a:t>
            </a:r>
            <a:endParaRPr lang="en-IN" dirty="0" smtClean="0"/>
          </a:p>
          <a:p>
            <a:pPr algn="just"/>
            <a:r>
              <a:rPr lang="en-IN" dirty="0" err="1" smtClean="0"/>
              <a:t>Bībhatsa</a:t>
            </a:r>
            <a:r>
              <a:rPr lang="en-IN" dirty="0" smtClean="0"/>
              <a:t> </a:t>
            </a:r>
            <a:r>
              <a:rPr lang="en-IN" dirty="0"/>
              <a:t>(Disgust or Aversion) – linked with </a:t>
            </a:r>
            <a:r>
              <a:rPr lang="en-IN" dirty="0" err="1" smtClean="0"/>
              <a:t>Jugupsa</a:t>
            </a:r>
            <a:endParaRPr lang="en-IN" dirty="0" smtClean="0"/>
          </a:p>
          <a:p>
            <a:pPr algn="just"/>
            <a:r>
              <a:rPr lang="en-IN" dirty="0" err="1" smtClean="0"/>
              <a:t>Adbhuta</a:t>
            </a:r>
            <a:r>
              <a:rPr lang="en-IN" dirty="0" smtClean="0"/>
              <a:t> </a:t>
            </a:r>
            <a:r>
              <a:rPr lang="en-IN" dirty="0"/>
              <a:t>(Wonder or Awe) – linked with </a:t>
            </a:r>
            <a:r>
              <a:rPr lang="en-IN" dirty="0" err="1" smtClean="0"/>
              <a:t>Vismaya</a:t>
            </a:r>
            <a:endParaRPr lang="en-IN" dirty="0" smtClean="0"/>
          </a:p>
          <a:p>
            <a:pPr algn="just"/>
            <a:r>
              <a:rPr lang="en-IN" dirty="0" err="1" smtClean="0"/>
              <a:t>Śhānta</a:t>
            </a:r>
            <a:r>
              <a:rPr lang="en-IN" dirty="0" smtClean="0"/>
              <a:t> </a:t>
            </a:r>
            <a:r>
              <a:rPr lang="en-IN" dirty="0"/>
              <a:t>(</a:t>
            </a:r>
            <a:r>
              <a:rPr lang="en-IN" dirty="0" err="1"/>
              <a:t>Tranquility</a:t>
            </a:r>
            <a:r>
              <a:rPr lang="en-IN" dirty="0"/>
              <a:t> or Peace) – which stands apart as a neutral, serene sentiment.</a:t>
            </a:r>
          </a:p>
        </p:txBody>
      </p:sp>
    </p:spTree>
    <p:extLst>
      <p:ext uri="{BB962C8B-B14F-4D97-AF65-F5344CB8AC3E}">
        <p14:creationId xmlns:p14="http://schemas.microsoft.com/office/powerpoint/2010/main" val="2097798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Image</a:t>
            </a:r>
            <a:endParaRPr lang="en-IN" dirty="0"/>
          </a:p>
        </p:txBody>
      </p:sp>
      <p:pic>
        <p:nvPicPr>
          <p:cNvPr id="6" name="Content Placeholder 5"/>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853822" y="1527175"/>
            <a:ext cx="7756777" cy="4572000"/>
          </a:xfrm>
        </p:spPr>
      </p:pic>
    </p:spTree>
    <p:extLst>
      <p:ext uri="{BB962C8B-B14F-4D97-AF65-F5344CB8AC3E}">
        <p14:creationId xmlns:p14="http://schemas.microsoft.com/office/powerpoint/2010/main" val="33471945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sz="6000" dirty="0" smtClean="0"/>
              <a:t>Thank You!</a:t>
            </a:r>
            <a:endParaRPr lang="en-IN" sz="6000" dirty="0"/>
          </a:p>
        </p:txBody>
      </p:sp>
      <p:sp>
        <p:nvSpPr>
          <p:cNvPr id="4" name="Title 3"/>
          <p:cNvSpPr>
            <a:spLocks noGrp="1"/>
          </p:cNvSpPr>
          <p:nvPr>
            <p:ph type="ctrTitle"/>
          </p:nvPr>
        </p:nvSpPr>
        <p:spPr/>
        <p:txBody>
          <a:bodyPr/>
          <a:lstStyle/>
          <a:p>
            <a:r>
              <a:rPr lang="en-US" dirty="0" smtClean="0"/>
              <a:t>38</a:t>
            </a:r>
            <a:endParaRPr lang="en-IN" dirty="0"/>
          </a:p>
        </p:txBody>
      </p:sp>
    </p:spTree>
    <p:extLst>
      <p:ext uri="{BB962C8B-B14F-4D97-AF65-F5344CB8AC3E}">
        <p14:creationId xmlns:p14="http://schemas.microsoft.com/office/powerpoint/2010/main" val="210777360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220</TotalTime>
  <Words>2754</Words>
  <Application>Microsoft Office PowerPoint</Application>
  <PresentationFormat>On-screen Show (4:3)</PresentationFormat>
  <Paragraphs>150</Paragraphs>
  <Slides>38</Slides>
  <Notes>0</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Civic</vt:lpstr>
      <vt:lpstr>   Module 1 Introduction to Natyashastra Bharatmuni  </vt:lpstr>
      <vt:lpstr>Introduction</vt:lpstr>
      <vt:lpstr>Origin of Natyasastra</vt:lpstr>
      <vt:lpstr>Continue…</vt:lpstr>
      <vt:lpstr>On the Title</vt:lpstr>
      <vt:lpstr>Date of Composition</vt:lpstr>
      <vt:lpstr>Objectives</vt:lpstr>
      <vt:lpstr>Continue…</vt:lpstr>
      <vt:lpstr>Structure of the Text</vt:lpstr>
      <vt:lpstr>Continue…</vt:lpstr>
      <vt:lpstr>Contents of Natyashastra</vt:lpstr>
      <vt:lpstr>Continue…</vt:lpstr>
      <vt:lpstr>Chapters of Natyashastra</vt:lpstr>
      <vt:lpstr>Continue…</vt:lpstr>
      <vt:lpstr>Continue..</vt:lpstr>
      <vt:lpstr>Continue…</vt:lpstr>
      <vt:lpstr>Continue…</vt:lpstr>
      <vt:lpstr>Origin of Theatre</vt:lpstr>
      <vt:lpstr>Continue..</vt:lpstr>
      <vt:lpstr>Continue..</vt:lpstr>
      <vt:lpstr>Continue..</vt:lpstr>
      <vt:lpstr>Description of the playhouse in Natyashastra</vt:lpstr>
      <vt:lpstr>Continue..</vt:lpstr>
      <vt:lpstr>Continue..</vt:lpstr>
      <vt:lpstr>Continue..</vt:lpstr>
      <vt:lpstr>Ten kinds of plays</vt:lpstr>
      <vt:lpstr>Continue..</vt:lpstr>
      <vt:lpstr>Continue..</vt:lpstr>
      <vt:lpstr>Continue..</vt:lpstr>
      <vt:lpstr>Continue..</vt:lpstr>
      <vt:lpstr>Dharmi-Acting</vt:lpstr>
      <vt:lpstr>Rasa &amp; Bhav</vt:lpstr>
      <vt:lpstr>Bhava (Emotion or Mood)</vt:lpstr>
      <vt:lpstr>Sthayi Bhavas</vt:lpstr>
      <vt:lpstr>Rasa</vt:lpstr>
      <vt:lpstr>Nava Rasas</vt:lpstr>
      <vt:lpstr>Image</vt:lpstr>
      <vt:lpstr>38</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Natyashastra</dc:title>
  <dc:creator>unais kt</dc:creator>
  <cp:lastModifiedBy>unais kt</cp:lastModifiedBy>
  <cp:revision>34</cp:revision>
  <dcterms:created xsi:type="dcterms:W3CDTF">2006-08-16T00:00:00Z</dcterms:created>
  <dcterms:modified xsi:type="dcterms:W3CDTF">2024-09-11T09:17:38Z</dcterms:modified>
</cp:coreProperties>
</file>