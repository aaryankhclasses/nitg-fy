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embeddedFontLst>
    <p:embeddedFont>
      <p:font typeface="Garamond" pitchFamily="18"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C0dRcfKy2O8E5j36vun39oT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720"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169308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16"/>
          <p:cNvGrpSpPr/>
          <p:nvPr/>
        </p:nvGrpSpPr>
        <p:grpSpPr>
          <a:xfrm>
            <a:off x="-16934" y="0"/>
            <a:ext cx="12231160" cy="6856214"/>
            <a:chOff x="-16934" y="0"/>
            <a:chExt cx="12231160" cy="6856214"/>
          </a:xfrm>
        </p:grpSpPr>
        <p:pic>
          <p:nvPicPr>
            <p:cNvPr id="18" name="Google Shape;18;p16"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9" name="Google Shape;19;p16"/>
            <p:cNvSpPr/>
            <p:nvPr/>
          </p:nvSpPr>
          <p:spPr>
            <a:xfrm>
              <a:off x="2328332" y="1540931"/>
              <a:ext cx="7543802" cy="3835401"/>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20;p16"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21" name="Google Shape;21;p16"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22" name="Google Shape;22;p16"/>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6"/>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24" name="Google Shape;24;p16"/>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16"/>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cxnSp>
        <p:nvCxnSpPr>
          <p:cNvPr id="29" name="Google Shape;29;p1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30" name="Google Shape;30;p1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32" name="Google Shape;32;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38" name="Google Shape;38;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18"/>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cxnSp>
        <p:nvCxnSpPr>
          <p:cNvPr id="43" name="Google Shape;43;p1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4" name="Google Shape;44;p1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9"/>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6" name="Google Shape;46;p19"/>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7" name="Google Shape;47;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3" name="Google Shape;53;p20"/>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4" name="Google Shape;54;p20"/>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5" name="Google Shape;55;p20"/>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2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20"/>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2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2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3"/>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3" name="Google Shape;73;p23"/>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74" name="Google Shape;74;p2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7" name="Google Shape;77;p23"/>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4"/>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81" name="Google Shape;81;p24"/>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2" name="Google Shape;82;p2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5"/>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88" name="Google Shape;88;p25"/>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9" name="Google Shape;89;p2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2"/>
        <p:cNvGrpSpPr/>
        <p:nvPr/>
      </p:nvGrpSpPr>
      <p:grpSpPr>
        <a:xfrm>
          <a:off x="0" y="0"/>
          <a:ext cx="0" cy="0"/>
          <a:chOff x="0" y="0"/>
          <a:chExt cx="0" cy="0"/>
        </a:xfrm>
      </p:grpSpPr>
      <p:sp>
        <p:nvSpPr>
          <p:cNvPr id="93" name="Google Shape;93;p26"/>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95" name="Google Shape;95;p2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8" name="Google Shape;98;p26"/>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27"/>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7"/>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2" name="Google Shape;102;p27"/>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3" name="Google Shape;103;p2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6" name="Google Shape;106;p27"/>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sp>
        <p:nvSpPr>
          <p:cNvPr id="107" name="Google Shape;107;p27"/>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cxnSp>
        <p:nvCxnSpPr>
          <p:cNvPr id="108" name="Google Shape;108;p27"/>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8"/>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8"/>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2" name="Google Shape;112;p2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9"/>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29"/>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9" name="Google Shape;119;p2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29"/>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sp>
        <p:nvSpPr>
          <p:cNvPr id="123" name="Google Shape;123;p29"/>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cxnSp>
        <p:nvCxnSpPr>
          <p:cNvPr id="124" name="Google Shape;124;p29"/>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30"/>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8" name="Google Shape;128;p30"/>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9" name="Google Shape;129;p3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2" name="Google Shape;132;p30"/>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3"/>
        <p:cNvGrpSpPr/>
        <p:nvPr/>
      </p:nvGrpSpPr>
      <p:grpSpPr>
        <a:xfrm>
          <a:off x="0" y="0"/>
          <a:ext cx="0" cy="0"/>
          <a:chOff x="0" y="0"/>
          <a:chExt cx="0" cy="0"/>
        </a:xfrm>
      </p:grpSpPr>
      <p:sp>
        <p:nvSpPr>
          <p:cNvPr id="134" name="Google Shape;134;p3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1"/>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36" name="Google Shape;136;p3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9" name="Google Shape;139;p3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2"/>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3" name="Google Shape;143;p3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6" name="Google Shape;146;p32"/>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grpSp>
        <p:nvGrpSpPr>
          <p:cNvPr id="6" name="Google Shape;6;p15"/>
          <p:cNvGrpSpPr/>
          <p:nvPr/>
        </p:nvGrpSpPr>
        <p:grpSpPr>
          <a:xfrm>
            <a:off x="-15736" y="0"/>
            <a:ext cx="12229962" cy="6856214"/>
            <a:chOff x="-15736" y="0"/>
            <a:chExt cx="12229962" cy="6856214"/>
          </a:xfrm>
        </p:grpSpPr>
        <p:pic>
          <p:nvPicPr>
            <p:cNvPr id="7" name="Google Shape;7;p15" descr="HD-PanelContent.png"/>
            <p:cNvPicPr preferRelativeResize="0"/>
            <p:nvPr/>
          </p:nvPicPr>
          <p:blipFill rotWithShape="1">
            <a:blip r:embed="rId20">
              <a:alphaModFix/>
            </a:blip>
            <a:srcRect/>
            <a:stretch/>
          </p:blipFill>
          <p:spPr>
            <a:xfrm>
              <a:off x="0" y="0"/>
              <a:ext cx="12188825" cy="6856214"/>
            </a:xfrm>
            <a:prstGeom prst="rect">
              <a:avLst/>
            </a:prstGeom>
            <a:noFill/>
            <a:ln>
              <a:noFill/>
            </a:ln>
          </p:spPr>
        </p:pic>
        <p:sp>
          <p:nvSpPr>
            <p:cNvPr id="8" name="Google Shape;8;p15"/>
            <p:cNvSpPr/>
            <p:nvPr/>
          </p:nvSpPr>
          <p:spPr>
            <a:xfrm>
              <a:off x="608012" y="609600"/>
              <a:ext cx="10972800" cy="5638800"/>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5" descr="HDRibbonContent-UniformTrim.png"/>
            <p:cNvPicPr preferRelativeResize="0"/>
            <p:nvPr/>
          </p:nvPicPr>
          <p:blipFill rotWithShape="1">
            <a:blip r:embed="rId21">
              <a:alphaModFix/>
            </a:blip>
            <a:srcRect/>
            <a:stretch/>
          </p:blipFill>
          <p:spPr>
            <a:xfrm>
              <a:off x="-15736" y="3153832"/>
              <a:ext cx="777240" cy="606425"/>
            </a:xfrm>
            <a:prstGeom prst="rect">
              <a:avLst/>
            </a:prstGeom>
            <a:noFill/>
            <a:ln>
              <a:noFill/>
            </a:ln>
          </p:spPr>
        </p:pic>
        <p:pic>
          <p:nvPicPr>
            <p:cNvPr id="10" name="Google Shape;10;p15" descr="HDRibbonContent-UniformTrim.png"/>
            <p:cNvPicPr preferRelativeResize="0"/>
            <p:nvPr/>
          </p:nvPicPr>
          <p:blipFill rotWithShape="1">
            <a:blip r:embed="rId21">
              <a:alphaModFix/>
            </a:blip>
            <a:srcRect/>
            <a:stretch/>
          </p:blipFill>
          <p:spPr>
            <a:xfrm>
              <a:off x="11436986" y="3153832"/>
              <a:ext cx="777240" cy="606425"/>
            </a:xfrm>
            <a:prstGeom prst="rect">
              <a:avLst/>
            </a:prstGeom>
            <a:noFill/>
            <a:ln>
              <a:noFill/>
            </a:ln>
          </p:spPr>
        </p:pic>
      </p:grpSp>
      <p:sp>
        <p:nvSpPr>
          <p:cNvPr id="11" name="Google Shape;11;p1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1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Garamond"/>
                <a:ea typeface="Garamond"/>
                <a:cs typeface="Garamond"/>
                <a:sym typeface="Garamond"/>
              </a:defRPr>
            </a:lvl1pPr>
            <a:lvl2pPr marL="0" marR="0" lvl="1" indent="0" algn="r" rtl="0">
              <a:spcBef>
                <a:spcPts val="0"/>
              </a:spcBef>
              <a:buNone/>
              <a:defRPr sz="1000" b="0" i="0" u="none" strike="noStrike" cap="none">
                <a:solidFill>
                  <a:schemeClr val="dk1"/>
                </a:solidFill>
                <a:latin typeface="Garamond"/>
                <a:ea typeface="Garamond"/>
                <a:cs typeface="Garamond"/>
                <a:sym typeface="Garamond"/>
              </a:defRPr>
            </a:lvl2pPr>
            <a:lvl3pPr marL="0" marR="0" lvl="2" indent="0" algn="r" rtl="0">
              <a:spcBef>
                <a:spcPts val="0"/>
              </a:spcBef>
              <a:buNone/>
              <a:defRPr sz="1000" b="0" i="0" u="none" strike="noStrike" cap="none">
                <a:solidFill>
                  <a:schemeClr val="dk1"/>
                </a:solidFill>
                <a:latin typeface="Garamond"/>
                <a:ea typeface="Garamond"/>
                <a:cs typeface="Garamond"/>
                <a:sym typeface="Garamond"/>
              </a:defRPr>
            </a:lvl3pPr>
            <a:lvl4pPr marL="0" marR="0" lvl="3" indent="0" algn="r" rtl="0">
              <a:spcBef>
                <a:spcPts val="0"/>
              </a:spcBef>
              <a:buNone/>
              <a:defRPr sz="1000" b="0" i="0" u="none" strike="noStrike" cap="none">
                <a:solidFill>
                  <a:schemeClr val="dk1"/>
                </a:solidFill>
                <a:latin typeface="Garamond"/>
                <a:ea typeface="Garamond"/>
                <a:cs typeface="Garamond"/>
                <a:sym typeface="Garamond"/>
              </a:defRPr>
            </a:lvl4pPr>
            <a:lvl5pPr marL="0" marR="0" lvl="4" indent="0" algn="r" rtl="0">
              <a:spcBef>
                <a:spcPts val="0"/>
              </a:spcBef>
              <a:buNone/>
              <a:defRPr sz="1000" b="0" i="0" u="none" strike="noStrike" cap="none">
                <a:solidFill>
                  <a:schemeClr val="dk1"/>
                </a:solidFill>
                <a:latin typeface="Garamond"/>
                <a:ea typeface="Garamond"/>
                <a:cs typeface="Garamond"/>
                <a:sym typeface="Garamond"/>
              </a:defRPr>
            </a:lvl5pPr>
            <a:lvl6pPr marL="0" marR="0" lvl="5" indent="0" algn="r" rtl="0">
              <a:spcBef>
                <a:spcPts val="0"/>
              </a:spcBef>
              <a:buNone/>
              <a:defRPr sz="1000" b="0" i="0" u="none" strike="noStrike" cap="none">
                <a:solidFill>
                  <a:schemeClr val="dk1"/>
                </a:solidFill>
                <a:latin typeface="Garamond"/>
                <a:ea typeface="Garamond"/>
                <a:cs typeface="Garamond"/>
                <a:sym typeface="Garamond"/>
              </a:defRPr>
            </a:lvl6pPr>
            <a:lvl7pPr marL="0" marR="0" lvl="6" indent="0" algn="r" rtl="0">
              <a:spcBef>
                <a:spcPts val="0"/>
              </a:spcBef>
              <a:buNone/>
              <a:defRPr sz="1000" b="0" i="0" u="none" strike="noStrike" cap="none">
                <a:solidFill>
                  <a:schemeClr val="dk1"/>
                </a:solidFill>
                <a:latin typeface="Garamond"/>
                <a:ea typeface="Garamond"/>
                <a:cs typeface="Garamond"/>
                <a:sym typeface="Garamond"/>
              </a:defRPr>
            </a:lvl7pPr>
            <a:lvl8pPr marL="0" marR="0" lvl="7" indent="0" algn="r" rtl="0">
              <a:spcBef>
                <a:spcPts val="0"/>
              </a:spcBef>
              <a:buNone/>
              <a:defRPr sz="1000" b="0" i="0" u="none" strike="noStrike" cap="none">
                <a:solidFill>
                  <a:schemeClr val="dk1"/>
                </a:solidFill>
                <a:latin typeface="Garamond"/>
                <a:ea typeface="Garamond"/>
                <a:cs typeface="Garamond"/>
                <a:sym typeface="Garamond"/>
              </a:defRPr>
            </a:lvl8pPr>
            <a:lvl9pPr marL="0" marR="0" lvl="8" indent="0" algn="r" rtl="0">
              <a:spcBef>
                <a:spcPts val="0"/>
              </a:spcBef>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rgbClr val="262626"/>
              </a:buClr>
              <a:buSzPts val="5400"/>
              <a:buFont typeface="Garamond"/>
              <a:buNone/>
            </a:pPr>
            <a:r>
              <a:rPr lang="en-US"/>
              <a:t>Notice, Circular, Agenda and Minutes</a:t>
            </a:r>
            <a:endParaRPr/>
          </a:p>
        </p:txBody>
      </p:sp>
      <p:sp>
        <p:nvSpPr>
          <p:cNvPr id="152" name="Google Shape;152;p1"/>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415"/>
              <a:buNone/>
            </a:pPr>
            <a:r>
              <a:rPr lang="en-US"/>
              <a:t>Module-4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Text Placeholder 2"/>
          <p:cNvSpPr>
            <a:spLocks noGrp="1"/>
          </p:cNvSpPr>
          <p:nvPr>
            <p:ph type="body" idx="1"/>
          </p:nvPr>
        </p:nvSpPr>
        <p:spPr>
          <a:xfrm>
            <a:off x="983432" y="2420888"/>
            <a:ext cx="10441159" cy="3744416"/>
          </a:xfrm>
        </p:spPr>
        <p:txBody>
          <a:bodyPr>
            <a:normAutofit/>
          </a:bodyPr>
          <a:lstStyle/>
          <a:p>
            <a:pPr algn="just"/>
            <a:r>
              <a:rPr lang="en-US" dirty="0" smtClean="0"/>
              <a:t>Written </a:t>
            </a:r>
            <a:r>
              <a:rPr lang="en-US" dirty="0"/>
              <a:t>communication within an </a:t>
            </a:r>
            <a:r>
              <a:rPr lang="en-US" dirty="0" err="1"/>
              <a:t>organisation</a:t>
            </a:r>
            <a:r>
              <a:rPr lang="en-US" dirty="0"/>
              <a:t> </a:t>
            </a:r>
            <a:r>
              <a:rPr lang="en-US" dirty="0" smtClean="0"/>
              <a:t>should be drafted </a:t>
            </a:r>
            <a:r>
              <a:rPr lang="en-US" dirty="0"/>
              <a:t>with utmost </a:t>
            </a:r>
            <a:r>
              <a:rPr lang="en-US" dirty="0" smtClean="0"/>
              <a:t>care.</a:t>
            </a:r>
          </a:p>
          <a:p>
            <a:pPr algn="just"/>
            <a:r>
              <a:rPr lang="en-US" dirty="0"/>
              <a:t>Intra- or </a:t>
            </a:r>
            <a:r>
              <a:rPr lang="en-US" dirty="0" smtClean="0"/>
              <a:t>inter-departmental </a:t>
            </a:r>
            <a:r>
              <a:rPr lang="en-US" dirty="0"/>
              <a:t>written communication can be in the form of circulars </a:t>
            </a:r>
            <a:r>
              <a:rPr lang="en-US" dirty="0" smtClean="0"/>
              <a:t>or notices </a:t>
            </a:r>
            <a:r>
              <a:rPr lang="en-US" dirty="0"/>
              <a:t>that are either circulated to all employees or displayed on a board </a:t>
            </a:r>
            <a:r>
              <a:rPr lang="en-US" dirty="0" smtClean="0"/>
              <a:t>for all </a:t>
            </a:r>
            <a:r>
              <a:rPr lang="en-US" dirty="0"/>
              <a:t>to </a:t>
            </a:r>
            <a:r>
              <a:rPr lang="en-US" dirty="0" smtClean="0"/>
              <a:t>read. </a:t>
            </a:r>
          </a:p>
          <a:p>
            <a:pPr algn="just"/>
            <a:r>
              <a:rPr lang="en-US" dirty="0"/>
              <a:t>Communication within </a:t>
            </a:r>
            <a:r>
              <a:rPr lang="en-US" dirty="0" err="1"/>
              <a:t>organisations</a:t>
            </a:r>
            <a:r>
              <a:rPr lang="en-US" dirty="0"/>
              <a:t> can also be in the form of meetings that need to be properly </a:t>
            </a:r>
            <a:r>
              <a:rPr lang="en-US" dirty="0" smtClean="0"/>
              <a:t>planned.</a:t>
            </a:r>
          </a:p>
          <a:p>
            <a:pPr algn="just"/>
            <a:r>
              <a:rPr lang="en-US" dirty="0"/>
              <a:t>For this, it becomes imperative for the agenda to be properly drawn up and the minutes of the meeting to be prepared early for maximum benefit to all concerned.</a:t>
            </a:r>
            <a:endParaRPr lang="en-IN" dirty="0"/>
          </a:p>
        </p:txBody>
      </p:sp>
    </p:spTree>
    <p:extLst>
      <p:ext uri="{BB962C8B-B14F-4D97-AF65-F5344CB8AC3E}">
        <p14:creationId xmlns:p14="http://schemas.microsoft.com/office/powerpoint/2010/main" val="2736756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Notice</a:t>
            </a:r>
            <a:endParaRPr/>
          </a:p>
        </p:txBody>
      </p:sp>
      <p:sp>
        <p:nvSpPr>
          <p:cNvPr id="158" name="Google Shape;158;p2"/>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Autofit/>
          </a:bodyPr>
          <a:lstStyle/>
          <a:p>
            <a:pPr marL="285750" lvl="0" indent="-285750" algn="just" rtl="0">
              <a:spcBef>
                <a:spcPts val="0"/>
              </a:spcBef>
              <a:spcAft>
                <a:spcPts val="0"/>
              </a:spcAft>
              <a:buSzPts val="3680"/>
              <a:buChar char="•"/>
            </a:pPr>
            <a:r>
              <a:rPr lang="en-US" sz="3200"/>
              <a:t>The statement that contains the particulars of holding a meeting is known as notice. </a:t>
            </a:r>
            <a:endParaRPr/>
          </a:p>
          <a:p>
            <a:pPr marL="285750" lvl="0" indent="-285750" algn="just" rtl="0">
              <a:spcBef>
                <a:spcPts val="1240"/>
              </a:spcBef>
              <a:spcAft>
                <a:spcPts val="0"/>
              </a:spcAft>
              <a:buSzPts val="3680"/>
              <a:buChar char="•"/>
            </a:pPr>
            <a:r>
              <a:rPr lang="en-US" sz="3200"/>
              <a:t>It is one kind of request to the members for attending the meeting. </a:t>
            </a:r>
            <a:endParaRPr/>
          </a:p>
          <a:p>
            <a:pPr marL="285750" lvl="0" indent="-285750" algn="just" rtl="0">
              <a:spcBef>
                <a:spcPts val="1240"/>
              </a:spcBef>
              <a:spcAft>
                <a:spcPts val="0"/>
              </a:spcAft>
              <a:buSzPts val="3680"/>
              <a:buChar char="•"/>
            </a:pPr>
            <a:r>
              <a:rPr lang="en-US" sz="3200"/>
              <a:t>The date, time, place and agenda are informed through the notice. It may be oral or written.</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
          <p:cNvSpPr txBox="1">
            <a:spLocks noGrp="1"/>
          </p:cNvSpPr>
          <p:nvPr>
            <p:ph type="title"/>
          </p:nvPr>
        </p:nvSpPr>
        <p:spPr>
          <a:xfrm>
            <a:off x="1295402" y="982132"/>
            <a:ext cx="9601196" cy="3417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Notice</a:t>
            </a:r>
            <a:endParaRPr/>
          </a:p>
        </p:txBody>
      </p:sp>
      <p:pic>
        <p:nvPicPr>
          <p:cNvPr id="164" name="Google Shape;164;p3"/>
          <p:cNvPicPr preferRelativeResize="0">
            <a:picLocks noGrp="1"/>
          </p:cNvPicPr>
          <p:nvPr>
            <p:ph type="body" idx="1"/>
          </p:nvPr>
        </p:nvPicPr>
        <p:blipFill rotWithShape="1">
          <a:blip r:embed="rId3">
            <a:alphaModFix/>
          </a:blip>
          <a:srcRect/>
          <a:stretch/>
        </p:blipFill>
        <p:spPr>
          <a:xfrm>
            <a:off x="1071353" y="1705971"/>
            <a:ext cx="9983334" cy="41693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Circular</a:t>
            </a:r>
            <a:endParaRPr/>
          </a:p>
        </p:txBody>
      </p:sp>
      <p:sp>
        <p:nvSpPr>
          <p:cNvPr id="170" name="Google Shape;170;p4"/>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92100" algn="just" rtl="0">
              <a:spcBef>
                <a:spcPts val="0"/>
              </a:spcBef>
              <a:spcAft>
                <a:spcPts val="0"/>
              </a:spcAft>
              <a:buSzPts val="4600"/>
              <a:buChar char="•"/>
            </a:pPr>
            <a:r>
              <a:rPr lang="en-US" sz="4000"/>
              <a:t>A formal communication to communicate some message to a large number of customers, people concerned in an organization, and suppliers.</a:t>
            </a:r>
            <a:endParaRPr/>
          </a:p>
          <a:p>
            <a:pPr marL="285750" lvl="0" indent="-110490" algn="l" rtl="0">
              <a:spcBef>
                <a:spcPts val="1080"/>
              </a:spcBef>
              <a:spcAft>
                <a:spcPts val="0"/>
              </a:spcAft>
              <a:buSzPts val="276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1295402" y="982133"/>
            <a:ext cx="9601196" cy="30075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Circular</a:t>
            </a:r>
            <a:endParaRPr/>
          </a:p>
        </p:txBody>
      </p:sp>
      <p:sp>
        <p:nvSpPr>
          <p:cNvPr id="176" name="Google Shape;176;p5"/>
          <p:cNvSpPr txBox="1">
            <a:spLocks noGrp="1"/>
          </p:cNvSpPr>
          <p:nvPr>
            <p:ph type="body" idx="1"/>
          </p:nvPr>
        </p:nvSpPr>
        <p:spPr>
          <a:xfrm>
            <a:off x="1295401" y="1569493"/>
            <a:ext cx="9601196" cy="43063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760"/>
              <a:buNone/>
            </a:pPr>
            <a:r>
              <a:rPr lang="en-US"/>
              <a:t>                                                   </a:t>
            </a:r>
            <a:r>
              <a:rPr lang="en-US" sz="2000"/>
              <a:t>Malibu Industries</a:t>
            </a:r>
            <a:endParaRPr/>
          </a:p>
          <a:p>
            <a:pPr marL="0" lvl="0" indent="0" algn="l" rtl="0">
              <a:spcBef>
                <a:spcPts val="1000"/>
              </a:spcBef>
              <a:spcAft>
                <a:spcPts val="0"/>
              </a:spcAft>
              <a:buSzPts val="2300"/>
              <a:buNone/>
            </a:pPr>
            <a:r>
              <a:rPr lang="en-US" sz="2000"/>
              <a:t>                                                            Bijwasan, New Delhi</a:t>
            </a:r>
            <a:endParaRPr/>
          </a:p>
          <a:p>
            <a:pPr marL="0" lvl="0" indent="0" algn="l" rtl="0">
              <a:spcBef>
                <a:spcPts val="1000"/>
              </a:spcBef>
              <a:spcAft>
                <a:spcPts val="0"/>
              </a:spcAft>
              <a:buSzPts val="2300"/>
              <a:buNone/>
            </a:pPr>
            <a:r>
              <a:rPr lang="en-US" sz="2000"/>
              <a:t>                                                                                                Dated: 30 oct 2014</a:t>
            </a:r>
            <a:endParaRPr/>
          </a:p>
          <a:p>
            <a:pPr marL="0" lvl="0" indent="0" algn="l" rtl="0">
              <a:spcBef>
                <a:spcPts val="1000"/>
              </a:spcBef>
              <a:spcAft>
                <a:spcPts val="0"/>
              </a:spcAft>
              <a:buSzPts val="2300"/>
              <a:buNone/>
            </a:pPr>
            <a:r>
              <a:rPr lang="en-US" sz="2000"/>
              <a:t>                                             Circular No.423/56</a:t>
            </a:r>
            <a:endParaRPr/>
          </a:p>
          <a:p>
            <a:pPr marL="0" lvl="0" indent="0" algn="just" rtl="0">
              <a:spcBef>
                <a:spcPts val="1000"/>
              </a:spcBef>
              <a:spcAft>
                <a:spcPts val="0"/>
              </a:spcAft>
              <a:buSzPts val="2300"/>
              <a:buNone/>
            </a:pPr>
            <a:r>
              <a:rPr lang="en-US" sz="2000"/>
              <a:t>The wives of five Kargil martyrs would be visiting the organization on November 2, 2014 to familiarize us their problems and grievances. Hence, employees are requested to be present and to extend their cooperation for this noble cause.</a:t>
            </a:r>
            <a:endParaRPr/>
          </a:p>
          <a:p>
            <a:pPr marL="0" lvl="0" indent="0" algn="just" rtl="0">
              <a:spcBef>
                <a:spcPts val="1000"/>
              </a:spcBef>
              <a:spcAft>
                <a:spcPts val="0"/>
              </a:spcAft>
              <a:buSzPts val="2300"/>
              <a:buNone/>
            </a:pPr>
            <a:r>
              <a:rPr lang="en-US" sz="2000"/>
              <a:t>                                                                                                                                   Sd/-</a:t>
            </a:r>
            <a:endParaRPr/>
          </a:p>
          <a:p>
            <a:pPr marL="0" lvl="0" indent="0" algn="just" rtl="0">
              <a:spcBef>
                <a:spcPts val="1000"/>
              </a:spcBef>
              <a:spcAft>
                <a:spcPts val="0"/>
              </a:spcAft>
              <a:buSzPts val="2300"/>
              <a:buNone/>
            </a:pPr>
            <a:r>
              <a:rPr lang="en-US" sz="2000"/>
              <a:t>                                                                                                                        Mahesh Gidwani</a:t>
            </a:r>
            <a:endParaRPr sz="2000"/>
          </a:p>
          <a:p>
            <a:pPr marL="0" lvl="0" indent="0" algn="just" rtl="0">
              <a:spcBef>
                <a:spcPts val="1000"/>
              </a:spcBef>
              <a:spcAft>
                <a:spcPts val="0"/>
              </a:spcAft>
              <a:buSzPts val="2300"/>
              <a:buNone/>
            </a:pPr>
            <a:r>
              <a:rPr lang="en-US" sz="2000"/>
              <a:t>                                                                                                                               Manager</a:t>
            </a:r>
            <a:endParaRPr/>
          </a:p>
          <a:p>
            <a:pPr marL="0" lvl="0" indent="0" algn="just" rtl="0">
              <a:spcBef>
                <a:spcPts val="1080"/>
              </a:spcBef>
              <a:spcAft>
                <a:spcPts val="0"/>
              </a:spcAft>
              <a:buSzPts val="276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6"/>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Difference between Notice and circular</a:t>
            </a:r>
            <a:endParaRPr/>
          </a:p>
        </p:txBody>
      </p:sp>
      <p:sp>
        <p:nvSpPr>
          <p:cNvPr id="182" name="Google Shape;182;p6"/>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l" rtl="0">
              <a:spcBef>
                <a:spcPts val="0"/>
              </a:spcBef>
              <a:spcAft>
                <a:spcPts val="0"/>
              </a:spcAft>
              <a:buSzPts val="2760"/>
              <a:buChar char="•"/>
            </a:pPr>
            <a:r>
              <a:rPr lang="en-US"/>
              <a:t>Very few copies of a notice (possibly only one),thousands of copies of a circular are printed</a:t>
            </a:r>
            <a:endParaRPr/>
          </a:p>
          <a:p>
            <a:pPr marL="285750" lvl="0" indent="-285750" algn="l" rtl="0">
              <a:spcBef>
                <a:spcPts val="1080"/>
              </a:spcBef>
              <a:spcAft>
                <a:spcPts val="0"/>
              </a:spcAft>
              <a:buSzPts val="2760"/>
              <a:buChar char="•"/>
            </a:pPr>
            <a:r>
              <a:rPr lang="en-US"/>
              <a:t> A notice is usually posted on a wall or similar fixed structure, a circular is designed to be distributed in various locations, or mailed</a:t>
            </a:r>
            <a:endParaRPr/>
          </a:p>
          <a:p>
            <a:pPr marL="285750" lvl="0" indent="-285750" algn="l" rtl="0">
              <a:spcBef>
                <a:spcPts val="1080"/>
              </a:spcBef>
              <a:spcAft>
                <a:spcPts val="0"/>
              </a:spcAft>
              <a:buSzPts val="2760"/>
              <a:buChar char="•"/>
            </a:pPr>
            <a:r>
              <a:rPr lang="en-US"/>
              <a:t> A notice is generally intended to be read by many people; each circular is likely to be read by one person</a:t>
            </a:r>
            <a:endParaRPr/>
          </a:p>
          <a:p>
            <a:pPr marL="285750" lvl="0" indent="-110490" algn="l" rtl="0">
              <a:spcBef>
                <a:spcPts val="1080"/>
              </a:spcBef>
              <a:spcAft>
                <a:spcPts val="0"/>
              </a:spcAft>
              <a:buSzPts val="276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Continue…</a:t>
            </a:r>
            <a:endParaRPr/>
          </a:p>
        </p:txBody>
      </p:sp>
      <p:sp>
        <p:nvSpPr>
          <p:cNvPr id="188" name="Google Shape;188;p7"/>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US"/>
              <a:t> A circular goes to people, but people come to a notice.</a:t>
            </a:r>
            <a:endParaRPr/>
          </a:p>
          <a:p>
            <a:pPr marL="285750" lvl="0" indent="-285750" algn="just" rtl="0">
              <a:spcBef>
                <a:spcPts val="1080"/>
              </a:spcBef>
              <a:spcAft>
                <a:spcPts val="0"/>
              </a:spcAft>
              <a:buSzPts val="2760"/>
              <a:buChar char="•"/>
            </a:pPr>
            <a:r>
              <a:rPr lang="en-US"/>
              <a:t>Since a notice is designed to be read by groups of people, it is likely to be printed in a larger typeface so that it can be read at a distance; a circular can be printed in small type, since it will be hand! held by individuals.</a:t>
            </a:r>
            <a:endParaRPr/>
          </a:p>
          <a:p>
            <a:pPr marL="285750" lvl="0" indent="-285750" algn="just" rtl="0">
              <a:spcBef>
                <a:spcPts val="1080"/>
              </a:spcBef>
              <a:spcAft>
                <a:spcPts val="0"/>
              </a:spcAft>
              <a:buSzPts val="2760"/>
              <a:buChar char="•"/>
            </a:pPr>
            <a:r>
              <a:rPr lang="en-US"/>
              <a:t>A notice is more likely to have legal standing than a circular, since it is difficult to prove that circulars have reached their target audience, while a notice that is prominently posted may be assumed to have been read by the public.</a:t>
            </a:r>
            <a:endParaRPr/>
          </a:p>
          <a:p>
            <a:pPr marL="285750" lvl="0" indent="-110490" algn="l" rtl="0">
              <a:spcBef>
                <a:spcPts val="1080"/>
              </a:spcBef>
              <a:spcAft>
                <a:spcPts val="0"/>
              </a:spcAft>
              <a:buSzPts val="276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Agenda</a:t>
            </a:r>
            <a:endParaRPr/>
          </a:p>
        </p:txBody>
      </p:sp>
      <p:sp>
        <p:nvSpPr>
          <p:cNvPr id="194" name="Google Shape;194;p8"/>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3220"/>
              <a:buChar char="•"/>
            </a:pPr>
            <a:r>
              <a:rPr lang="en-US" sz="2800" dirty="0"/>
              <a:t>Agenda is a document that outlines the contents of a forthcoming meeting. It is usually sent along with the notice of the meeting. Basically agenda is a statement of business or assignment to be discussed in the meeting on which minutes and decisions are taken thereafter.</a:t>
            </a:r>
            <a:endParaRPr dirty="0"/>
          </a:p>
          <a:p>
            <a:pPr marL="285750" lvl="0" indent="-285750" algn="just" rtl="0">
              <a:spcBef>
                <a:spcPts val="1160"/>
              </a:spcBef>
              <a:spcAft>
                <a:spcPts val="0"/>
              </a:spcAft>
              <a:buSzPts val="3220"/>
              <a:buChar char="•"/>
            </a:pPr>
            <a:r>
              <a:rPr lang="en-US" sz="2800" dirty="0"/>
              <a:t>Agenda should be specific and clear to all authorized person. </a:t>
            </a:r>
            <a:endParaRPr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txBox="1">
            <a:spLocks noGrp="1"/>
          </p:cNvSpPr>
          <p:nvPr>
            <p:ph type="title"/>
          </p:nvPr>
        </p:nvSpPr>
        <p:spPr>
          <a:xfrm>
            <a:off x="1295402" y="982132"/>
            <a:ext cx="9601196" cy="3417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Agenda</a:t>
            </a:r>
            <a:endParaRPr/>
          </a:p>
        </p:txBody>
      </p:sp>
      <p:pic>
        <p:nvPicPr>
          <p:cNvPr id="200" name="Google Shape;200;p9"/>
          <p:cNvPicPr preferRelativeResize="0">
            <a:picLocks noGrp="1"/>
          </p:cNvPicPr>
          <p:nvPr>
            <p:ph type="body" idx="1"/>
          </p:nvPr>
        </p:nvPicPr>
        <p:blipFill rotWithShape="1">
          <a:blip r:embed="rId3">
            <a:alphaModFix/>
          </a:blip>
          <a:srcRect/>
          <a:stretch/>
        </p:blipFill>
        <p:spPr>
          <a:xfrm>
            <a:off x="1295402" y="1733267"/>
            <a:ext cx="9601196" cy="41420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Minutes</a:t>
            </a:r>
            <a:endParaRPr/>
          </a:p>
        </p:txBody>
      </p:sp>
      <p:sp>
        <p:nvSpPr>
          <p:cNvPr id="206" name="Google Shape;206;p10"/>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US"/>
              <a:t>Minutes are the official record of the proceedings or a meeting. It usually show a concise and accurate record of decisions and resolutions.</a:t>
            </a:r>
            <a:endParaRPr/>
          </a:p>
          <a:p>
            <a:pPr marL="285750" lvl="0" indent="-285750" algn="just" rtl="0">
              <a:spcBef>
                <a:spcPts val="1080"/>
              </a:spcBef>
              <a:spcAft>
                <a:spcPts val="0"/>
              </a:spcAft>
              <a:buSzPts val="2760"/>
              <a:buChar char="•"/>
            </a:pPr>
            <a:r>
              <a:rPr lang="en-US"/>
              <a:t>Minutes is a chronological written statement of resolutions taken in meeting. It is taken on the elaborate discussion of the agenda.</a:t>
            </a:r>
            <a:endParaRPr/>
          </a:p>
          <a:p>
            <a:pPr marL="285750" lvl="0" indent="-285750" algn="just" rtl="0">
              <a:spcBef>
                <a:spcPts val="1080"/>
              </a:spcBef>
              <a:spcAft>
                <a:spcPts val="0"/>
              </a:spcAft>
              <a:buSzPts val="2760"/>
              <a:buChar char="•"/>
            </a:pPr>
            <a:r>
              <a:rPr lang="en-US"/>
              <a:t>It is a list of actions and resolutions adopted after detailed discussion of persons attended in the meeting, preserved it for decision making and policy implementation.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What needs to be included?</a:t>
            </a:r>
            <a:endParaRPr/>
          </a:p>
        </p:txBody>
      </p:sp>
      <p:sp>
        <p:nvSpPr>
          <p:cNvPr id="212" name="Google Shape;212;p1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fontScale="92500"/>
          </a:bodyPr>
          <a:lstStyle/>
          <a:p>
            <a:pPr marL="285750" lvl="0" indent="-285750" algn="l" rtl="0">
              <a:spcBef>
                <a:spcPts val="0"/>
              </a:spcBef>
              <a:spcAft>
                <a:spcPts val="0"/>
              </a:spcAft>
              <a:buSzPct val="115000"/>
              <a:buChar char="•"/>
            </a:pPr>
            <a:r>
              <a:rPr lang="en-US"/>
              <a:t>Date, time and location of the meeting.</a:t>
            </a:r>
            <a:endParaRPr/>
          </a:p>
          <a:p>
            <a:pPr marL="285750" lvl="0" indent="-285750" algn="l" rtl="0">
              <a:spcBef>
                <a:spcPts val="1044"/>
              </a:spcBef>
              <a:spcAft>
                <a:spcPts val="0"/>
              </a:spcAft>
              <a:buSzPct val="115000"/>
              <a:buChar char="•"/>
            </a:pPr>
            <a:r>
              <a:rPr lang="en-US"/>
              <a:t>The purpose of the meeting.</a:t>
            </a:r>
            <a:endParaRPr/>
          </a:p>
          <a:p>
            <a:pPr marL="285750" lvl="0" indent="-285750" algn="l" rtl="0">
              <a:spcBef>
                <a:spcPts val="1044"/>
              </a:spcBef>
              <a:spcAft>
                <a:spcPts val="0"/>
              </a:spcAft>
              <a:buSzPct val="115000"/>
              <a:buChar char="•"/>
            </a:pPr>
            <a:r>
              <a:rPr lang="en-US"/>
              <a:t>Names of attendees and those who were unable to attend.</a:t>
            </a:r>
            <a:endParaRPr/>
          </a:p>
          <a:p>
            <a:pPr marL="285750" lvl="0" indent="-285750" algn="l" rtl="0">
              <a:spcBef>
                <a:spcPts val="1044"/>
              </a:spcBef>
              <a:spcAft>
                <a:spcPts val="0"/>
              </a:spcAft>
              <a:buSzPct val="115000"/>
              <a:buChar char="•"/>
            </a:pPr>
            <a:r>
              <a:rPr lang="en-US"/>
              <a:t>Agenda items.</a:t>
            </a:r>
            <a:endParaRPr/>
          </a:p>
          <a:p>
            <a:pPr marL="285750" lvl="0" indent="-285750" algn="l" rtl="0">
              <a:spcBef>
                <a:spcPts val="1044"/>
              </a:spcBef>
              <a:spcAft>
                <a:spcPts val="0"/>
              </a:spcAft>
              <a:buSzPct val="115000"/>
              <a:buChar char="•"/>
            </a:pPr>
            <a:r>
              <a:rPr lang="en-US"/>
              <a:t>Decisions that were made.</a:t>
            </a:r>
            <a:endParaRPr/>
          </a:p>
          <a:p>
            <a:pPr marL="285750" lvl="0" indent="-285750" algn="l" rtl="0">
              <a:spcBef>
                <a:spcPts val="1044"/>
              </a:spcBef>
              <a:spcAft>
                <a:spcPts val="0"/>
              </a:spcAft>
              <a:buSzPct val="115000"/>
              <a:buChar char="•"/>
            </a:pPr>
            <a:r>
              <a:rPr lang="en-US"/>
              <a:t>Actions that need to be done. Include the deadline and who it was assigned to.</a:t>
            </a:r>
            <a:endParaRPr/>
          </a:p>
          <a:p>
            <a:pPr marL="285750" lvl="0" indent="-285750" algn="l" rtl="0">
              <a:spcBef>
                <a:spcPts val="1044"/>
              </a:spcBef>
              <a:spcAft>
                <a:spcPts val="0"/>
              </a:spcAft>
              <a:buSzPct val="115000"/>
              <a:buChar char="•"/>
            </a:pPr>
            <a:r>
              <a:rPr lang="en-US"/>
              <a:t>Follow up meeting.</a:t>
            </a:r>
            <a:endParaRPr/>
          </a:p>
          <a:p>
            <a:pPr marL="285750" lvl="0" indent="-123634" algn="l" rtl="0">
              <a:spcBef>
                <a:spcPts val="1044"/>
              </a:spcBef>
              <a:spcAft>
                <a:spcPts val="0"/>
              </a:spcAft>
              <a:buSzPct val="1150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title"/>
          </p:nvPr>
        </p:nvSpPr>
        <p:spPr>
          <a:xfrm>
            <a:off x="1295402" y="982132"/>
            <a:ext cx="9601196" cy="10968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endParaRPr/>
          </a:p>
        </p:txBody>
      </p:sp>
      <p:pic>
        <p:nvPicPr>
          <p:cNvPr id="218" name="Google Shape;218;p12"/>
          <p:cNvPicPr preferRelativeResize="0">
            <a:picLocks noGrp="1"/>
          </p:cNvPicPr>
          <p:nvPr>
            <p:ph type="body" idx="1"/>
          </p:nvPr>
        </p:nvPicPr>
        <p:blipFill rotWithShape="1">
          <a:blip r:embed="rId3">
            <a:alphaModFix/>
          </a:blip>
          <a:srcRect/>
          <a:stretch/>
        </p:blipFill>
        <p:spPr>
          <a:xfrm>
            <a:off x="2470245" y="614148"/>
            <a:ext cx="7317142" cy="54454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3"/>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endParaRPr/>
          </a:p>
        </p:txBody>
      </p:sp>
      <p:pic>
        <p:nvPicPr>
          <p:cNvPr id="224" name="Google Shape;224;p13"/>
          <p:cNvPicPr preferRelativeResize="0">
            <a:picLocks noGrp="1"/>
          </p:cNvPicPr>
          <p:nvPr>
            <p:ph type="body" idx="1"/>
          </p:nvPr>
        </p:nvPicPr>
        <p:blipFill rotWithShape="1">
          <a:blip r:embed="rId3">
            <a:alphaModFix/>
          </a:blip>
          <a:srcRect/>
          <a:stretch/>
        </p:blipFill>
        <p:spPr>
          <a:xfrm>
            <a:off x="3688768" y="846161"/>
            <a:ext cx="4814464" cy="502917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4"/>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endParaRPr/>
          </a:p>
        </p:txBody>
      </p:sp>
      <p:sp>
        <p:nvSpPr>
          <p:cNvPr id="230" name="Google Shape;230;p14"/>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8280"/>
              <a:buNone/>
            </a:pPr>
            <a:r>
              <a:rPr lang="en-US" sz="7200"/>
              <a:t>Thank You</a:t>
            </a:r>
            <a:endParaRPr sz="7200"/>
          </a:p>
        </p:txBody>
      </p:sp>
    </p:spTree>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634</Words>
  <Application>Microsoft Office PowerPoint</Application>
  <PresentationFormat>Custom</PresentationFormat>
  <Paragraphs>48</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Garamond</vt:lpstr>
      <vt:lpstr>Organic</vt:lpstr>
      <vt:lpstr>Notice, Circular, Agenda and Minutes</vt:lpstr>
      <vt:lpstr>Introduction</vt:lpstr>
      <vt:lpstr>Notice</vt:lpstr>
      <vt:lpstr>Notice</vt:lpstr>
      <vt:lpstr>Circular</vt:lpstr>
      <vt:lpstr>Circular</vt:lpstr>
      <vt:lpstr>Difference between Notice and circular</vt:lpstr>
      <vt:lpstr>Continue…</vt:lpstr>
      <vt:lpstr>Agenda</vt:lpstr>
      <vt:lpstr>Agenda</vt:lpstr>
      <vt:lpstr>Minutes</vt:lpstr>
      <vt:lpstr>What needs to be included?</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Notice, Circular, Agenda and Minutes</dc:title>
  <dc:creator>unais kt</dc:creator>
  <cp:lastModifiedBy>unais kt</cp:lastModifiedBy>
  <cp:revision>2</cp:revision>
  <dcterms:created xsi:type="dcterms:W3CDTF">2023-11-21T04:33:46Z</dcterms:created>
  <dcterms:modified xsi:type="dcterms:W3CDTF">2024-10-07T13:59:21Z</dcterms:modified>
</cp:coreProperties>
</file>