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7" r:id="rId3"/>
    <p:sldId id="268" r:id="rId4"/>
    <p:sldId id="269" r:id="rId5"/>
    <p:sldId id="270" r:id="rId6"/>
    <p:sldId id="27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FBF8F-0B5D-2483-936F-E4293420C4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0826E28-C220-BED0-0EB7-B0A9F618D2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E858E5-030C-DE03-12E9-F32694C04F4F}"/>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5" name="Footer Placeholder 4">
            <a:extLst>
              <a:ext uri="{FF2B5EF4-FFF2-40B4-BE49-F238E27FC236}">
                <a16:creationId xmlns:a16="http://schemas.microsoft.com/office/drawing/2014/main" id="{DD0B6563-E2D7-FF65-402F-5577BC405F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8C76D1-C0CD-8121-9DAF-B9657DEF4973}"/>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2077278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80E49-70F8-8557-8B3C-75D8528D7A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4F1DD6-0DB0-968B-0084-865D49E7EF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ED9204-1D34-9AEE-B7A4-84838876E246}"/>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5" name="Footer Placeholder 4">
            <a:extLst>
              <a:ext uri="{FF2B5EF4-FFF2-40B4-BE49-F238E27FC236}">
                <a16:creationId xmlns:a16="http://schemas.microsoft.com/office/drawing/2014/main" id="{2B95B95C-C65E-660C-120B-9F58370CE4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F8D267-76C9-CFE6-4EFC-2C80BCDB84D9}"/>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1984981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3BDAA-562A-8A99-FD94-4103A5B0CA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256621-31F1-C5F7-D939-1E0910C226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DECD35-3D34-B0E7-2735-9C428D2A0199}"/>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5" name="Footer Placeholder 4">
            <a:extLst>
              <a:ext uri="{FF2B5EF4-FFF2-40B4-BE49-F238E27FC236}">
                <a16:creationId xmlns:a16="http://schemas.microsoft.com/office/drawing/2014/main" id="{C37BE2BA-E6B0-764A-729F-86F1480C81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4FC548-0F43-3A35-D552-BDC7CF337D66}"/>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3970632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520AA-52FF-0C0C-E1AE-59BFA9608F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2939B2-269D-9A89-FF22-86185D4BB6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4811E4-5C76-95EB-C9F0-CF68B2E84F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005556-FB16-8B63-F163-33816D191D59}"/>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6" name="Footer Placeholder 5">
            <a:extLst>
              <a:ext uri="{FF2B5EF4-FFF2-40B4-BE49-F238E27FC236}">
                <a16:creationId xmlns:a16="http://schemas.microsoft.com/office/drawing/2014/main" id="{5E49304A-8EC6-36C3-A62B-CA5C0909A7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929095-E232-8308-0000-11772053D675}"/>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1203458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6BCBC-25DA-0E32-DE2A-78952F3107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84B25D-34B7-B47A-6016-BBE9572C89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AD3E1F-A94A-6DE9-8654-F6658A5D9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C89C95-7146-7EDF-390B-3EAD11691B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39DC55-DC3D-830E-4C48-ABBCD26294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6D55FE-A62A-72BB-0DAA-63B653AB2BA4}"/>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8" name="Footer Placeholder 7">
            <a:extLst>
              <a:ext uri="{FF2B5EF4-FFF2-40B4-BE49-F238E27FC236}">
                <a16:creationId xmlns:a16="http://schemas.microsoft.com/office/drawing/2014/main" id="{80BECBE6-D99A-C2E2-2268-2695506756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E3A12B-F1CA-5BBE-614B-C11495057AB6}"/>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118591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57C41-E21C-3BBC-BCF7-1F008CD6620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FE77E7-4CBD-11A7-FBEC-DC3AC1219658}"/>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4" name="Footer Placeholder 3">
            <a:extLst>
              <a:ext uri="{FF2B5EF4-FFF2-40B4-BE49-F238E27FC236}">
                <a16:creationId xmlns:a16="http://schemas.microsoft.com/office/drawing/2014/main" id="{B5593119-8ABD-261C-6688-97E2205A3D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C95BEA-FE71-C685-4B5B-5768213544B1}"/>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174536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550B29-52E1-E20F-F8F0-7379AA462098}"/>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3" name="Footer Placeholder 2">
            <a:extLst>
              <a:ext uri="{FF2B5EF4-FFF2-40B4-BE49-F238E27FC236}">
                <a16:creationId xmlns:a16="http://schemas.microsoft.com/office/drawing/2014/main" id="{48D87C56-591E-39CE-415C-4C388F131B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EAAA72-8FC8-4D4D-770F-C24CC02CA86C}"/>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2280932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3418D-95D2-9932-AB25-133DFAF8F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9A98DE-F25A-68DE-72B5-119E02FAE6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CBBB6A0-0940-E12D-EEEB-F3DEE37C93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113C16-270C-28BC-EB5C-80EB03DF48B7}"/>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6" name="Footer Placeholder 5">
            <a:extLst>
              <a:ext uri="{FF2B5EF4-FFF2-40B4-BE49-F238E27FC236}">
                <a16:creationId xmlns:a16="http://schemas.microsoft.com/office/drawing/2014/main" id="{D28FD252-0039-5B1A-8146-D275701DBC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F7C7CC-C69B-20BD-AC3A-9166CF27AF04}"/>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474684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7AAF-E8DD-CB22-C913-1FD7A82EE1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21FFA8-3009-E2A8-EDF8-7CBD7733A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6A73B9-8E2D-1A22-2906-62D5E1FC93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41FFD5-6DB9-0609-586F-EEB2AEA0CFA5}"/>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6" name="Footer Placeholder 5">
            <a:extLst>
              <a:ext uri="{FF2B5EF4-FFF2-40B4-BE49-F238E27FC236}">
                <a16:creationId xmlns:a16="http://schemas.microsoft.com/office/drawing/2014/main" id="{8F5765D7-25A5-4D13-5751-41E9476FF7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4D5D2C-F64B-68F1-5877-9B3ECF71CA37}"/>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112322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9239B-D3EF-6C51-94E8-2ACF812F28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3C373F-9738-D16C-1645-1BBA070FC2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47C0C3-05B7-6932-580D-50BE00EC73C4}"/>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5" name="Footer Placeholder 4">
            <a:extLst>
              <a:ext uri="{FF2B5EF4-FFF2-40B4-BE49-F238E27FC236}">
                <a16:creationId xmlns:a16="http://schemas.microsoft.com/office/drawing/2014/main" id="{8633E17A-E1C3-C260-190F-A5A6B20700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7B9AB0-E498-3D22-AB3C-CAF53FBFA17F}"/>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455121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3C5C18-E74F-F78B-BFA3-625C25D863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87ADF5-9370-A24C-6520-B193AEACF4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597E22-9A4D-FD37-1E87-01A53E52A14C}"/>
              </a:ext>
            </a:extLst>
          </p:cNvPr>
          <p:cNvSpPr>
            <a:spLocks noGrp="1"/>
          </p:cNvSpPr>
          <p:nvPr>
            <p:ph type="dt" sz="half" idx="10"/>
          </p:nvPr>
        </p:nvSpPr>
        <p:spPr/>
        <p:txBody>
          <a:bodyPr/>
          <a:lstStyle/>
          <a:p>
            <a:fld id="{EE45DD9C-7FD5-406F-9DCD-2DB7483A599E}" type="datetimeFigureOut">
              <a:rPr lang="en-IN" smtClean="0"/>
              <a:t>19-04-2025</a:t>
            </a:fld>
            <a:endParaRPr lang="en-IN"/>
          </a:p>
        </p:txBody>
      </p:sp>
      <p:sp>
        <p:nvSpPr>
          <p:cNvPr id="5" name="Footer Placeholder 4">
            <a:extLst>
              <a:ext uri="{FF2B5EF4-FFF2-40B4-BE49-F238E27FC236}">
                <a16:creationId xmlns:a16="http://schemas.microsoft.com/office/drawing/2014/main" id="{58A93D0F-363F-0EEE-741A-AA93AFD1E1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5315F0-7371-7313-0AB7-4579ED00F533}"/>
              </a:ext>
            </a:extLst>
          </p:cNvPr>
          <p:cNvSpPr>
            <a:spLocks noGrp="1"/>
          </p:cNvSpPr>
          <p:nvPr>
            <p:ph type="sldNum" sz="quarter" idx="12"/>
          </p:nvPr>
        </p:nvSpPr>
        <p:spPr/>
        <p:txBody>
          <a:bodyPr/>
          <a:lstStyle/>
          <a:p>
            <a:fld id="{CE97657B-898F-4F29-A23F-F05F52866C95}" type="slidenum">
              <a:rPr lang="en-IN" smtClean="0"/>
              <a:t>‹#›</a:t>
            </a:fld>
            <a:endParaRPr lang="en-IN"/>
          </a:p>
        </p:txBody>
      </p:sp>
    </p:spTree>
    <p:extLst>
      <p:ext uri="{BB962C8B-B14F-4D97-AF65-F5344CB8AC3E}">
        <p14:creationId xmlns:p14="http://schemas.microsoft.com/office/powerpoint/2010/main" val="1504698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11BF36-A627-3CA8-6F8C-B3715287A7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9A318F-A121-53B8-7BC3-B7FD56E06F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180895-7D78-19FB-33B9-BFCDC5B55D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45DD9C-7FD5-406F-9DCD-2DB7483A599E}" type="datetimeFigureOut">
              <a:rPr lang="en-IN" smtClean="0"/>
              <a:t>19-04-2025</a:t>
            </a:fld>
            <a:endParaRPr lang="en-IN"/>
          </a:p>
        </p:txBody>
      </p:sp>
      <p:sp>
        <p:nvSpPr>
          <p:cNvPr id="5" name="Footer Placeholder 4">
            <a:extLst>
              <a:ext uri="{FF2B5EF4-FFF2-40B4-BE49-F238E27FC236}">
                <a16:creationId xmlns:a16="http://schemas.microsoft.com/office/drawing/2014/main" id="{39F98909-0859-637C-8D3D-61FFECFB30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2C9CC2-97ED-DB3E-34B4-CAEFDFBD0E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97657B-898F-4F29-A23F-F05F52866C95}" type="slidenum">
              <a:rPr lang="en-IN" smtClean="0"/>
              <a:t>‹#›</a:t>
            </a:fld>
            <a:endParaRPr lang="en-IN"/>
          </a:p>
        </p:txBody>
      </p:sp>
    </p:spTree>
    <p:extLst>
      <p:ext uri="{BB962C8B-B14F-4D97-AF65-F5344CB8AC3E}">
        <p14:creationId xmlns:p14="http://schemas.microsoft.com/office/powerpoint/2010/main" val="1307855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1DDC-3311-D873-961D-6A32F8340A71}"/>
              </a:ext>
            </a:extLst>
          </p:cNvPr>
          <p:cNvSpPr>
            <a:spLocks noGrp="1"/>
          </p:cNvSpPr>
          <p:nvPr>
            <p:ph type="ctrTitle"/>
          </p:nvPr>
        </p:nvSpPr>
        <p:spPr>
          <a:xfrm>
            <a:off x="1524000" y="1122363"/>
            <a:ext cx="9144000" cy="990917"/>
          </a:xfrm>
        </p:spPr>
        <p:txBody>
          <a:bodyPr>
            <a:noAutofit/>
          </a:bodyPr>
          <a:lstStyle/>
          <a:p>
            <a:r>
              <a:rPr lang="en-US" sz="7200" b="1" dirty="0">
                <a:solidFill>
                  <a:srgbClr val="003366"/>
                </a:solidFill>
                <a:effectLst>
                  <a:outerShdw blurRad="38100" dist="38100" dir="2700000" algn="tl">
                    <a:srgbClr val="000000">
                      <a:alpha val="43137"/>
                    </a:srgbClr>
                  </a:outerShdw>
                </a:effectLst>
                <a:latin typeface="French Script MT" panose="03020402040607040605" pitchFamily="66" charset="0"/>
              </a:rPr>
              <a:t>Genetically Modified Food</a:t>
            </a:r>
            <a:endParaRPr lang="en-IN" sz="7200" b="1" dirty="0">
              <a:solidFill>
                <a:srgbClr val="003366"/>
              </a:solidFill>
              <a:effectLst>
                <a:outerShdw blurRad="38100" dist="38100" dir="2700000" algn="tl">
                  <a:srgbClr val="000000">
                    <a:alpha val="43137"/>
                  </a:srgbClr>
                </a:outerShdw>
              </a:effectLst>
              <a:latin typeface="French Script MT" panose="03020402040607040605" pitchFamily="66" charset="0"/>
            </a:endParaRPr>
          </a:p>
        </p:txBody>
      </p:sp>
      <p:sp>
        <p:nvSpPr>
          <p:cNvPr id="3" name="Subtitle 2">
            <a:extLst>
              <a:ext uri="{FF2B5EF4-FFF2-40B4-BE49-F238E27FC236}">
                <a16:creationId xmlns:a16="http://schemas.microsoft.com/office/drawing/2014/main" id="{958F2F1C-DDDB-3A6E-1AF8-318AF57AC350}"/>
              </a:ext>
            </a:extLst>
          </p:cNvPr>
          <p:cNvSpPr>
            <a:spLocks noGrp="1"/>
          </p:cNvSpPr>
          <p:nvPr>
            <p:ph type="subTitle" idx="1"/>
          </p:nvPr>
        </p:nvSpPr>
        <p:spPr/>
        <p:txBody>
          <a:bodyPr>
            <a:normAutofit fontScale="77500" lnSpcReduction="20000"/>
          </a:bodyPr>
          <a:lstStyle/>
          <a:p>
            <a:r>
              <a:rPr lang="en-US" b="1" dirty="0" err="1"/>
              <a:t>Sanghamitra</a:t>
            </a:r>
            <a:r>
              <a:rPr lang="en-US" b="1" dirty="0"/>
              <a:t> Samanta</a:t>
            </a:r>
          </a:p>
          <a:p>
            <a:r>
              <a:rPr lang="en-US" dirty="0"/>
              <a:t>Guest Lecturer</a:t>
            </a:r>
          </a:p>
          <a:p>
            <a:r>
              <a:rPr lang="en-US" dirty="0"/>
              <a:t>Department of Humanities and Social Science,</a:t>
            </a:r>
          </a:p>
          <a:p>
            <a:r>
              <a:rPr lang="en-US" dirty="0"/>
              <a:t>National Institute of Technology, Goa</a:t>
            </a:r>
          </a:p>
          <a:p>
            <a:r>
              <a:rPr lang="en-US" dirty="0" err="1"/>
              <a:t>Cuncolim</a:t>
            </a:r>
            <a:r>
              <a:rPr lang="en-US" dirty="0"/>
              <a:t>, South Goa, Goa-403703</a:t>
            </a:r>
          </a:p>
          <a:p>
            <a:endParaRPr lang="en-IN" b="1" dirty="0"/>
          </a:p>
        </p:txBody>
      </p:sp>
    </p:spTree>
    <p:extLst>
      <p:ext uri="{BB962C8B-B14F-4D97-AF65-F5344CB8AC3E}">
        <p14:creationId xmlns:p14="http://schemas.microsoft.com/office/powerpoint/2010/main" val="152684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55032-98AD-9AD4-AF64-A69981FB7156}"/>
              </a:ext>
            </a:extLst>
          </p:cNvPr>
          <p:cNvSpPr>
            <a:spLocks noGrp="1"/>
          </p:cNvSpPr>
          <p:nvPr>
            <p:ph type="title"/>
          </p:nvPr>
        </p:nvSpPr>
        <p:spPr>
          <a:xfrm>
            <a:off x="838200" y="-61595"/>
            <a:ext cx="10515600" cy="1325563"/>
          </a:xfrm>
        </p:spPr>
        <p:txBody>
          <a:bodyPr/>
          <a:lstStyle/>
          <a:p>
            <a:pPr algn="ctr"/>
            <a:r>
              <a:rPr lang="en-US" dirty="0"/>
              <a:t>What is Genetically Modified Food</a:t>
            </a:r>
            <a:endParaRPr lang="en-IN" dirty="0"/>
          </a:p>
        </p:txBody>
      </p:sp>
      <p:sp>
        <p:nvSpPr>
          <p:cNvPr id="3" name="Content Placeholder 2">
            <a:extLst>
              <a:ext uri="{FF2B5EF4-FFF2-40B4-BE49-F238E27FC236}">
                <a16:creationId xmlns:a16="http://schemas.microsoft.com/office/drawing/2014/main" id="{A2B30F67-8C3F-640B-14E8-28D0FA3172FD}"/>
              </a:ext>
            </a:extLst>
          </p:cNvPr>
          <p:cNvSpPr>
            <a:spLocks noGrp="1"/>
          </p:cNvSpPr>
          <p:nvPr>
            <p:ph idx="1"/>
          </p:nvPr>
        </p:nvSpPr>
        <p:spPr>
          <a:xfrm>
            <a:off x="838200" y="1304608"/>
            <a:ext cx="10515600" cy="4912995"/>
          </a:xfrm>
        </p:spPr>
        <p:txBody>
          <a:bodyPr/>
          <a:lstStyle/>
          <a:p>
            <a:pPr>
              <a:buFont typeface="Wingdings" panose="05000000000000000000" pitchFamily="2" charset="2"/>
              <a:buChar char="v"/>
            </a:pPr>
            <a:r>
              <a:rPr lang="en-US" b="0" i="0" dirty="0">
                <a:effectLst/>
                <a:latin typeface="Google Sans"/>
              </a:rPr>
              <a:t>Genetically modified (GM) foods are </a:t>
            </a:r>
            <a:r>
              <a:rPr lang="en-US" dirty="0"/>
              <a:t>produced from organisms (plants or animals) whose DNA has been altered through genetic engineering, not natural breeding</a:t>
            </a:r>
            <a:r>
              <a:rPr lang="en-US" b="0" i="0" dirty="0">
                <a:effectLst/>
                <a:latin typeface="Google Sans"/>
              </a:rPr>
              <a:t>.</a:t>
            </a:r>
          </a:p>
          <a:p>
            <a:pPr>
              <a:buFont typeface="Wingdings" panose="05000000000000000000" pitchFamily="2" charset="2"/>
              <a:buChar char="v"/>
            </a:pPr>
            <a:r>
              <a:rPr lang="en-US" dirty="0">
                <a:latin typeface="Google Sans"/>
              </a:rPr>
              <a:t>Properties Of Genetically Modified Foods:</a:t>
            </a:r>
          </a:p>
          <a:p>
            <a:pPr>
              <a:buFont typeface="Wingdings" panose="05000000000000000000" pitchFamily="2" charset="2"/>
              <a:buChar char="Ø"/>
            </a:pPr>
            <a:r>
              <a:rPr lang="en-US" dirty="0"/>
              <a:t>Food that contain an added gene sequence</a:t>
            </a:r>
          </a:p>
          <a:p>
            <a:pPr>
              <a:buFont typeface="Wingdings" panose="05000000000000000000" pitchFamily="2" charset="2"/>
              <a:buChar char="Ø"/>
            </a:pPr>
            <a:r>
              <a:rPr lang="en-US" dirty="0"/>
              <a:t>Food that have a deleted gene sequence</a:t>
            </a:r>
          </a:p>
          <a:p>
            <a:pPr>
              <a:buFont typeface="Wingdings" panose="05000000000000000000" pitchFamily="2" charset="2"/>
              <a:buChar char="Ø"/>
            </a:pPr>
            <a:r>
              <a:rPr lang="en-US" dirty="0"/>
              <a:t>Animal products from animals fed Genetically Modified Feed.</a:t>
            </a:r>
          </a:p>
          <a:p>
            <a:pPr>
              <a:buFont typeface="Wingdings" panose="05000000000000000000" pitchFamily="2" charset="2"/>
              <a:buChar char="Ø"/>
            </a:pPr>
            <a:r>
              <a:rPr lang="en-US" dirty="0"/>
              <a:t>Products produced by GM organisms</a:t>
            </a:r>
            <a:endParaRPr lang="en-IN" dirty="0"/>
          </a:p>
        </p:txBody>
      </p:sp>
    </p:spTree>
    <p:extLst>
      <p:ext uri="{BB962C8B-B14F-4D97-AF65-F5344CB8AC3E}">
        <p14:creationId xmlns:p14="http://schemas.microsoft.com/office/powerpoint/2010/main" val="2543275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7F402-AF2A-F079-EB57-40EBB02259CD}"/>
              </a:ext>
            </a:extLst>
          </p:cNvPr>
          <p:cNvSpPr>
            <a:spLocks noGrp="1"/>
          </p:cNvSpPr>
          <p:nvPr>
            <p:ph type="title"/>
          </p:nvPr>
        </p:nvSpPr>
        <p:spPr>
          <a:xfrm>
            <a:off x="838200" y="-173355"/>
            <a:ext cx="10515600" cy="1325563"/>
          </a:xfrm>
        </p:spPr>
        <p:txBody>
          <a:bodyPr/>
          <a:lstStyle/>
          <a:p>
            <a:pPr algn="ctr"/>
            <a:r>
              <a:rPr lang="en-US" dirty="0"/>
              <a:t>Why To Produce GM Food?</a:t>
            </a:r>
            <a:endParaRPr lang="en-IN" dirty="0"/>
          </a:p>
        </p:txBody>
      </p:sp>
      <p:sp>
        <p:nvSpPr>
          <p:cNvPr id="3" name="Content Placeholder 2">
            <a:extLst>
              <a:ext uri="{FF2B5EF4-FFF2-40B4-BE49-F238E27FC236}">
                <a16:creationId xmlns:a16="http://schemas.microsoft.com/office/drawing/2014/main" id="{C8C9F4C5-8691-1726-85AF-E0D676E8214D}"/>
              </a:ext>
            </a:extLst>
          </p:cNvPr>
          <p:cNvSpPr>
            <a:spLocks noGrp="1"/>
          </p:cNvSpPr>
          <p:nvPr>
            <p:ph idx="1"/>
          </p:nvPr>
        </p:nvSpPr>
        <p:spPr>
          <a:xfrm>
            <a:off x="0" y="731520"/>
            <a:ext cx="12192000" cy="6126480"/>
          </a:xfrm>
        </p:spPr>
        <p:txBody>
          <a:bodyPr>
            <a:normAutofit fontScale="85000" lnSpcReduction="20000"/>
          </a:bodyPr>
          <a:lstStyle/>
          <a:p>
            <a:pPr>
              <a:buFont typeface="Wingdings" panose="05000000000000000000" pitchFamily="2" charset="2"/>
              <a:buChar char="v"/>
            </a:pPr>
            <a:r>
              <a:rPr lang="en-US" dirty="0"/>
              <a:t>Need of GM Food</a:t>
            </a:r>
          </a:p>
          <a:p>
            <a:pPr>
              <a:buFont typeface="Wingdings" panose="05000000000000000000" pitchFamily="2" charset="2"/>
              <a:buChar char="v"/>
            </a:pPr>
            <a:r>
              <a:rPr lang="en-US" dirty="0"/>
              <a:t>From economical and agricultural standpoints, it is advantageous to grow crops that have higher yield or improved quality, pest or disease resistance, or tolerance to heat, cold and drought. Desirable genes may provide means for plants to combat these conditions. The following are some reasons for genetic modifications:</a:t>
            </a:r>
          </a:p>
          <a:p>
            <a:pPr>
              <a:buFont typeface="Wingdings" panose="05000000000000000000" pitchFamily="2" charset="2"/>
              <a:buChar char="Ø"/>
            </a:pPr>
            <a:r>
              <a:rPr lang="en-US" dirty="0"/>
              <a:t>Improved yields</a:t>
            </a:r>
          </a:p>
          <a:p>
            <a:pPr>
              <a:buFont typeface="Wingdings" panose="05000000000000000000" pitchFamily="2" charset="2"/>
              <a:buChar char="Ø"/>
            </a:pPr>
            <a:r>
              <a:rPr lang="en-US" dirty="0"/>
              <a:t>More resistant to disease</a:t>
            </a:r>
          </a:p>
          <a:p>
            <a:pPr>
              <a:buFont typeface="Wingdings" panose="05000000000000000000" pitchFamily="2" charset="2"/>
              <a:buChar char="Ø"/>
            </a:pPr>
            <a:r>
              <a:rPr lang="en-US" dirty="0"/>
              <a:t>Less likely to be damaged by insect</a:t>
            </a:r>
          </a:p>
          <a:p>
            <a:pPr>
              <a:buFont typeface="Wingdings" panose="05000000000000000000" pitchFamily="2" charset="2"/>
              <a:buChar char="Ø"/>
            </a:pPr>
            <a:r>
              <a:rPr lang="en-US" dirty="0"/>
              <a:t>Tolerance to herbicides</a:t>
            </a:r>
          </a:p>
          <a:p>
            <a:pPr>
              <a:buFont typeface="Wingdings" panose="05000000000000000000" pitchFamily="2" charset="2"/>
              <a:buChar char="Ø"/>
            </a:pPr>
            <a:r>
              <a:rPr lang="en-US" dirty="0"/>
              <a:t>Better nutritional value</a:t>
            </a:r>
          </a:p>
          <a:p>
            <a:pPr>
              <a:buFont typeface="Wingdings" panose="05000000000000000000" pitchFamily="2" charset="2"/>
              <a:buChar char="Ø"/>
            </a:pPr>
            <a:r>
              <a:rPr lang="en-US" dirty="0"/>
              <a:t>Increased shelf life</a:t>
            </a:r>
          </a:p>
          <a:p>
            <a:pPr>
              <a:buFont typeface="Wingdings" panose="05000000000000000000" pitchFamily="2" charset="2"/>
              <a:buChar char="Ø"/>
            </a:pPr>
            <a:r>
              <a:rPr lang="en-US" dirty="0"/>
              <a:t>Better climatic survival by increasing tolerance to draught, flood or frosty conditions to allow</a:t>
            </a:r>
          </a:p>
          <a:p>
            <a:pPr>
              <a:buFont typeface="Wingdings" panose="05000000000000000000" pitchFamily="2" charset="2"/>
              <a:buChar char="Ø"/>
            </a:pPr>
            <a:r>
              <a:rPr lang="en-US" dirty="0"/>
              <a:t>the use of previously inhospitable land</a:t>
            </a:r>
          </a:p>
          <a:p>
            <a:pPr>
              <a:buFont typeface="Wingdings" panose="05000000000000000000" pitchFamily="2" charset="2"/>
              <a:buChar char="Ø"/>
            </a:pPr>
            <a:r>
              <a:rPr lang="en-US" dirty="0"/>
              <a:t>Higher crop yields</a:t>
            </a:r>
          </a:p>
          <a:p>
            <a:pPr>
              <a:buFont typeface="Wingdings" panose="05000000000000000000" pitchFamily="2" charset="2"/>
              <a:buChar char="Ø"/>
            </a:pPr>
            <a:r>
              <a:rPr lang="en-US" dirty="0"/>
              <a:t>Reduced farm costs</a:t>
            </a:r>
          </a:p>
          <a:p>
            <a:pPr>
              <a:buFont typeface="Wingdings" panose="05000000000000000000" pitchFamily="2" charset="2"/>
              <a:buChar char="Ø"/>
            </a:pPr>
            <a:r>
              <a:rPr lang="en-US" dirty="0"/>
              <a:t>Increased farm profit</a:t>
            </a:r>
          </a:p>
          <a:p>
            <a:pPr>
              <a:buFont typeface="Wingdings" panose="05000000000000000000" pitchFamily="2" charset="2"/>
              <a:buChar char="Ø"/>
            </a:pPr>
            <a:r>
              <a:rPr lang="en-US" dirty="0"/>
              <a:t>Improvement in health and environment</a:t>
            </a:r>
            <a:endParaRPr lang="en-IN" dirty="0"/>
          </a:p>
        </p:txBody>
      </p:sp>
    </p:spTree>
    <p:extLst>
      <p:ext uri="{BB962C8B-B14F-4D97-AF65-F5344CB8AC3E}">
        <p14:creationId xmlns:p14="http://schemas.microsoft.com/office/powerpoint/2010/main" val="3823461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5BB06-DAB6-8E22-03F9-8A30AE027336}"/>
              </a:ext>
            </a:extLst>
          </p:cNvPr>
          <p:cNvSpPr>
            <a:spLocks noGrp="1"/>
          </p:cNvSpPr>
          <p:nvPr>
            <p:ph type="title"/>
          </p:nvPr>
        </p:nvSpPr>
        <p:spPr>
          <a:xfrm>
            <a:off x="838200" y="-635"/>
            <a:ext cx="10515600" cy="1325563"/>
          </a:xfrm>
        </p:spPr>
        <p:txBody>
          <a:bodyPr/>
          <a:lstStyle/>
          <a:p>
            <a:pPr algn="ctr"/>
            <a:r>
              <a:rPr lang="en-IN" dirty="0"/>
              <a:t>Common Genetically Modified Food:</a:t>
            </a:r>
          </a:p>
        </p:txBody>
      </p:sp>
      <p:sp>
        <p:nvSpPr>
          <p:cNvPr id="3" name="Content Placeholder 2">
            <a:extLst>
              <a:ext uri="{FF2B5EF4-FFF2-40B4-BE49-F238E27FC236}">
                <a16:creationId xmlns:a16="http://schemas.microsoft.com/office/drawing/2014/main" id="{858A532A-1220-0540-E1A8-54FCAC709A26}"/>
              </a:ext>
            </a:extLst>
          </p:cNvPr>
          <p:cNvSpPr>
            <a:spLocks noGrp="1"/>
          </p:cNvSpPr>
          <p:nvPr>
            <p:ph idx="1"/>
          </p:nvPr>
        </p:nvSpPr>
        <p:spPr>
          <a:xfrm>
            <a:off x="0" y="1117600"/>
            <a:ext cx="12192000" cy="5740400"/>
          </a:xfrm>
        </p:spPr>
        <p:txBody>
          <a:bodyPr/>
          <a:lstStyle/>
          <a:p>
            <a:pPr marL="514350" indent="-514350">
              <a:buAutoNum type="arabicParenR"/>
            </a:pPr>
            <a:r>
              <a:rPr lang="en-IN" dirty="0"/>
              <a:t>Soybean, Corn &amp; sugar-beet:- resistant to glyphosate by inserting herbicide resistant gene</a:t>
            </a:r>
          </a:p>
          <a:p>
            <a:pPr marL="0" indent="0">
              <a:buNone/>
            </a:pPr>
            <a:r>
              <a:rPr lang="en-IN" dirty="0"/>
              <a:t>2) Cottonseed oil:- by inserting pest resistant </a:t>
            </a:r>
            <a:r>
              <a:rPr lang="en-IN" dirty="0" err="1"/>
              <a:t>Bt</a:t>
            </a:r>
            <a:r>
              <a:rPr lang="en-IN" dirty="0"/>
              <a:t> crystal protein gene</a:t>
            </a:r>
          </a:p>
          <a:p>
            <a:pPr marL="0" indent="0">
              <a:buNone/>
            </a:pPr>
            <a:r>
              <a:rPr lang="en-IN" dirty="0"/>
              <a:t>3) Tomato:- by removing the gene that codes for polygalacturonase, responsible for softening of fruits after harvesting</a:t>
            </a:r>
          </a:p>
          <a:p>
            <a:pPr marL="0" indent="0">
              <a:buNone/>
            </a:pPr>
            <a:r>
              <a:rPr lang="en-IN" dirty="0"/>
              <a:t>4) Potatoes:- Amylopectin rich variety by switching off of GBSS (granule bound starch synthase) gene, responsible for amylose production.</a:t>
            </a:r>
          </a:p>
          <a:p>
            <a:pPr marL="0" indent="0">
              <a:buNone/>
            </a:pPr>
            <a:r>
              <a:rPr lang="en-IN" dirty="0"/>
              <a:t>5) Rapeseed (canola):- with high oleic acid content by adding new gene</a:t>
            </a:r>
          </a:p>
          <a:p>
            <a:pPr marL="0" indent="0">
              <a:buNone/>
            </a:pPr>
            <a:r>
              <a:rPr lang="en-IN" dirty="0"/>
              <a:t>6) Rice:- with high Vitamin A by inserting gene from daffodils</a:t>
            </a:r>
          </a:p>
        </p:txBody>
      </p:sp>
    </p:spTree>
    <p:extLst>
      <p:ext uri="{BB962C8B-B14F-4D97-AF65-F5344CB8AC3E}">
        <p14:creationId xmlns:p14="http://schemas.microsoft.com/office/powerpoint/2010/main" val="1035753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1C4C9-A936-7DA0-9622-0FC1181D4D58}"/>
              </a:ext>
            </a:extLst>
          </p:cNvPr>
          <p:cNvSpPr>
            <a:spLocks noGrp="1"/>
          </p:cNvSpPr>
          <p:nvPr>
            <p:ph type="title"/>
          </p:nvPr>
        </p:nvSpPr>
        <p:spPr>
          <a:xfrm>
            <a:off x="838200" y="-41275"/>
            <a:ext cx="10515600" cy="1325563"/>
          </a:xfrm>
        </p:spPr>
        <p:txBody>
          <a:bodyPr/>
          <a:lstStyle/>
          <a:p>
            <a:pPr algn="ctr"/>
            <a:r>
              <a:rPr lang="en-US" dirty="0"/>
              <a:t>Risk of Genetically Modified Food</a:t>
            </a:r>
            <a:endParaRPr lang="en-IN" dirty="0"/>
          </a:p>
        </p:txBody>
      </p:sp>
      <p:sp>
        <p:nvSpPr>
          <p:cNvPr id="3" name="Content Placeholder 2">
            <a:extLst>
              <a:ext uri="{FF2B5EF4-FFF2-40B4-BE49-F238E27FC236}">
                <a16:creationId xmlns:a16="http://schemas.microsoft.com/office/drawing/2014/main" id="{E3C9B8B5-0D4D-7304-7F69-1FA506BF2C3B}"/>
              </a:ext>
            </a:extLst>
          </p:cNvPr>
          <p:cNvSpPr>
            <a:spLocks noGrp="1"/>
          </p:cNvSpPr>
          <p:nvPr>
            <p:ph idx="1"/>
          </p:nvPr>
        </p:nvSpPr>
        <p:spPr>
          <a:xfrm>
            <a:off x="0" y="1107440"/>
            <a:ext cx="12192000" cy="5750560"/>
          </a:xfrm>
        </p:spPr>
        <p:txBody>
          <a:bodyPr>
            <a:normAutofit fontScale="92500" lnSpcReduction="10000"/>
          </a:bodyPr>
          <a:lstStyle/>
          <a:p>
            <a:pPr>
              <a:buFont typeface="Wingdings" panose="05000000000000000000" pitchFamily="2" charset="2"/>
              <a:buChar char="v"/>
            </a:pPr>
            <a:r>
              <a:rPr lang="en-US" dirty="0"/>
              <a:t>Risk of genetically modified food.</a:t>
            </a:r>
          </a:p>
          <a:p>
            <a:pPr>
              <a:buFont typeface="Wingdings" panose="05000000000000000000" pitchFamily="2" charset="2"/>
              <a:buChar char="Ø"/>
            </a:pPr>
            <a:r>
              <a:rPr lang="en-US" dirty="0"/>
              <a:t>Alteration in nutritional quality of foods</a:t>
            </a:r>
          </a:p>
          <a:p>
            <a:pPr>
              <a:buFont typeface="Wingdings" panose="05000000000000000000" pitchFamily="2" charset="2"/>
              <a:buChar char="Ø"/>
            </a:pPr>
            <a:r>
              <a:rPr lang="en-US" dirty="0"/>
              <a:t>Antibiotic resistance</a:t>
            </a:r>
          </a:p>
          <a:p>
            <a:pPr>
              <a:buFont typeface="Wingdings" panose="05000000000000000000" pitchFamily="2" charset="2"/>
              <a:buChar char="Ø"/>
            </a:pPr>
            <a:r>
              <a:rPr lang="en-US" dirty="0"/>
              <a:t>Potential toxicity from GM foods</a:t>
            </a:r>
          </a:p>
          <a:p>
            <a:pPr>
              <a:buFont typeface="Wingdings" panose="05000000000000000000" pitchFamily="2" charset="2"/>
              <a:buChar char="Ø"/>
            </a:pPr>
            <a:r>
              <a:rPr lang="en-US" dirty="0"/>
              <a:t>Potential allergenicity from GM foods</a:t>
            </a:r>
          </a:p>
          <a:p>
            <a:pPr>
              <a:buFont typeface="Wingdings" panose="05000000000000000000" pitchFamily="2" charset="2"/>
              <a:buChar char="Ø"/>
            </a:pPr>
            <a:r>
              <a:rPr lang="en-US" dirty="0"/>
              <a:t>Unintentional gene transfer to wild plants</a:t>
            </a:r>
          </a:p>
          <a:p>
            <a:pPr>
              <a:buFont typeface="Wingdings" panose="05000000000000000000" pitchFamily="2" charset="2"/>
              <a:buChar char="Ø"/>
            </a:pPr>
            <a:r>
              <a:rPr lang="en-US" dirty="0"/>
              <a:t>Possible creation of new viruses and toxins</a:t>
            </a:r>
          </a:p>
          <a:p>
            <a:pPr>
              <a:buFont typeface="Wingdings" panose="05000000000000000000" pitchFamily="2" charset="2"/>
              <a:buChar char="Ø"/>
            </a:pPr>
            <a:r>
              <a:rPr lang="en-US" dirty="0"/>
              <a:t>Limited access to seed through patenting of GM food plants</a:t>
            </a:r>
          </a:p>
          <a:p>
            <a:pPr>
              <a:buFont typeface="Wingdings" panose="05000000000000000000" pitchFamily="2" charset="2"/>
              <a:buChar char="Ø"/>
            </a:pPr>
            <a:r>
              <a:rPr lang="en-US" dirty="0"/>
              <a:t>Threat to crop genetic diversity</a:t>
            </a:r>
          </a:p>
          <a:p>
            <a:pPr>
              <a:buFont typeface="Wingdings" panose="05000000000000000000" pitchFamily="2" charset="2"/>
              <a:buChar char="Ø"/>
            </a:pPr>
            <a:r>
              <a:rPr lang="en-US" dirty="0"/>
              <a:t>Religious/cultural/ethical concerns</a:t>
            </a:r>
          </a:p>
          <a:p>
            <a:pPr>
              <a:buFont typeface="Wingdings" panose="05000000000000000000" pitchFamily="2" charset="2"/>
              <a:buChar char="Ø"/>
            </a:pPr>
            <a:r>
              <a:rPr lang="en-US" dirty="0"/>
              <a:t>Concerns for lack of labelling</a:t>
            </a:r>
          </a:p>
          <a:p>
            <a:pPr>
              <a:buFont typeface="Wingdings" panose="05000000000000000000" pitchFamily="2" charset="2"/>
              <a:buChar char="Ø"/>
            </a:pPr>
            <a:r>
              <a:rPr lang="en-US" dirty="0"/>
              <a:t>Concerns of animal rights group</a:t>
            </a:r>
          </a:p>
          <a:p>
            <a:pPr>
              <a:buFont typeface="Wingdings" panose="05000000000000000000" pitchFamily="2" charset="2"/>
              <a:buChar char="Ø"/>
            </a:pPr>
            <a:r>
              <a:rPr lang="en-US" dirty="0"/>
              <a:t>Fear of the unknown</a:t>
            </a:r>
            <a:endParaRPr lang="en-IN" dirty="0"/>
          </a:p>
        </p:txBody>
      </p:sp>
    </p:spTree>
    <p:extLst>
      <p:ext uri="{BB962C8B-B14F-4D97-AF65-F5344CB8AC3E}">
        <p14:creationId xmlns:p14="http://schemas.microsoft.com/office/powerpoint/2010/main" val="2966440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E6D80-53C2-2A18-86B4-1FE8D14297DD}"/>
              </a:ext>
            </a:extLst>
          </p:cNvPr>
          <p:cNvSpPr>
            <a:spLocks noGrp="1"/>
          </p:cNvSpPr>
          <p:nvPr>
            <p:ph type="title"/>
          </p:nvPr>
        </p:nvSpPr>
        <p:spPr>
          <a:xfrm>
            <a:off x="838200" y="-102235"/>
            <a:ext cx="10515600" cy="1325563"/>
          </a:xfrm>
        </p:spPr>
        <p:txBody>
          <a:bodyPr/>
          <a:lstStyle/>
          <a:p>
            <a:pPr algn="ctr"/>
            <a:r>
              <a:rPr lang="en-US" dirty="0"/>
              <a:t>HACCP</a:t>
            </a:r>
            <a:endParaRPr lang="en-IN" dirty="0"/>
          </a:p>
        </p:txBody>
      </p:sp>
      <p:sp>
        <p:nvSpPr>
          <p:cNvPr id="3" name="Content Placeholder 2">
            <a:extLst>
              <a:ext uri="{FF2B5EF4-FFF2-40B4-BE49-F238E27FC236}">
                <a16:creationId xmlns:a16="http://schemas.microsoft.com/office/drawing/2014/main" id="{FDFF8F8D-D906-F11B-4625-77BF8709C309}"/>
              </a:ext>
            </a:extLst>
          </p:cNvPr>
          <p:cNvSpPr>
            <a:spLocks noGrp="1"/>
          </p:cNvSpPr>
          <p:nvPr>
            <p:ph idx="1"/>
          </p:nvPr>
        </p:nvSpPr>
        <p:spPr>
          <a:xfrm>
            <a:off x="0" y="985520"/>
            <a:ext cx="12192000" cy="5872480"/>
          </a:xfrm>
        </p:spPr>
        <p:txBody>
          <a:bodyPr>
            <a:normAutofit fontScale="92500" lnSpcReduction="20000"/>
          </a:bodyPr>
          <a:lstStyle/>
          <a:p>
            <a:pPr>
              <a:buFont typeface="Wingdings" panose="05000000000000000000" pitchFamily="2" charset="2"/>
              <a:buChar char="v"/>
            </a:pPr>
            <a:r>
              <a:rPr lang="en-US" b="0" i="0" dirty="0">
                <a:effectLst/>
                <a:latin typeface="Google Sans"/>
              </a:rPr>
              <a:t>HACCP, which stands for </a:t>
            </a:r>
            <a:r>
              <a:rPr lang="en-US" b="1" i="1" u="sng" dirty="0">
                <a:effectLst/>
                <a:latin typeface="Google Sans"/>
              </a:rPr>
              <a:t>Hazard Analysis and Critical Control Points</a:t>
            </a:r>
            <a:r>
              <a:rPr lang="en-US" b="0" i="0" dirty="0">
                <a:effectLst/>
                <a:latin typeface="Google Sans"/>
              </a:rPr>
              <a:t>, is a food safety management system that proactively identifies and controls potential hazards in food production to ensure food safety from raw materials to consumption. It's a systematic approach that focuses on prevention rather than reaction, aiming to minimize or eliminate hazards like biological, chemical, and physical risks. </a:t>
            </a:r>
          </a:p>
          <a:p>
            <a:pPr>
              <a:buFont typeface="Wingdings" panose="05000000000000000000" pitchFamily="2" charset="2"/>
              <a:buChar char="v"/>
            </a:pPr>
            <a:r>
              <a:rPr lang="en-US" dirty="0">
                <a:latin typeface="Google Sans"/>
              </a:rPr>
              <a:t>Importance of HACCP:</a:t>
            </a:r>
            <a:endParaRPr lang="en-US" b="0" i="0" dirty="0">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Google Sans"/>
              </a:rPr>
              <a:t>Food Safety:</a:t>
            </a:r>
            <a:endParaRPr kumimoji="0" lang="en-US" altLang="en-US" sz="2800" b="0" i="0" u="none" strike="noStrike" cap="none" normalizeH="0" baseline="0" dirty="0">
              <a:ln>
                <a:noFill/>
              </a:ln>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Google Sans"/>
              </a:rPr>
              <a:t>HACCP helps ensure that food is safe for consumption by preventing or minimizing potential hazards.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Google Sans"/>
              </a:rPr>
              <a:t>Cost-Effective:</a:t>
            </a:r>
            <a:endParaRPr kumimoji="0" lang="en-US" altLang="en-US" sz="2800" b="0" i="0" u="none" strike="noStrike" cap="none" normalizeH="0" baseline="0" dirty="0">
              <a:ln>
                <a:noFill/>
              </a:ln>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Google Sans"/>
              </a:rPr>
              <a:t>By focusing on prevention, HACCP can reduce the cost of recalls and customer complaints associated with food safety incidents.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Google Sans"/>
              </a:rPr>
              <a:t>Compliance:</a:t>
            </a:r>
            <a:endParaRPr kumimoji="0" lang="en-US" altLang="en-US" sz="2800" b="0" i="0" u="none" strike="noStrike" cap="none" normalizeH="0" baseline="0" dirty="0">
              <a:ln>
                <a:noFill/>
              </a:ln>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Google Sans"/>
              </a:rPr>
              <a:t>HACCP is often a requirement for food businesses to comply with regulations and standards.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effectLst/>
                <a:latin typeface="Google Sans"/>
              </a:rPr>
              <a:t>International Recognition:</a:t>
            </a:r>
            <a:endParaRPr kumimoji="0" lang="en-US" altLang="en-US" sz="2800" b="0" i="0" u="none" strike="noStrike" cap="none" normalizeH="0" baseline="0" dirty="0">
              <a:ln>
                <a:noFill/>
              </a:ln>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Google Sans"/>
              </a:rPr>
              <a:t>HACCP is an internationally recognized standard for food safety and is endorsed by organizations like the FAO/WHO Codex Alimentarius Commission. </a:t>
            </a:r>
            <a:endParaRPr kumimoji="0" lang="en-US" altLang="en-US" sz="4000" b="0" i="0" u="none" strike="noStrike" cap="none" normalizeH="0" baseline="0" dirty="0">
              <a:ln>
                <a:noFill/>
              </a:ln>
              <a:effectLst/>
              <a:latin typeface="Arial" panose="020B0604020202020204" pitchFamily="34" charset="0"/>
            </a:endParaRPr>
          </a:p>
          <a:p>
            <a:pPr marL="0" indent="0">
              <a:buNone/>
            </a:pPr>
            <a:endParaRPr lang="en-US" b="0" i="0" dirty="0">
              <a:effectLst/>
              <a:latin typeface="Google Sans"/>
            </a:endParaRPr>
          </a:p>
          <a:p>
            <a:endParaRPr lang="en-IN" dirty="0"/>
          </a:p>
        </p:txBody>
      </p:sp>
      <p:sp>
        <p:nvSpPr>
          <p:cNvPr id="13" name="Rectangle 7">
            <a:extLst>
              <a:ext uri="{FF2B5EF4-FFF2-40B4-BE49-F238E27FC236}">
                <a16:creationId xmlns:a16="http://schemas.microsoft.com/office/drawing/2014/main" id="{D9D88A69-993B-5462-4756-5D9BE63BBA6D}"/>
              </a:ext>
            </a:extLst>
          </p:cNvPr>
          <p:cNvSpPr>
            <a:spLocks noChangeArrowheads="1"/>
          </p:cNvSpPr>
          <p:nvPr/>
        </p:nvSpPr>
        <p:spPr bwMode="auto">
          <a:xfrm>
            <a:off x="0" y="-234649"/>
            <a:ext cx="65" cy="46929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3704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TotalTime>
  <Words>552</Words>
  <Application>Microsoft Office PowerPoint</Application>
  <PresentationFormat>Widescreen</PresentationFormat>
  <Paragraphs>60</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French Script MT</vt:lpstr>
      <vt:lpstr>Google Sans</vt:lpstr>
      <vt:lpstr>Wingdings</vt:lpstr>
      <vt:lpstr>Office Theme</vt:lpstr>
      <vt:lpstr>Genetically Modified Food</vt:lpstr>
      <vt:lpstr>What is Genetically Modified Food</vt:lpstr>
      <vt:lpstr>Why To Produce GM Food?</vt:lpstr>
      <vt:lpstr>Common Genetically Modified Food:</vt:lpstr>
      <vt:lpstr>Risk of Genetically Modified Food</vt:lpstr>
      <vt:lpstr>HACCP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Soumitra Das</dc:creator>
  <cp:lastModifiedBy>Soumitra Das</cp:lastModifiedBy>
  <cp:revision>3</cp:revision>
  <dcterms:created xsi:type="dcterms:W3CDTF">2025-04-17T14:19:48Z</dcterms:created>
  <dcterms:modified xsi:type="dcterms:W3CDTF">2025-04-19T07:45:10Z</dcterms:modified>
</cp:coreProperties>
</file>