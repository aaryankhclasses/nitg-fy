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 id="279" r:id="rId14"/>
    <p:sldId id="278" r:id="rId15"/>
    <p:sldId id="280" r:id="rId16"/>
    <p:sldId id="281" r:id="rId17"/>
    <p:sldId id="282" r:id="rId18"/>
    <p:sldId id="283"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60E7-A9C9-A256-8A1C-9A21835F3C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872D81-293A-722C-386D-81D9FE458D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594D9D-5E4F-5088-DFCB-69DD3DB9CC1F}"/>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5" name="Footer Placeholder 4">
            <a:extLst>
              <a:ext uri="{FF2B5EF4-FFF2-40B4-BE49-F238E27FC236}">
                <a16:creationId xmlns:a16="http://schemas.microsoft.com/office/drawing/2014/main" id="{FD953421-739C-C2F8-32C4-F0994E6496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9F1872-BB8F-C2AA-7F3C-836056ACF01F}"/>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871355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49DF3-B7F9-F742-BC86-E9543D15FF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F6BCF5-0B8F-B5DD-9682-8FD8D332E5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EBECD3-BECB-0590-CD4F-DE51152BF059}"/>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5" name="Footer Placeholder 4">
            <a:extLst>
              <a:ext uri="{FF2B5EF4-FFF2-40B4-BE49-F238E27FC236}">
                <a16:creationId xmlns:a16="http://schemas.microsoft.com/office/drawing/2014/main" id="{4410217F-867D-159F-8F4E-73198B1A82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15EB10-8787-B96A-10C7-6D9244046C2B}"/>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3157688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D542F-5D6A-B43A-65F6-EA054FE717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118E56-A881-7671-466D-3A3677AF5F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EE3722-6F1D-38CC-5DCB-268B1DA2F452}"/>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5" name="Footer Placeholder 4">
            <a:extLst>
              <a:ext uri="{FF2B5EF4-FFF2-40B4-BE49-F238E27FC236}">
                <a16:creationId xmlns:a16="http://schemas.microsoft.com/office/drawing/2014/main" id="{34D7BAA6-00D6-8151-0BEF-8C7D5D7E6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5AE4B0-077D-AF27-0216-3BAC1CB4E512}"/>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2102823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25CE4-0BA0-208E-C52D-6F43AE0306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A64545-1EE1-A0FA-8AEE-FAE36F79AD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7B7F67-0BC7-FF0D-2941-D2832672A8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F023D5-376A-B8F8-EB94-6C015128EB73}"/>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6" name="Footer Placeholder 5">
            <a:extLst>
              <a:ext uri="{FF2B5EF4-FFF2-40B4-BE49-F238E27FC236}">
                <a16:creationId xmlns:a16="http://schemas.microsoft.com/office/drawing/2014/main" id="{11F4427C-40BD-7A04-F6F9-ACEA11C267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5B7DBF-E0AE-FB16-6F86-649A08A98D37}"/>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1197459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A663-C6D1-A7EE-7000-0CEE7CDCA6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C5336D-99AA-B265-710B-EBD974BF1D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4E71F0-3FCD-2504-8BE6-9321802988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28E88A-69AA-3211-7C27-E514CEAB7E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7F4BC-DFCA-ACB2-94B6-1C560CBDD6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820853-8A78-FBDA-D7D2-53A70A888DE5}"/>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8" name="Footer Placeholder 7">
            <a:extLst>
              <a:ext uri="{FF2B5EF4-FFF2-40B4-BE49-F238E27FC236}">
                <a16:creationId xmlns:a16="http://schemas.microsoft.com/office/drawing/2014/main" id="{D73044F7-F56A-1A53-6A71-F1493DBB45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7C48F0-04A5-6EFA-5AE4-C434C3308566}"/>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29956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8F49-4D1F-E28D-8962-23B0086602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A0AF60-4A10-F3EC-9E6C-04E2C6346E9A}"/>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4" name="Footer Placeholder 3">
            <a:extLst>
              <a:ext uri="{FF2B5EF4-FFF2-40B4-BE49-F238E27FC236}">
                <a16:creationId xmlns:a16="http://schemas.microsoft.com/office/drawing/2014/main" id="{1BB3E730-2E23-8301-7502-9E078CA82A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38F3D0-E33C-C41B-B33E-67167ABA781E}"/>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81066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ADA9F2-6E98-3D07-BDCD-163662C672B2}"/>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3" name="Footer Placeholder 2">
            <a:extLst>
              <a:ext uri="{FF2B5EF4-FFF2-40B4-BE49-F238E27FC236}">
                <a16:creationId xmlns:a16="http://schemas.microsoft.com/office/drawing/2014/main" id="{22020DFD-DD9C-8800-1149-15577F1CEDC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5284FB4-05DD-B538-9579-67CB8D1C7062}"/>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3101961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C6F65-9132-D788-69F7-B217C6BE18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3760EC-5BEF-F63D-6699-D145A19A30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A53FF8-ED9A-E86A-E189-63863DE481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849DF6-D0F0-6FE9-D0B8-2233ABA6AA53}"/>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6" name="Footer Placeholder 5">
            <a:extLst>
              <a:ext uri="{FF2B5EF4-FFF2-40B4-BE49-F238E27FC236}">
                <a16:creationId xmlns:a16="http://schemas.microsoft.com/office/drawing/2014/main" id="{D3176D23-10BC-296B-E9C9-15DCC0A21D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75D4C3-E689-92B1-6AD5-4CD9998FB07D}"/>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3810444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6F20-DE64-985D-A268-BFDDE2445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403DA6-6309-1F06-1876-E58D130F17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E389BF-286B-5AA9-B4B2-F3AA25CB99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CC32B6-F11D-08AC-6BB4-E9F5B3E82CD9}"/>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6" name="Footer Placeholder 5">
            <a:extLst>
              <a:ext uri="{FF2B5EF4-FFF2-40B4-BE49-F238E27FC236}">
                <a16:creationId xmlns:a16="http://schemas.microsoft.com/office/drawing/2014/main" id="{A5818992-CB80-B8E0-96B0-90320CEB2E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211983-D034-8526-1C1C-3A8AB536B225}"/>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1479181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D5EA-780B-F906-CB2B-A9888385B19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520172-15E1-6BF9-6336-3772A1E4D4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AE25B8-C84D-7CDF-F172-7F513DD633D3}"/>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5" name="Footer Placeholder 4">
            <a:extLst>
              <a:ext uri="{FF2B5EF4-FFF2-40B4-BE49-F238E27FC236}">
                <a16:creationId xmlns:a16="http://schemas.microsoft.com/office/drawing/2014/main" id="{DD727B8F-7CE6-C829-6E2D-E51C86D98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97E479-80B6-6FB1-13D7-0DBAB97C4CA7}"/>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350346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B553FB-1916-44F5-5391-687668FAB5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3E21FF-054C-F166-AF7D-905B0DDC31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911515-A381-B2BE-2A3B-8F0BCC00A3D9}"/>
              </a:ext>
            </a:extLst>
          </p:cNvPr>
          <p:cNvSpPr>
            <a:spLocks noGrp="1"/>
          </p:cNvSpPr>
          <p:nvPr>
            <p:ph type="dt" sz="half" idx="10"/>
          </p:nvPr>
        </p:nvSpPr>
        <p:spPr/>
        <p:txBody>
          <a:bodyPr/>
          <a:lstStyle/>
          <a:p>
            <a:fld id="{4DF7F8B8-5B8D-4772-B866-318CF4F38E44}" type="datetimeFigureOut">
              <a:rPr lang="en-IN" smtClean="0"/>
              <a:t>02-12-2024</a:t>
            </a:fld>
            <a:endParaRPr lang="en-IN"/>
          </a:p>
        </p:txBody>
      </p:sp>
      <p:sp>
        <p:nvSpPr>
          <p:cNvPr id="5" name="Footer Placeholder 4">
            <a:extLst>
              <a:ext uri="{FF2B5EF4-FFF2-40B4-BE49-F238E27FC236}">
                <a16:creationId xmlns:a16="http://schemas.microsoft.com/office/drawing/2014/main" id="{391A0703-E6E5-8D52-C2D0-BE14251A02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0AB5DF-8731-A23C-692F-AE7652ED5CD3}"/>
              </a:ext>
            </a:extLst>
          </p:cNvPr>
          <p:cNvSpPr>
            <a:spLocks noGrp="1"/>
          </p:cNvSpPr>
          <p:nvPr>
            <p:ph type="sldNum" sz="quarter" idx="12"/>
          </p:nvPr>
        </p:nvSpPr>
        <p:spPr/>
        <p:txBody>
          <a:bodyPr/>
          <a:lstStyle/>
          <a:p>
            <a:fld id="{F45A0071-842F-4DC0-89F9-292827D1884D}" type="slidenum">
              <a:rPr lang="en-IN" smtClean="0"/>
              <a:t>‹#›</a:t>
            </a:fld>
            <a:endParaRPr lang="en-IN"/>
          </a:p>
        </p:txBody>
      </p:sp>
    </p:spTree>
    <p:extLst>
      <p:ext uri="{BB962C8B-B14F-4D97-AF65-F5344CB8AC3E}">
        <p14:creationId xmlns:p14="http://schemas.microsoft.com/office/powerpoint/2010/main" val="3043680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11DCCD-03C6-62FE-998E-8AEF9A22A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D6A3E1-50A3-781A-7677-E4ACF74CEC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B99E62-875C-64CF-F003-4936EE9BDD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F7F8B8-5B8D-4772-B866-318CF4F38E44}" type="datetimeFigureOut">
              <a:rPr lang="en-IN" smtClean="0"/>
              <a:t>02-12-2024</a:t>
            </a:fld>
            <a:endParaRPr lang="en-IN"/>
          </a:p>
        </p:txBody>
      </p:sp>
      <p:sp>
        <p:nvSpPr>
          <p:cNvPr id="5" name="Footer Placeholder 4">
            <a:extLst>
              <a:ext uri="{FF2B5EF4-FFF2-40B4-BE49-F238E27FC236}">
                <a16:creationId xmlns:a16="http://schemas.microsoft.com/office/drawing/2014/main" id="{1571767C-035C-563A-29B0-75BA7789DE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EA00A7-6341-82B0-0E46-1076ACF2DE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5A0071-842F-4DC0-89F9-292827D1884D}" type="slidenum">
              <a:rPr lang="en-IN" smtClean="0"/>
              <a:t>‹#›</a:t>
            </a:fld>
            <a:endParaRPr lang="en-IN"/>
          </a:p>
        </p:txBody>
      </p:sp>
    </p:spTree>
    <p:extLst>
      <p:ext uri="{BB962C8B-B14F-4D97-AF65-F5344CB8AC3E}">
        <p14:creationId xmlns:p14="http://schemas.microsoft.com/office/powerpoint/2010/main" val="2687610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1DDC-3311-D873-961D-6A32F8340A71}"/>
              </a:ext>
            </a:extLst>
          </p:cNvPr>
          <p:cNvSpPr>
            <a:spLocks noGrp="1"/>
          </p:cNvSpPr>
          <p:nvPr>
            <p:ph type="ctrTitle"/>
          </p:nvPr>
        </p:nvSpPr>
        <p:spPr>
          <a:xfrm>
            <a:off x="1524000" y="1122363"/>
            <a:ext cx="9144000" cy="990917"/>
          </a:xfrm>
        </p:spPr>
        <p:txBody>
          <a:bodyPr>
            <a:noAutofit/>
          </a:bodyPr>
          <a:lstStyle/>
          <a:p>
            <a:r>
              <a:rPr lang="en-US" sz="7200" b="1" dirty="0">
                <a:solidFill>
                  <a:srgbClr val="003366"/>
                </a:solidFill>
                <a:effectLst>
                  <a:outerShdw blurRad="38100" dist="38100" dir="2700000" algn="tl">
                    <a:srgbClr val="000000">
                      <a:alpha val="43137"/>
                    </a:srgbClr>
                  </a:outerShdw>
                </a:effectLst>
                <a:latin typeface="French Script MT" panose="03020402040607040605" pitchFamily="66" charset="0"/>
              </a:rPr>
              <a:t>Yoga</a:t>
            </a:r>
            <a:endParaRPr lang="en-IN" sz="7200" b="1" dirty="0">
              <a:solidFill>
                <a:srgbClr val="003366"/>
              </a:solidFill>
              <a:effectLst>
                <a:outerShdw blurRad="38100" dist="38100" dir="2700000" algn="tl">
                  <a:srgbClr val="000000">
                    <a:alpha val="43137"/>
                  </a:srgbClr>
                </a:outerShdw>
              </a:effectLst>
              <a:latin typeface="French Script MT" panose="03020402040607040605" pitchFamily="66" charset="0"/>
            </a:endParaRPr>
          </a:p>
        </p:txBody>
      </p:sp>
      <p:sp>
        <p:nvSpPr>
          <p:cNvPr id="3" name="Subtitle 2">
            <a:extLst>
              <a:ext uri="{FF2B5EF4-FFF2-40B4-BE49-F238E27FC236}">
                <a16:creationId xmlns:a16="http://schemas.microsoft.com/office/drawing/2014/main" id="{958F2F1C-DDDB-3A6E-1AF8-318AF57AC350}"/>
              </a:ext>
            </a:extLst>
          </p:cNvPr>
          <p:cNvSpPr>
            <a:spLocks noGrp="1"/>
          </p:cNvSpPr>
          <p:nvPr>
            <p:ph type="subTitle" idx="1"/>
          </p:nvPr>
        </p:nvSpPr>
        <p:spPr/>
        <p:txBody>
          <a:bodyPr>
            <a:normAutofit fontScale="77500" lnSpcReduction="20000"/>
          </a:bodyPr>
          <a:lstStyle/>
          <a:p>
            <a:r>
              <a:rPr lang="en-US" b="1" dirty="0" err="1"/>
              <a:t>Sanghamitra</a:t>
            </a:r>
            <a:r>
              <a:rPr lang="en-US" b="1" dirty="0"/>
              <a:t> Samanta</a:t>
            </a:r>
          </a:p>
          <a:p>
            <a:r>
              <a:rPr lang="en-US" dirty="0"/>
              <a:t>Guest Lecturer</a:t>
            </a:r>
          </a:p>
          <a:p>
            <a:r>
              <a:rPr lang="en-US" dirty="0"/>
              <a:t>Department of Humanities and Social Science,</a:t>
            </a:r>
          </a:p>
          <a:p>
            <a:r>
              <a:rPr lang="en-US" dirty="0"/>
              <a:t>National Institute of Technology, Goa</a:t>
            </a:r>
          </a:p>
          <a:p>
            <a:r>
              <a:rPr lang="en-US" dirty="0" err="1"/>
              <a:t>Cuncolim</a:t>
            </a:r>
            <a:r>
              <a:rPr lang="en-US" dirty="0"/>
              <a:t>, South Goa, Goa-403703</a:t>
            </a:r>
          </a:p>
          <a:p>
            <a:endParaRPr lang="en-IN" b="1" dirty="0"/>
          </a:p>
        </p:txBody>
      </p:sp>
    </p:spTree>
    <p:extLst>
      <p:ext uri="{BB962C8B-B14F-4D97-AF65-F5344CB8AC3E}">
        <p14:creationId xmlns:p14="http://schemas.microsoft.com/office/powerpoint/2010/main" val="15268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425BB-238C-960E-A683-6A44146F878C}"/>
              </a:ext>
            </a:extLst>
          </p:cNvPr>
          <p:cNvSpPr>
            <a:spLocks noGrp="1"/>
          </p:cNvSpPr>
          <p:nvPr>
            <p:ph type="title"/>
          </p:nvPr>
        </p:nvSpPr>
        <p:spPr>
          <a:xfrm>
            <a:off x="838200" y="-102235"/>
            <a:ext cx="10515600" cy="1325563"/>
          </a:xfrm>
        </p:spPr>
        <p:txBody>
          <a:bodyPr/>
          <a:lstStyle/>
          <a:p>
            <a:pPr algn="ctr"/>
            <a:r>
              <a:rPr lang="en-US" dirty="0"/>
              <a:t>What is Yoga?</a:t>
            </a:r>
            <a:endParaRPr lang="en-IN" dirty="0"/>
          </a:p>
        </p:txBody>
      </p:sp>
      <p:sp>
        <p:nvSpPr>
          <p:cNvPr id="3" name="Content Placeholder 2">
            <a:extLst>
              <a:ext uri="{FF2B5EF4-FFF2-40B4-BE49-F238E27FC236}">
                <a16:creationId xmlns:a16="http://schemas.microsoft.com/office/drawing/2014/main" id="{8AC435DB-A37D-6E7A-C8B3-F62C621F0B4E}"/>
              </a:ext>
            </a:extLst>
          </p:cNvPr>
          <p:cNvSpPr>
            <a:spLocks noGrp="1"/>
          </p:cNvSpPr>
          <p:nvPr>
            <p:ph idx="1"/>
          </p:nvPr>
        </p:nvSpPr>
        <p:spPr>
          <a:xfrm>
            <a:off x="0" y="1036320"/>
            <a:ext cx="12192000" cy="5821680"/>
          </a:xfrm>
        </p:spPr>
        <p:txBody>
          <a:bodyPr>
            <a:normAutofit fontScale="85000" lnSpcReduction="20000"/>
          </a:bodyPr>
          <a:lstStyle/>
          <a:p>
            <a:r>
              <a:rPr lang="en-US" dirty="0"/>
              <a:t>Yoga is an ancient Indian practice that combines physical postures, breathing exercises, and meditation to improve health and promote harmony between the mind and body: </a:t>
            </a:r>
          </a:p>
          <a:p>
            <a:r>
              <a:rPr lang="en-US" dirty="0"/>
              <a:t>Definition: The word "yoga" comes from the Sanskrit word </a:t>
            </a:r>
            <a:r>
              <a:rPr lang="en-US" dirty="0" err="1"/>
              <a:t>yuj</a:t>
            </a:r>
            <a:r>
              <a:rPr lang="en-US" dirty="0"/>
              <a:t>, which means "to join" or "to yoke". </a:t>
            </a:r>
          </a:p>
          <a:p>
            <a:r>
              <a:rPr lang="en-US" dirty="0"/>
              <a:t>Purpose: Yoga's goal is to achieve self-realization and liberation from suffering. </a:t>
            </a:r>
          </a:p>
          <a:p>
            <a:r>
              <a:rPr lang="en-US" dirty="0"/>
              <a:t>History: Yoga originated as a spiritual practice thousands of years ago. </a:t>
            </a:r>
          </a:p>
          <a:p>
            <a:r>
              <a:rPr lang="en-US" dirty="0"/>
              <a:t>Practice: In the United States, yoga typically focuses on physical postures (asanas), breathing techniques (pranayama), and meditation (</a:t>
            </a:r>
            <a:r>
              <a:rPr lang="en-US" dirty="0" err="1"/>
              <a:t>dyana</a:t>
            </a:r>
            <a:r>
              <a:rPr lang="en-US" dirty="0"/>
              <a:t>). </a:t>
            </a:r>
          </a:p>
          <a:p>
            <a:r>
              <a:rPr lang="en-US" dirty="0"/>
              <a:t>Styles: There are many different styles of yoga, ranging from gentle to demanding. </a:t>
            </a:r>
          </a:p>
          <a:p>
            <a:r>
              <a:rPr lang="en-US" dirty="0"/>
              <a:t>Other practices: Yoga is sometimes called a "meditative movement" practice, along with tai chi and qigong. </a:t>
            </a:r>
          </a:p>
          <a:p>
            <a:r>
              <a:rPr lang="en-US" dirty="0"/>
              <a:t>Yoga is one of the six classical schools (</a:t>
            </a:r>
            <a:r>
              <a:rPr lang="en-US" dirty="0" err="1"/>
              <a:t>Darshanas</a:t>
            </a:r>
            <a:r>
              <a:rPr lang="en-US" dirty="0"/>
              <a:t>) of Indian philosophy. It's rooted in the idea that the individual self can be unified with the universal self. Some types of yoga include: </a:t>
            </a:r>
          </a:p>
          <a:p>
            <a:r>
              <a:rPr lang="en-US" dirty="0"/>
              <a:t>Karma Yoga: The Path of Action Bhakti Yoga: The Path of Devotion to </a:t>
            </a:r>
            <a:r>
              <a:rPr lang="en-US" dirty="0" err="1"/>
              <a:t>Ishvar</a:t>
            </a:r>
            <a:r>
              <a:rPr lang="en-US" dirty="0"/>
              <a:t> (God) </a:t>
            </a:r>
          </a:p>
          <a:p>
            <a:r>
              <a:rPr lang="en-US" dirty="0"/>
              <a:t>Jnana Yoga: The Path of Knowledge </a:t>
            </a:r>
          </a:p>
          <a:p>
            <a:r>
              <a:rPr lang="en-US" dirty="0" err="1"/>
              <a:t>Viniyoga</a:t>
            </a:r>
            <a:r>
              <a:rPr lang="en-US" dirty="0"/>
              <a:t>: Focuses on form over function, breath and adaptation, repetition and holding, and sequencing</a:t>
            </a:r>
            <a:endParaRPr lang="en-IN" dirty="0"/>
          </a:p>
        </p:txBody>
      </p:sp>
    </p:spTree>
    <p:extLst>
      <p:ext uri="{BB962C8B-B14F-4D97-AF65-F5344CB8AC3E}">
        <p14:creationId xmlns:p14="http://schemas.microsoft.com/office/powerpoint/2010/main" val="185583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133E3-55A4-FF61-3DD8-CC021F700384}"/>
              </a:ext>
            </a:extLst>
          </p:cNvPr>
          <p:cNvSpPr>
            <a:spLocks noGrp="1"/>
          </p:cNvSpPr>
          <p:nvPr>
            <p:ph type="title"/>
          </p:nvPr>
        </p:nvSpPr>
        <p:spPr>
          <a:xfrm>
            <a:off x="838200" y="-183515"/>
            <a:ext cx="10515600" cy="1325563"/>
          </a:xfrm>
        </p:spPr>
        <p:txBody>
          <a:bodyPr/>
          <a:lstStyle/>
          <a:p>
            <a:pPr algn="ctr"/>
            <a:r>
              <a:rPr lang="en-US" dirty="0"/>
              <a:t>Advantages Of Yoga</a:t>
            </a:r>
            <a:endParaRPr lang="en-IN" dirty="0"/>
          </a:p>
        </p:txBody>
      </p:sp>
      <p:sp>
        <p:nvSpPr>
          <p:cNvPr id="3" name="Content Placeholder 2">
            <a:extLst>
              <a:ext uri="{FF2B5EF4-FFF2-40B4-BE49-F238E27FC236}">
                <a16:creationId xmlns:a16="http://schemas.microsoft.com/office/drawing/2014/main" id="{4EE98C88-815C-C422-4D5F-294325382868}"/>
              </a:ext>
            </a:extLst>
          </p:cNvPr>
          <p:cNvSpPr>
            <a:spLocks noGrp="1"/>
          </p:cNvSpPr>
          <p:nvPr>
            <p:ph idx="1"/>
          </p:nvPr>
        </p:nvSpPr>
        <p:spPr>
          <a:xfrm>
            <a:off x="0" y="1005840"/>
            <a:ext cx="12192000" cy="5963920"/>
          </a:xfrm>
        </p:spPr>
        <p:txBody>
          <a:bodyPr>
            <a:normAutofit lnSpcReduction="10000"/>
          </a:bodyPr>
          <a:lstStyle/>
          <a:p>
            <a:r>
              <a:rPr lang="en-US" dirty="0"/>
              <a:t>Yoga has many advantages, including:</a:t>
            </a:r>
          </a:p>
          <a:p>
            <a:r>
              <a:rPr lang="en-US" dirty="0"/>
              <a:t>Physical health: Yoga can improve flexibility, balance, strength, muscle tone, and posture. It can also help with respiration, metabolism, and cardio and circulatory health. </a:t>
            </a:r>
          </a:p>
          <a:p>
            <a:r>
              <a:rPr lang="en-US" dirty="0"/>
              <a:t>Mental health: Yoga can reduce stress and anxiety, and improve mental health and well-being. It can also help with depression and burnout. </a:t>
            </a:r>
          </a:p>
          <a:p>
            <a:r>
              <a:rPr lang="en-US" dirty="0"/>
              <a:t>Sleep: Yoga can improve sleep quality. </a:t>
            </a:r>
          </a:p>
          <a:p>
            <a:r>
              <a:rPr lang="en-US" dirty="0"/>
              <a:t>Brain development: Yoga can help with brain development, memory, and concentration. </a:t>
            </a:r>
          </a:p>
          <a:p>
            <a:r>
              <a:rPr lang="en-US" dirty="0"/>
              <a:t>Other benefits: Yoga can help with immunity, eye strain, headaches, motivation, and productivity. It can also help with aging in a healthy way. </a:t>
            </a:r>
          </a:p>
          <a:p>
            <a:r>
              <a:rPr lang="en-US" dirty="0"/>
              <a:t>Yoga is an ancient practice that combines physical poses, breathing exercises, and meditation. The word yoga comes from the Sanskrit word </a:t>
            </a:r>
            <a:r>
              <a:rPr lang="en-US" dirty="0" err="1"/>
              <a:t>yuj</a:t>
            </a:r>
            <a:r>
              <a:rPr lang="en-US" dirty="0"/>
              <a:t>, which means "to join or yoke together".</a:t>
            </a:r>
            <a:endParaRPr lang="en-IN" dirty="0"/>
          </a:p>
        </p:txBody>
      </p:sp>
    </p:spTree>
    <p:extLst>
      <p:ext uri="{BB962C8B-B14F-4D97-AF65-F5344CB8AC3E}">
        <p14:creationId xmlns:p14="http://schemas.microsoft.com/office/powerpoint/2010/main" val="2775775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3E538-1CB7-9EBE-A58C-1F72FF06C974}"/>
              </a:ext>
            </a:extLst>
          </p:cNvPr>
          <p:cNvSpPr>
            <a:spLocks noGrp="1"/>
          </p:cNvSpPr>
          <p:nvPr>
            <p:ph type="title"/>
          </p:nvPr>
        </p:nvSpPr>
        <p:spPr/>
        <p:txBody>
          <a:bodyPr/>
          <a:lstStyle/>
          <a:p>
            <a:pPr algn="ctr"/>
            <a:r>
              <a:rPr lang="en-US" dirty="0"/>
              <a:t>Ashtanga Yoga</a:t>
            </a:r>
            <a:endParaRPr lang="en-IN" dirty="0"/>
          </a:p>
        </p:txBody>
      </p:sp>
      <p:sp>
        <p:nvSpPr>
          <p:cNvPr id="3" name="Content Placeholder 2">
            <a:extLst>
              <a:ext uri="{FF2B5EF4-FFF2-40B4-BE49-F238E27FC236}">
                <a16:creationId xmlns:a16="http://schemas.microsoft.com/office/drawing/2014/main" id="{5D5BDB0C-AAAA-68FC-B5C5-B0DFB4FE94CA}"/>
              </a:ext>
            </a:extLst>
          </p:cNvPr>
          <p:cNvSpPr>
            <a:spLocks noGrp="1"/>
          </p:cNvSpPr>
          <p:nvPr>
            <p:ph idx="1"/>
          </p:nvPr>
        </p:nvSpPr>
        <p:spPr/>
        <p:txBody>
          <a:bodyPr/>
          <a:lstStyle/>
          <a:p>
            <a:pPr>
              <a:buFont typeface="Wingdings" panose="05000000000000000000" pitchFamily="2" charset="2"/>
              <a:buChar char="v"/>
            </a:pPr>
            <a:r>
              <a:rPr lang="en-US" dirty="0"/>
              <a:t>Ashtanga Yoga is one of the classifications of Yoga in Patanjali’s Yoga Sutras, which states that optimum mental and physical health can only be achieved by being ethically and morally right through karmas (deeds or actions), meditation, discipline, inner and outer cleansing, and physical exercises. Ashtanga Yoga aims to channel a person’s inner energy with the energy in his or her external world with the help of the right actions, meditation, discipline and exercises. To achieve this objective, individuals need to </a:t>
            </a:r>
            <a:r>
              <a:rPr lang="en-US" dirty="0" err="1"/>
              <a:t>practise</a:t>
            </a:r>
            <a:r>
              <a:rPr lang="en-US" dirty="0"/>
              <a:t> the "eight limbs" of Ashtanga Yoga, as described by Patanjali in his Yoga Sutras. </a:t>
            </a:r>
            <a:endParaRPr lang="en-IN" dirty="0"/>
          </a:p>
        </p:txBody>
      </p:sp>
    </p:spTree>
    <p:extLst>
      <p:ext uri="{BB962C8B-B14F-4D97-AF65-F5344CB8AC3E}">
        <p14:creationId xmlns:p14="http://schemas.microsoft.com/office/powerpoint/2010/main" val="288045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46DC9-765F-8A18-8B55-1B2FA0BA64D4}"/>
              </a:ext>
            </a:extLst>
          </p:cNvPr>
          <p:cNvSpPr>
            <a:spLocks noGrp="1"/>
          </p:cNvSpPr>
          <p:nvPr>
            <p:ph type="title"/>
          </p:nvPr>
        </p:nvSpPr>
        <p:spPr>
          <a:xfrm>
            <a:off x="838200" y="-224155"/>
            <a:ext cx="10515600" cy="1325563"/>
          </a:xfrm>
        </p:spPr>
        <p:txBody>
          <a:bodyPr/>
          <a:lstStyle/>
          <a:p>
            <a:pPr algn="ctr"/>
            <a:r>
              <a:rPr lang="en-US" dirty="0"/>
              <a:t>History Of Ashtanga Yoga</a:t>
            </a:r>
            <a:endParaRPr lang="en-IN" dirty="0"/>
          </a:p>
        </p:txBody>
      </p:sp>
      <p:sp>
        <p:nvSpPr>
          <p:cNvPr id="3" name="Content Placeholder 2">
            <a:extLst>
              <a:ext uri="{FF2B5EF4-FFF2-40B4-BE49-F238E27FC236}">
                <a16:creationId xmlns:a16="http://schemas.microsoft.com/office/drawing/2014/main" id="{3200F3A7-F42A-63F7-6457-8ADC654AB5CA}"/>
              </a:ext>
            </a:extLst>
          </p:cNvPr>
          <p:cNvSpPr>
            <a:spLocks noGrp="1"/>
          </p:cNvSpPr>
          <p:nvPr>
            <p:ph idx="1"/>
          </p:nvPr>
        </p:nvSpPr>
        <p:spPr>
          <a:xfrm>
            <a:off x="0" y="853440"/>
            <a:ext cx="12192000" cy="6167120"/>
          </a:xfrm>
        </p:spPr>
        <p:txBody>
          <a:bodyPr>
            <a:normAutofit lnSpcReduction="10000"/>
          </a:bodyPr>
          <a:lstStyle/>
          <a:p>
            <a:r>
              <a:rPr lang="en-US" dirty="0"/>
              <a:t>The traces of Ashtanga Yoga practices have been found in Patanjali’s writings dating back between the 2nd century BCE and the 4th century BCE. However, how long people have been </a:t>
            </a:r>
            <a:r>
              <a:rPr lang="en-US" dirty="0" err="1"/>
              <a:t>practising</a:t>
            </a:r>
            <a:r>
              <a:rPr lang="en-US" dirty="0"/>
              <a:t> this Yoga form is still unknown.</a:t>
            </a:r>
          </a:p>
          <a:p>
            <a:r>
              <a:rPr lang="en-US" dirty="0"/>
              <a:t>In the 1900s, an Indian Yoga guru, namely T. Krishnamacharya, taught Ashtanga Yoga to his student or disciple, K. </a:t>
            </a:r>
            <a:r>
              <a:rPr lang="en-US" dirty="0" err="1"/>
              <a:t>Pattabhi</a:t>
            </a:r>
            <a:r>
              <a:rPr lang="en-US" dirty="0"/>
              <a:t> Jois. Later on in the 20th century, Jois added fast </a:t>
            </a:r>
            <a:r>
              <a:rPr lang="en-US" dirty="0" err="1"/>
              <a:t>pase</a:t>
            </a:r>
            <a:r>
              <a:rPr lang="en-US" dirty="0"/>
              <a:t> Surya Namaskar or Sun </a:t>
            </a:r>
            <a:r>
              <a:rPr lang="en-US" dirty="0" err="1"/>
              <a:t>Saltuation</a:t>
            </a:r>
            <a:r>
              <a:rPr lang="en-US" dirty="0"/>
              <a:t> poses to Ashtanga Yoga and taught them to Indian wrestlers and gymnasts. Since then, this Yoga form has become popular among people. Cultural communication between India and other western nations made Ashtanga Yoga popular in the western world as well.</a:t>
            </a:r>
          </a:p>
          <a:p>
            <a:r>
              <a:rPr lang="en-US" dirty="0"/>
              <a:t> Meaning of Ashtanga Yoga: Ashtanga means "eight limbs" or "body parts" (Astha means eight and </a:t>
            </a:r>
            <a:r>
              <a:rPr lang="en-US" dirty="0" err="1"/>
              <a:t>anga</a:t>
            </a:r>
            <a:r>
              <a:rPr lang="en-US" dirty="0"/>
              <a:t> means body parts), which indicates eight components or paths of Ashtanga Yoga to achieve mental and physical health goals and spiritual goals.</a:t>
            </a:r>
          </a:p>
          <a:p>
            <a:r>
              <a:rPr lang="en-US" dirty="0"/>
              <a:t>However, Yoga means union. In the context of Yoga, union refers to the harmony between the mind and body of a person</a:t>
            </a:r>
            <a:endParaRPr lang="en-IN" dirty="0"/>
          </a:p>
        </p:txBody>
      </p:sp>
    </p:spTree>
    <p:extLst>
      <p:ext uri="{BB962C8B-B14F-4D97-AF65-F5344CB8AC3E}">
        <p14:creationId xmlns:p14="http://schemas.microsoft.com/office/powerpoint/2010/main" val="1840654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B1042-FD23-C173-E170-8CEB3378D042}"/>
              </a:ext>
            </a:extLst>
          </p:cNvPr>
          <p:cNvSpPr>
            <a:spLocks noGrp="1"/>
          </p:cNvSpPr>
          <p:nvPr>
            <p:ph type="title"/>
          </p:nvPr>
        </p:nvSpPr>
        <p:spPr>
          <a:xfrm>
            <a:off x="838200" y="-285115"/>
            <a:ext cx="10515600" cy="1325563"/>
          </a:xfrm>
        </p:spPr>
        <p:txBody>
          <a:bodyPr/>
          <a:lstStyle/>
          <a:p>
            <a:pPr algn="ctr"/>
            <a:r>
              <a:rPr lang="en-US" dirty="0"/>
              <a:t>8 Limbs Of Ashtanga Yoga</a:t>
            </a:r>
            <a:endParaRPr lang="en-IN" dirty="0"/>
          </a:p>
        </p:txBody>
      </p:sp>
      <p:sp>
        <p:nvSpPr>
          <p:cNvPr id="3" name="Content Placeholder 2">
            <a:extLst>
              <a:ext uri="{FF2B5EF4-FFF2-40B4-BE49-F238E27FC236}">
                <a16:creationId xmlns:a16="http://schemas.microsoft.com/office/drawing/2014/main" id="{61B9C375-94EC-3842-AB97-F8ED4AFD6D79}"/>
              </a:ext>
            </a:extLst>
          </p:cNvPr>
          <p:cNvSpPr>
            <a:spLocks noGrp="1"/>
          </p:cNvSpPr>
          <p:nvPr>
            <p:ph idx="1"/>
          </p:nvPr>
        </p:nvSpPr>
        <p:spPr>
          <a:xfrm>
            <a:off x="0" y="670560"/>
            <a:ext cx="12192000" cy="6278880"/>
          </a:xfrm>
        </p:spPr>
        <p:txBody>
          <a:bodyPr>
            <a:normAutofit fontScale="85000" lnSpcReduction="20000"/>
          </a:bodyPr>
          <a:lstStyle/>
          <a:p>
            <a:pPr marL="0" indent="0">
              <a:buNone/>
            </a:pPr>
            <a:r>
              <a:rPr lang="en-US" dirty="0"/>
              <a:t>1. Yama (Principles): It refers to ethical rules or values in Hinduism to do morally right. They are dos for a person </a:t>
            </a:r>
            <a:r>
              <a:rPr lang="en-US" dirty="0" err="1"/>
              <a:t>practising</a:t>
            </a:r>
            <a:r>
              <a:rPr lang="en-US" dirty="0"/>
              <a:t> Ashtanga Yoga. Following these rules allows a person to achieve mental peace. The five </a:t>
            </a:r>
            <a:r>
              <a:rPr lang="en-US" dirty="0" err="1"/>
              <a:t>Yamas</a:t>
            </a:r>
            <a:r>
              <a:rPr lang="en-US" dirty="0"/>
              <a:t> are mentioned below: </a:t>
            </a:r>
          </a:p>
          <a:p>
            <a:r>
              <a:rPr lang="en-US" dirty="0"/>
              <a:t>Ahimsa (Nonviolence)</a:t>
            </a:r>
          </a:p>
          <a:p>
            <a:r>
              <a:rPr lang="en-US" dirty="0"/>
              <a:t>Satya (Truthfulness) </a:t>
            </a:r>
          </a:p>
          <a:p>
            <a:r>
              <a:rPr lang="en-US" dirty="0" err="1"/>
              <a:t>Asteya</a:t>
            </a:r>
            <a:r>
              <a:rPr lang="en-US" dirty="0"/>
              <a:t> (Non-stealing)</a:t>
            </a:r>
          </a:p>
          <a:p>
            <a:r>
              <a:rPr lang="en-US" dirty="0"/>
              <a:t>Brahmacharya (Chastity / Purity)</a:t>
            </a:r>
          </a:p>
          <a:p>
            <a:r>
              <a:rPr lang="en-US" dirty="0" err="1"/>
              <a:t>Aparigraha</a:t>
            </a:r>
            <a:r>
              <a:rPr lang="en-US" dirty="0"/>
              <a:t> (Non-avarice or not keeping </a:t>
            </a:r>
            <a:r>
              <a:rPr lang="en-US" dirty="0" err="1"/>
              <a:t>entreme</a:t>
            </a:r>
            <a:r>
              <a:rPr lang="en-US" dirty="0"/>
              <a:t> desire or greed for money)</a:t>
            </a:r>
          </a:p>
          <a:p>
            <a:pPr marL="0" indent="0">
              <a:buNone/>
            </a:pPr>
            <a:r>
              <a:rPr lang="en-US" dirty="0"/>
              <a:t>2. Niyama (Personal Discipline): This second component of Ashtanga Yoga refers to specific habits for cleansing people’s mind and body. The </a:t>
            </a:r>
            <a:r>
              <a:rPr lang="en-US" dirty="0" err="1"/>
              <a:t>Niyamas</a:t>
            </a:r>
            <a:r>
              <a:rPr lang="en-US" dirty="0"/>
              <a:t> are the following: </a:t>
            </a:r>
          </a:p>
          <a:p>
            <a:pPr marL="0" indent="0">
              <a:buNone/>
            </a:pPr>
            <a:r>
              <a:rPr lang="en-US" dirty="0" err="1"/>
              <a:t>Shaucha</a:t>
            </a:r>
            <a:r>
              <a:rPr lang="en-US" dirty="0"/>
              <a:t> (Habits to clean the body, mind and speech)</a:t>
            </a:r>
          </a:p>
          <a:p>
            <a:pPr marL="0" indent="0">
              <a:buNone/>
            </a:pPr>
            <a:r>
              <a:rPr lang="en-US" dirty="0" err="1"/>
              <a:t>Santosha</a:t>
            </a:r>
            <a:r>
              <a:rPr lang="en-US" dirty="0"/>
              <a:t> (Contentment, patience and tolerance or acceptance towards others)</a:t>
            </a:r>
          </a:p>
          <a:p>
            <a:pPr marL="0" indent="0">
              <a:buNone/>
            </a:pPr>
            <a:r>
              <a:rPr lang="en-US" dirty="0"/>
              <a:t>Tapas (Persistence and self-discipline to control and channel your emotions and actions in the right direction)</a:t>
            </a:r>
          </a:p>
          <a:p>
            <a:pPr marL="0" indent="0">
              <a:buNone/>
            </a:pPr>
            <a:r>
              <a:rPr lang="en-US" dirty="0" err="1"/>
              <a:t>Svadhyaya</a:t>
            </a:r>
            <a:r>
              <a:rPr lang="en-US" dirty="0"/>
              <a:t> (Self awareness)</a:t>
            </a:r>
          </a:p>
          <a:p>
            <a:pPr marL="0" indent="0">
              <a:buNone/>
            </a:pPr>
            <a:r>
              <a:rPr lang="en-US" dirty="0" err="1"/>
              <a:t>Ishvarapranidhana</a:t>
            </a:r>
            <a:r>
              <a:rPr lang="en-US" dirty="0"/>
              <a:t> (Knowing and contemplating the unchanging reality or the God that you believe)</a:t>
            </a:r>
          </a:p>
        </p:txBody>
      </p:sp>
    </p:spTree>
    <p:extLst>
      <p:ext uri="{BB962C8B-B14F-4D97-AF65-F5344CB8AC3E}">
        <p14:creationId xmlns:p14="http://schemas.microsoft.com/office/powerpoint/2010/main" val="3733974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B1E220-F8A7-C336-3891-CDA5D215B972}"/>
              </a:ext>
            </a:extLst>
          </p:cNvPr>
          <p:cNvSpPr>
            <a:spLocks noGrp="1"/>
          </p:cNvSpPr>
          <p:nvPr>
            <p:ph idx="1"/>
          </p:nvPr>
        </p:nvSpPr>
        <p:spPr>
          <a:xfrm>
            <a:off x="0" y="264160"/>
            <a:ext cx="12192000" cy="6593840"/>
          </a:xfrm>
        </p:spPr>
        <p:txBody>
          <a:bodyPr>
            <a:normAutofit fontScale="85000" lnSpcReduction="20000"/>
          </a:bodyPr>
          <a:lstStyle/>
          <a:p>
            <a:pPr marL="0" indent="0">
              <a:buNone/>
            </a:pPr>
            <a:r>
              <a:rPr lang="en-US" dirty="0"/>
              <a:t>3. Asana (Postures): Asanas refer to the postures for meditation. The main Asanas mentioned in Yoga Sutras are the following:</a:t>
            </a:r>
          </a:p>
          <a:p>
            <a:pPr marL="0" indent="0">
              <a:buNone/>
            </a:pPr>
            <a:r>
              <a:rPr lang="en-US" dirty="0"/>
              <a:t>Padmasana </a:t>
            </a:r>
          </a:p>
          <a:p>
            <a:pPr marL="0" indent="0">
              <a:buNone/>
            </a:pPr>
            <a:r>
              <a:rPr lang="en-US" dirty="0" err="1"/>
              <a:t>Svastikasana</a:t>
            </a:r>
            <a:endParaRPr lang="en-US" dirty="0"/>
          </a:p>
          <a:p>
            <a:pPr marL="0" indent="0">
              <a:buNone/>
            </a:pPr>
            <a:r>
              <a:rPr lang="en-US" dirty="0" err="1"/>
              <a:t>Dandasana</a:t>
            </a:r>
            <a:endParaRPr lang="en-US" dirty="0"/>
          </a:p>
          <a:p>
            <a:pPr marL="0" indent="0">
              <a:buNone/>
            </a:pPr>
            <a:r>
              <a:rPr lang="en-US" dirty="0" err="1"/>
              <a:t>Virasana</a:t>
            </a:r>
            <a:endParaRPr lang="en-US" dirty="0"/>
          </a:p>
          <a:p>
            <a:pPr marL="0" indent="0">
              <a:buNone/>
            </a:pPr>
            <a:r>
              <a:rPr lang="en-US" dirty="0"/>
              <a:t>4. Pranayama (Breathing exercises / practices): </a:t>
            </a:r>
            <a:r>
              <a:rPr lang="en-US" dirty="0" err="1"/>
              <a:t>Pranayamas</a:t>
            </a:r>
            <a:r>
              <a:rPr lang="en-US" dirty="0"/>
              <a:t> refer to the control of a person on his or her breathing process. They include breathing exercises. </a:t>
            </a:r>
            <a:endParaRPr lang="en-IN" dirty="0"/>
          </a:p>
          <a:p>
            <a:pPr marL="0" indent="0">
              <a:buNone/>
            </a:pPr>
            <a:r>
              <a:rPr lang="en-US" dirty="0"/>
              <a:t>5. Pratyahara (Isolation): </a:t>
            </a:r>
            <a:r>
              <a:rPr lang="en-US" dirty="0" err="1"/>
              <a:t>Pratyahar</a:t>
            </a:r>
            <a:r>
              <a:rPr lang="en-US" dirty="0"/>
              <a:t> is the process of mitigating the effects of sensory experiences based on the external environment to introspect one’s own mind.</a:t>
            </a:r>
          </a:p>
          <a:p>
            <a:pPr marL="0" indent="0">
              <a:buNone/>
            </a:pPr>
            <a:r>
              <a:rPr lang="en-US" dirty="0"/>
              <a:t>6. Dharana (</a:t>
            </a:r>
            <a:r>
              <a:rPr lang="en-US" dirty="0" err="1"/>
              <a:t>Concentartion</a:t>
            </a:r>
            <a:r>
              <a:rPr lang="en-US" dirty="0"/>
              <a:t>): Once a person controls sensory experience through Pratyahara, he or she can concentrate to introspect and keep his or her mind focused through Dharana. This limb of Ashtanga Yoga allows a person to control unconscious and abstract thoughts and focus on conscious ones.</a:t>
            </a:r>
          </a:p>
          <a:p>
            <a:pPr marL="0" indent="0">
              <a:buNone/>
            </a:pPr>
            <a:r>
              <a:rPr lang="en-US" dirty="0"/>
              <a:t>7. Dhyana (Meditation): After making the mind calm through Dharna, a person can focus on a particular idea or object through </a:t>
            </a:r>
            <a:r>
              <a:rPr lang="en-US" dirty="0" err="1"/>
              <a:t>Dyana</a:t>
            </a:r>
            <a:r>
              <a:rPr lang="en-US" dirty="0"/>
              <a:t> to achieve true knowledge about it.</a:t>
            </a:r>
          </a:p>
          <a:p>
            <a:pPr marL="0" indent="0">
              <a:buNone/>
            </a:pPr>
            <a:r>
              <a:rPr lang="en-US" dirty="0"/>
              <a:t>8.Samadhi (Salvation): Samadhi is the stage where a person liberates himself or herself from the awareness of the idea or object on which he or she was meditating. He or she can willingly liberate himself or herself from all types of suffering through detachment from desires related to ideas and objects.</a:t>
            </a:r>
            <a:endParaRPr lang="en-IN" dirty="0"/>
          </a:p>
        </p:txBody>
      </p:sp>
    </p:spTree>
    <p:extLst>
      <p:ext uri="{BB962C8B-B14F-4D97-AF65-F5344CB8AC3E}">
        <p14:creationId xmlns:p14="http://schemas.microsoft.com/office/powerpoint/2010/main" val="2175935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1BE3-59CE-0EA3-2DEB-68AE116F0B04}"/>
              </a:ext>
            </a:extLst>
          </p:cNvPr>
          <p:cNvSpPr>
            <a:spLocks noGrp="1"/>
          </p:cNvSpPr>
          <p:nvPr>
            <p:ph type="title"/>
          </p:nvPr>
        </p:nvSpPr>
        <p:spPr>
          <a:xfrm>
            <a:off x="838200" y="-153035"/>
            <a:ext cx="10515600" cy="1325563"/>
          </a:xfrm>
        </p:spPr>
        <p:txBody>
          <a:bodyPr/>
          <a:lstStyle/>
          <a:p>
            <a:pPr algn="ctr"/>
            <a:r>
              <a:rPr lang="en-US" dirty="0"/>
              <a:t>Ashtanga Yoga Poses</a:t>
            </a:r>
            <a:endParaRPr lang="en-IN" dirty="0"/>
          </a:p>
        </p:txBody>
      </p:sp>
      <p:sp>
        <p:nvSpPr>
          <p:cNvPr id="3" name="Content Placeholder 2">
            <a:extLst>
              <a:ext uri="{FF2B5EF4-FFF2-40B4-BE49-F238E27FC236}">
                <a16:creationId xmlns:a16="http://schemas.microsoft.com/office/drawing/2014/main" id="{2601162F-B4F5-6BE9-0522-552EF97E6980}"/>
              </a:ext>
            </a:extLst>
          </p:cNvPr>
          <p:cNvSpPr>
            <a:spLocks noGrp="1"/>
          </p:cNvSpPr>
          <p:nvPr>
            <p:ph idx="1"/>
          </p:nvPr>
        </p:nvSpPr>
        <p:spPr>
          <a:xfrm>
            <a:off x="0" y="972184"/>
            <a:ext cx="12192000" cy="5885815"/>
          </a:xfrm>
        </p:spPr>
        <p:txBody>
          <a:bodyPr>
            <a:normAutofit fontScale="77500" lnSpcReduction="20000"/>
          </a:bodyPr>
          <a:lstStyle/>
          <a:p>
            <a:r>
              <a:rPr lang="en-IN" dirty="0"/>
              <a:t>Ashtanga Yoga </a:t>
            </a:r>
            <a:r>
              <a:rPr lang="en-IN" dirty="0" err="1"/>
              <a:t>PosesModern</a:t>
            </a:r>
            <a:r>
              <a:rPr lang="en-IN" dirty="0"/>
              <a:t> Ashtanga Yoga consists of two types of Yoga poses: Surya Namaskar A and Surya Namaskar B (Sun Salutation A and Sun Salutation B). The Yoga poses in Surya Namaskar A and Surya Namaskar B have been listed </a:t>
            </a:r>
            <a:r>
              <a:rPr lang="en-IN" dirty="0" err="1"/>
              <a:t>below.Surya</a:t>
            </a:r>
            <a:r>
              <a:rPr lang="en-IN" dirty="0"/>
              <a:t> Namaskar A </a:t>
            </a:r>
            <a:r>
              <a:rPr lang="en-IN" dirty="0" err="1"/>
              <a:t>PosesCheck</a:t>
            </a:r>
            <a:r>
              <a:rPr lang="en-IN" dirty="0"/>
              <a:t> out the poses of Sun Salutation A below:</a:t>
            </a:r>
          </a:p>
          <a:p>
            <a:r>
              <a:rPr lang="en-IN" dirty="0" err="1"/>
              <a:t>Pranamasana</a:t>
            </a:r>
            <a:endParaRPr lang="en-IN" dirty="0"/>
          </a:p>
          <a:p>
            <a:r>
              <a:rPr lang="en-IN" dirty="0"/>
              <a:t>Hasta </a:t>
            </a:r>
            <a:r>
              <a:rPr lang="en-IN" dirty="0" err="1"/>
              <a:t>Uttanasana</a:t>
            </a:r>
            <a:endParaRPr lang="en-IN" dirty="0"/>
          </a:p>
          <a:p>
            <a:r>
              <a:rPr lang="en-IN" dirty="0" err="1"/>
              <a:t>Padahastasana</a:t>
            </a:r>
            <a:endParaRPr lang="en-IN" dirty="0"/>
          </a:p>
          <a:p>
            <a:r>
              <a:rPr lang="en-IN" dirty="0"/>
              <a:t>Ashwa </a:t>
            </a:r>
            <a:r>
              <a:rPr lang="en-IN" dirty="0" err="1"/>
              <a:t>Sanchalana</a:t>
            </a:r>
            <a:endParaRPr lang="en-IN" dirty="0"/>
          </a:p>
          <a:p>
            <a:r>
              <a:rPr lang="en-IN" dirty="0" err="1"/>
              <a:t>Parvatasana</a:t>
            </a:r>
            <a:endParaRPr lang="en-IN" dirty="0"/>
          </a:p>
          <a:p>
            <a:r>
              <a:rPr lang="en-IN" dirty="0" err="1"/>
              <a:t>Dandasana</a:t>
            </a:r>
            <a:endParaRPr lang="en-IN" dirty="0"/>
          </a:p>
          <a:p>
            <a:r>
              <a:rPr lang="en-IN" dirty="0"/>
              <a:t>Ashtanga </a:t>
            </a:r>
            <a:r>
              <a:rPr lang="en-IN" dirty="0" err="1"/>
              <a:t>Namaskara</a:t>
            </a:r>
            <a:endParaRPr lang="en-IN" dirty="0"/>
          </a:p>
          <a:p>
            <a:r>
              <a:rPr lang="en-IN" dirty="0" err="1"/>
              <a:t>Bhujangasana</a:t>
            </a:r>
            <a:endParaRPr lang="en-IN" dirty="0"/>
          </a:p>
          <a:p>
            <a:r>
              <a:rPr lang="en-IN" dirty="0" err="1"/>
              <a:t>Parvatasana</a:t>
            </a:r>
            <a:endParaRPr lang="en-IN" dirty="0"/>
          </a:p>
          <a:p>
            <a:r>
              <a:rPr lang="en-IN" dirty="0"/>
              <a:t>Ashwa </a:t>
            </a:r>
            <a:r>
              <a:rPr lang="en-IN" dirty="0" err="1"/>
              <a:t>Sanchalana</a:t>
            </a:r>
            <a:endParaRPr lang="en-IN" dirty="0"/>
          </a:p>
          <a:p>
            <a:r>
              <a:rPr lang="en-IN" dirty="0" err="1"/>
              <a:t>Padahastasana</a:t>
            </a:r>
            <a:endParaRPr lang="en-IN" dirty="0"/>
          </a:p>
          <a:p>
            <a:r>
              <a:rPr lang="en-IN" dirty="0"/>
              <a:t> Hasta </a:t>
            </a:r>
            <a:r>
              <a:rPr lang="en-IN" dirty="0" err="1"/>
              <a:t>Uttanasana</a:t>
            </a:r>
            <a:endParaRPr lang="en-IN" dirty="0"/>
          </a:p>
          <a:p>
            <a:r>
              <a:rPr lang="en-IN" dirty="0" err="1"/>
              <a:t>Pranamasana</a:t>
            </a:r>
            <a:endParaRPr lang="en-IN" dirty="0"/>
          </a:p>
        </p:txBody>
      </p:sp>
      <p:pic>
        <p:nvPicPr>
          <p:cNvPr id="5" name="Picture 4">
            <a:extLst>
              <a:ext uri="{FF2B5EF4-FFF2-40B4-BE49-F238E27FC236}">
                <a16:creationId xmlns:a16="http://schemas.microsoft.com/office/drawing/2014/main" id="{81DBA0B0-8EC5-0F4D-7941-96085C53B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0372" y="1891346"/>
            <a:ext cx="6133148" cy="4648281"/>
          </a:xfrm>
          <a:prstGeom prst="rect">
            <a:avLst/>
          </a:prstGeom>
        </p:spPr>
      </p:pic>
    </p:spTree>
    <p:extLst>
      <p:ext uri="{BB962C8B-B14F-4D97-AF65-F5344CB8AC3E}">
        <p14:creationId xmlns:p14="http://schemas.microsoft.com/office/powerpoint/2010/main" val="350704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4A3D2-BD15-791C-C4B0-2CC457F574E4}"/>
              </a:ext>
            </a:extLst>
          </p:cNvPr>
          <p:cNvSpPr>
            <a:spLocks noGrp="1"/>
          </p:cNvSpPr>
          <p:nvPr>
            <p:ph type="title"/>
          </p:nvPr>
        </p:nvSpPr>
        <p:spPr>
          <a:xfrm>
            <a:off x="838200" y="-315595"/>
            <a:ext cx="10515600" cy="1325563"/>
          </a:xfrm>
        </p:spPr>
        <p:txBody>
          <a:bodyPr/>
          <a:lstStyle/>
          <a:p>
            <a:pPr algn="ctr"/>
            <a:r>
              <a:rPr lang="en-US" dirty="0"/>
              <a:t>Benefits Of Ashtanga Yoga</a:t>
            </a:r>
            <a:endParaRPr lang="en-IN" dirty="0"/>
          </a:p>
        </p:txBody>
      </p:sp>
      <p:sp>
        <p:nvSpPr>
          <p:cNvPr id="3" name="Content Placeholder 2">
            <a:extLst>
              <a:ext uri="{FF2B5EF4-FFF2-40B4-BE49-F238E27FC236}">
                <a16:creationId xmlns:a16="http://schemas.microsoft.com/office/drawing/2014/main" id="{3639083F-4570-B6D5-957D-D6224774E602}"/>
              </a:ext>
            </a:extLst>
          </p:cNvPr>
          <p:cNvSpPr>
            <a:spLocks noGrp="1"/>
          </p:cNvSpPr>
          <p:nvPr>
            <p:ph idx="1"/>
          </p:nvPr>
        </p:nvSpPr>
        <p:spPr>
          <a:xfrm>
            <a:off x="0" y="660400"/>
            <a:ext cx="12192000" cy="6197600"/>
          </a:xfrm>
        </p:spPr>
        <p:txBody>
          <a:bodyPr>
            <a:normAutofit fontScale="62500" lnSpcReduction="20000"/>
          </a:bodyPr>
          <a:lstStyle/>
          <a:p>
            <a:r>
              <a:rPr lang="en-US" dirty="0"/>
              <a:t>The benefits of Ashtanga Yoga are the following:</a:t>
            </a:r>
          </a:p>
          <a:p>
            <a:r>
              <a:rPr lang="en-US" dirty="0"/>
              <a:t> Relaxes mind</a:t>
            </a:r>
          </a:p>
          <a:p>
            <a:r>
              <a:rPr lang="en-US" dirty="0"/>
              <a:t>Increased self-awareness</a:t>
            </a:r>
          </a:p>
          <a:p>
            <a:r>
              <a:rPr lang="en-US" dirty="0"/>
              <a:t>Increased self-discipline and self-control</a:t>
            </a:r>
          </a:p>
          <a:p>
            <a:r>
              <a:rPr lang="en-US" dirty="0"/>
              <a:t>Enhanced metabolism</a:t>
            </a:r>
          </a:p>
          <a:p>
            <a:r>
              <a:rPr lang="en-US" dirty="0"/>
              <a:t>Improved digestion</a:t>
            </a:r>
          </a:p>
          <a:p>
            <a:r>
              <a:rPr lang="en-US" dirty="0"/>
              <a:t>Reduces stress and anxiety</a:t>
            </a:r>
          </a:p>
          <a:p>
            <a:r>
              <a:rPr lang="en-US" dirty="0"/>
              <a:t>Provides strength and flexibility to body</a:t>
            </a:r>
          </a:p>
          <a:p>
            <a:r>
              <a:rPr lang="en-US" dirty="0"/>
              <a:t>Helps in </a:t>
            </a:r>
            <a:r>
              <a:rPr lang="en-US" dirty="0" err="1"/>
              <a:t>weightloss</a:t>
            </a:r>
            <a:endParaRPr lang="en-US" dirty="0"/>
          </a:p>
          <a:p>
            <a:r>
              <a:rPr lang="en-US" dirty="0"/>
              <a:t>Improves blood circulation</a:t>
            </a:r>
          </a:p>
          <a:p>
            <a:r>
              <a:rPr lang="en-US" dirty="0"/>
              <a:t> Cleanses toxins from arteries and veins</a:t>
            </a:r>
          </a:p>
          <a:p>
            <a:r>
              <a:rPr lang="en-US" dirty="0"/>
              <a:t> Improves skin and delay ageing</a:t>
            </a:r>
          </a:p>
          <a:p>
            <a:r>
              <a:rPr lang="en-US" dirty="0"/>
              <a:t>Improves digestion and overall gut health</a:t>
            </a:r>
          </a:p>
          <a:p>
            <a:r>
              <a:rPr lang="en-US" dirty="0"/>
              <a:t>Increases happiness </a:t>
            </a:r>
          </a:p>
          <a:p>
            <a:r>
              <a:rPr lang="en-US" dirty="0"/>
              <a:t>Increases power to concentrate</a:t>
            </a:r>
          </a:p>
          <a:p>
            <a:r>
              <a:rPr lang="en-US" dirty="0"/>
              <a:t> Improves sleep cycle</a:t>
            </a:r>
          </a:p>
          <a:p>
            <a:r>
              <a:rPr lang="en-US" dirty="0"/>
              <a:t>Increase endurance and stamina</a:t>
            </a:r>
          </a:p>
          <a:p>
            <a:r>
              <a:rPr lang="en-US" dirty="0"/>
              <a:t>Muscle mass gain</a:t>
            </a:r>
          </a:p>
          <a:p>
            <a:r>
              <a:rPr lang="en-US" dirty="0"/>
              <a:t>Promotes the sense of belongingness compassion and empathy at spiritual level</a:t>
            </a:r>
            <a:endParaRPr lang="en-IN" dirty="0"/>
          </a:p>
        </p:txBody>
      </p:sp>
    </p:spTree>
    <p:extLst>
      <p:ext uri="{BB962C8B-B14F-4D97-AF65-F5344CB8AC3E}">
        <p14:creationId xmlns:p14="http://schemas.microsoft.com/office/powerpoint/2010/main" val="1439327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48A1F-1962-F9E8-CD8F-F84C4ACC12A3}"/>
              </a:ext>
            </a:extLst>
          </p:cNvPr>
          <p:cNvSpPr>
            <a:spLocks noGrp="1"/>
          </p:cNvSpPr>
          <p:nvPr>
            <p:ph type="title"/>
          </p:nvPr>
        </p:nvSpPr>
        <p:spPr>
          <a:xfrm>
            <a:off x="838200" y="365125"/>
            <a:ext cx="10515600" cy="1325563"/>
          </a:xfrm>
        </p:spPr>
        <p:txBody>
          <a:bodyPr/>
          <a:lstStyle/>
          <a:p>
            <a:pPr algn="ctr"/>
            <a:r>
              <a:rPr lang="en-US" dirty="0"/>
              <a:t>Moon Salutation</a:t>
            </a:r>
            <a:endParaRPr lang="en-IN" dirty="0"/>
          </a:p>
        </p:txBody>
      </p:sp>
      <p:sp>
        <p:nvSpPr>
          <p:cNvPr id="3" name="Content Placeholder 2">
            <a:extLst>
              <a:ext uri="{FF2B5EF4-FFF2-40B4-BE49-F238E27FC236}">
                <a16:creationId xmlns:a16="http://schemas.microsoft.com/office/drawing/2014/main" id="{ECADB805-0223-C7A1-800F-39D84BC10C5F}"/>
              </a:ext>
            </a:extLst>
          </p:cNvPr>
          <p:cNvSpPr>
            <a:spLocks noGrp="1"/>
          </p:cNvSpPr>
          <p:nvPr>
            <p:ph idx="1"/>
          </p:nvPr>
        </p:nvSpPr>
        <p:spPr>
          <a:xfrm>
            <a:off x="0" y="2011680"/>
            <a:ext cx="12192000" cy="4846320"/>
          </a:xfrm>
        </p:spPr>
        <p:txBody>
          <a:bodyPr/>
          <a:lstStyle/>
          <a:p>
            <a:r>
              <a:rPr lang="en-US" dirty="0"/>
              <a:t>Moon salutation, called Chandra Namaskar consists of two words, '</a:t>
            </a:r>
            <a:r>
              <a:rPr lang="en-US" dirty="0" err="1"/>
              <a:t>chandra</a:t>
            </a:r>
            <a:r>
              <a:rPr lang="en-US" dirty="0"/>
              <a:t>' means 'moon' and 'namaskar' means 'to salute'. The practice of Moon Salutation is a reflection of Sun Salutation (Surya Namaskar), just as the moon has no light of its own but reflects the light of the sun. The sequence of asanas is the same as Surya Namaskar except that </a:t>
            </a:r>
            <a:r>
              <a:rPr lang="en-US" dirty="0" err="1"/>
              <a:t>Ardha</a:t>
            </a:r>
            <a:r>
              <a:rPr lang="en-US" dirty="0"/>
              <a:t> </a:t>
            </a:r>
            <a:r>
              <a:rPr lang="en-US" dirty="0" err="1"/>
              <a:t>Chandrasana</a:t>
            </a:r>
            <a:r>
              <a:rPr lang="en-US" dirty="0"/>
              <a:t> is performed after Ashwa </a:t>
            </a:r>
            <a:r>
              <a:rPr lang="en-US" dirty="0" err="1"/>
              <a:t>Sanchalanasana</a:t>
            </a:r>
            <a:r>
              <a:rPr lang="en-US" dirty="0"/>
              <a:t> (Horse-riding pose).</a:t>
            </a:r>
          </a:p>
          <a:p>
            <a:r>
              <a:rPr lang="en-US" dirty="0" err="1"/>
              <a:t>Ardha</a:t>
            </a:r>
            <a:r>
              <a:rPr lang="en-US" dirty="0"/>
              <a:t> </a:t>
            </a:r>
            <a:r>
              <a:rPr lang="en-US" dirty="0" err="1"/>
              <a:t>Chandrasan</a:t>
            </a:r>
            <a:r>
              <a:rPr lang="en-US" dirty="0"/>
              <a:t>, the half-moon pose, is a significant posture as it develops concentration and balance. This pose helps activating the </a:t>
            </a:r>
            <a:r>
              <a:rPr lang="en-US" dirty="0" err="1"/>
              <a:t>ida</a:t>
            </a:r>
            <a:r>
              <a:rPr lang="en-US" dirty="0"/>
              <a:t> </a:t>
            </a:r>
            <a:r>
              <a:rPr lang="en-US" dirty="0" err="1"/>
              <a:t>nadi</a:t>
            </a:r>
            <a:r>
              <a:rPr lang="en-US" dirty="0"/>
              <a:t>, the lunar force in the system responsible for consciousness. </a:t>
            </a:r>
            <a:r>
              <a:rPr lang="en-US" dirty="0" err="1"/>
              <a:t>Ardha</a:t>
            </a:r>
            <a:r>
              <a:rPr lang="en-US" dirty="0"/>
              <a:t> </a:t>
            </a:r>
            <a:r>
              <a:rPr lang="en-US" dirty="0" err="1"/>
              <a:t>Chandrasan</a:t>
            </a:r>
            <a:r>
              <a:rPr lang="en-US" dirty="0"/>
              <a:t> works on the throat chakra or </a:t>
            </a:r>
            <a:r>
              <a:rPr lang="en-US" dirty="0" err="1"/>
              <a:t>Vishuddhi</a:t>
            </a:r>
            <a:r>
              <a:rPr lang="en-US" dirty="0"/>
              <a:t> chakra on a spiritual level.</a:t>
            </a:r>
            <a:endParaRPr lang="en-IN" dirty="0"/>
          </a:p>
        </p:txBody>
      </p:sp>
    </p:spTree>
    <p:extLst>
      <p:ext uri="{BB962C8B-B14F-4D97-AF65-F5344CB8AC3E}">
        <p14:creationId xmlns:p14="http://schemas.microsoft.com/office/powerpoint/2010/main" val="3202659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33D22-5EBE-F08E-CB53-F219F03A3C07}"/>
              </a:ext>
            </a:extLst>
          </p:cNvPr>
          <p:cNvSpPr>
            <a:spLocks noGrp="1"/>
          </p:cNvSpPr>
          <p:nvPr>
            <p:ph idx="1"/>
          </p:nvPr>
        </p:nvSpPr>
        <p:spPr>
          <a:xfrm>
            <a:off x="71120" y="284480"/>
            <a:ext cx="11948160" cy="5892483"/>
          </a:xfrm>
        </p:spPr>
        <p:txBody>
          <a:bodyPr>
            <a:noAutofit/>
          </a:bodyPr>
          <a:lstStyle/>
          <a:p>
            <a:r>
              <a:rPr lang="en-US" sz="3600" dirty="0"/>
              <a:t>When to do moon salutation?</a:t>
            </a:r>
          </a:p>
          <a:p>
            <a:r>
              <a:rPr lang="en-US" sz="3600" dirty="0"/>
              <a:t>Moon Salutation is best practiced in the evening or at night, especially when the moon is visible. Ensure that the stomach is empty before </a:t>
            </a:r>
            <a:r>
              <a:rPr lang="en-US" sz="3600" dirty="0" err="1"/>
              <a:t>practising</a:t>
            </a:r>
            <a:r>
              <a:rPr lang="en-US" sz="3600" dirty="0"/>
              <a:t> these asanas.</a:t>
            </a:r>
          </a:p>
          <a:p>
            <a:r>
              <a:rPr lang="en-US" sz="3600" dirty="0"/>
              <a:t>Moon Salutation benefits.</a:t>
            </a:r>
          </a:p>
          <a:p>
            <a:r>
              <a:rPr lang="en-US" sz="3600" dirty="0"/>
              <a:t>Moon Salutation helps you channelizing the lunar energy; which has cool, relaxing, and creative qualities. Chandra Namaskar also stretches and strengthens the spine, hamstrings, backs of legs and stomach muscles. It also balances the functioning of the circulatory, respiratory and digestive systems.</a:t>
            </a:r>
            <a:endParaRPr lang="en-IN" sz="3600" dirty="0"/>
          </a:p>
        </p:txBody>
      </p:sp>
    </p:spTree>
    <p:extLst>
      <p:ext uri="{BB962C8B-B14F-4D97-AF65-F5344CB8AC3E}">
        <p14:creationId xmlns:p14="http://schemas.microsoft.com/office/powerpoint/2010/main" val="689068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3C47-1C08-E0D5-0950-DAA08A49F52D}"/>
              </a:ext>
            </a:extLst>
          </p:cNvPr>
          <p:cNvSpPr>
            <a:spLocks noGrp="1"/>
          </p:cNvSpPr>
          <p:nvPr>
            <p:ph type="title"/>
          </p:nvPr>
        </p:nvSpPr>
        <p:spPr>
          <a:xfrm>
            <a:off x="838200" y="9525"/>
            <a:ext cx="10515600" cy="1325563"/>
          </a:xfrm>
        </p:spPr>
        <p:txBody>
          <a:bodyPr/>
          <a:lstStyle/>
          <a:p>
            <a:pPr algn="ctr"/>
            <a:r>
              <a:rPr lang="en-US" dirty="0"/>
              <a:t>Steps To Perform Moon Salutation </a:t>
            </a:r>
            <a:endParaRPr lang="en-IN" dirty="0"/>
          </a:p>
        </p:txBody>
      </p:sp>
      <p:sp>
        <p:nvSpPr>
          <p:cNvPr id="4" name="TextBox 3">
            <a:extLst>
              <a:ext uri="{FF2B5EF4-FFF2-40B4-BE49-F238E27FC236}">
                <a16:creationId xmlns:a16="http://schemas.microsoft.com/office/drawing/2014/main" id="{B04EC745-FB3E-2908-97B7-E697F2B64162}"/>
              </a:ext>
            </a:extLst>
          </p:cNvPr>
          <p:cNvSpPr txBox="1"/>
          <p:nvPr/>
        </p:nvSpPr>
        <p:spPr>
          <a:xfrm>
            <a:off x="0" y="5600563"/>
            <a:ext cx="5791200" cy="369332"/>
          </a:xfrm>
          <a:prstGeom prst="rect">
            <a:avLst/>
          </a:prstGeom>
          <a:noFill/>
        </p:spPr>
        <p:txBody>
          <a:bodyPr wrap="square" rtlCol="0">
            <a:spAutoFit/>
          </a:bodyPr>
          <a:lstStyle/>
          <a:p>
            <a:pPr algn="ctr"/>
            <a:r>
              <a:rPr lang="en-US" dirty="0"/>
              <a:t>Step 1: Exhale-PRANAMASANA</a:t>
            </a:r>
            <a:endParaRPr lang="en-IN" dirty="0"/>
          </a:p>
        </p:txBody>
      </p:sp>
      <p:sp>
        <p:nvSpPr>
          <p:cNvPr id="5" name="AutoShape 2">
            <a:extLst>
              <a:ext uri="{FF2B5EF4-FFF2-40B4-BE49-F238E27FC236}">
                <a16:creationId xmlns:a16="http://schemas.microsoft.com/office/drawing/2014/main" id="{74EC6543-4FFB-122D-5EE5-D152FFFB735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DF85CF8E-767B-7DCB-8D4E-072A30E4789F}"/>
              </a:ext>
            </a:extLst>
          </p:cNvPr>
          <p:cNvSpPr>
            <a:spLocks noChangeAspect="1" noChangeArrowheads="1"/>
          </p:cNvSpPr>
          <p:nvPr/>
        </p:nvSpPr>
        <p:spPr bwMode="auto">
          <a:xfrm>
            <a:off x="7584440" y="184912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578A8A7D-9F7F-8C7F-4945-FEFD8FDB343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4926D4F7-9AF9-44DC-9C01-AADDEBB36B5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a:extLst>
              <a:ext uri="{FF2B5EF4-FFF2-40B4-BE49-F238E27FC236}">
                <a16:creationId xmlns:a16="http://schemas.microsoft.com/office/drawing/2014/main" id="{16AD663D-99BF-B5EB-0CDB-5B959303B250}"/>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 name="Picture 16">
            <a:extLst>
              <a:ext uri="{FF2B5EF4-FFF2-40B4-BE49-F238E27FC236}">
                <a16:creationId xmlns:a16="http://schemas.microsoft.com/office/drawing/2014/main" id="{3F9E4DEE-C72F-F71F-620F-D989A31ABA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984607"/>
            <a:ext cx="5715000" cy="4286250"/>
          </a:xfrm>
          <a:prstGeom prst="rect">
            <a:avLst/>
          </a:prstGeom>
        </p:spPr>
      </p:pic>
      <p:sp>
        <p:nvSpPr>
          <p:cNvPr id="3" name="TextBox 2">
            <a:extLst>
              <a:ext uri="{FF2B5EF4-FFF2-40B4-BE49-F238E27FC236}">
                <a16:creationId xmlns:a16="http://schemas.microsoft.com/office/drawing/2014/main" id="{69F50D05-6977-39DF-F2D1-7FB305D912DD}"/>
              </a:ext>
            </a:extLst>
          </p:cNvPr>
          <p:cNvSpPr txBox="1"/>
          <p:nvPr/>
        </p:nvSpPr>
        <p:spPr>
          <a:xfrm>
            <a:off x="6248400" y="5600563"/>
            <a:ext cx="5791200" cy="369332"/>
          </a:xfrm>
          <a:prstGeom prst="rect">
            <a:avLst/>
          </a:prstGeom>
          <a:noFill/>
        </p:spPr>
        <p:txBody>
          <a:bodyPr wrap="square" rtlCol="0">
            <a:spAutoFit/>
          </a:bodyPr>
          <a:lstStyle/>
          <a:p>
            <a:pPr algn="ctr"/>
            <a:r>
              <a:rPr lang="en-US" dirty="0"/>
              <a:t>Step 2: Inhale-HASTA UTTANASANA</a:t>
            </a:r>
            <a:endParaRPr lang="en-IN" dirty="0"/>
          </a:p>
        </p:txBody>
      </p:sp>
      <p:pic>
        <p:nvPicPr>
          <p:cNvPr id="18" name="Picture 17">
            <a:extLst>
              <a:ext uri="{FF2B5EF4-FFF2-40B4-BE49-F238E27FC236}">
                <a16:creationId xmlns:a16="http://schemas.microsoft.com/office/drawing/2014/main" id="{03846BDB-06AF-11BB-4C44-9CD5F1DCF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984607"/>
            <a:ext cx="5715000" cy="4286250"/>
          </a:xfrm>
          <a:prstGeom prst="rect">
            <a:avLst/>
          </a:prstGeom>
        </p:spPr>
      </p:pic>
    </p:spTree>
    <p:extLst>
      <p:ext uri="{BB962C8B-B14F-4D97-AF65-F5344CB8AC3E}">
        <p14:creationId xmlns:p14="http://schemas.microsoft.com/office/powerpoint/2010/main" val="146756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9146-8BD1-53A4-A08F-B56C57EC9ED1}"/>
            </a:ext>
          </a:extLst>
        </p:cNvPr>
        <p:cNvGrpSpPr/>
        <p:nvPr/>
      </p:nvGrpSpPr>
      <p:grpSpPr>
        <a:xfrm>
          <a:off x="0" y="0"/>
          <a:ext cx="0" cy="0"/>
          <a:chOff x="0" y="0"/>
          <a:chExt cx="0" cy="0"/>
        </a:xfrm>
      </p:grpSpPr>
      <p:sp>
        <p:nvSpPr>
          <p:cNvPr id="5" name="AutoShape 2">
            <a:extLst>
              <a:ext uri="{FF2B5EF4-FFF2-40B4-BE49-F238E27FC236}">
                <a16:creationId xmlns:a16="http://schemas.microsoft.com/office/drawing/2014/main" id="{290C2408-138C-F262-E324-5E50D3E66A0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68788D9D-6DB9-A028-224F-C66D81CA8203}"/>
              </a:ext>
            </a:extLst>
          </p:cNvPr>
          <p:cNvSpPr>
            <a:spLocks noChangeAspect="1" noChangeArrowheads="1"/>
          </p:cNvSpPr>
          <p:nvPr/>
        </p:nvSpPr>
        <p:spPr bwMode="auto">
          <a:xfrm>
            <a:off x="6096000" y="34290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E3932089-1B30-C518-DD89-0F398DB5311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C746D0D4-4D11-49BF-025B-AFDDA510DD13}"/>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DA813E7D-F26D-5917-41C5-65417B573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709750"/>
            <a:ext cx="5715000" cy="4286250"/>
          </a:xfrm>
          <a:prstGeom prst="rect">
            <a:avLst/>
          </a:prstGeom>
        </p:spPr>
      </p:pic>
      <p:sp>
        <p:nvSpPr>
          <p:cNvPr id="9" name="AutoShape 10">
            <a:extLst>
              <a:ext uri="{FF2B5EF4-FFF2-40B4-BE49-F238E27FC236}">
                <a16:creationId xmlns:a16="http://schemas.microsoft.com/office/drawing/2014/main" id="{2851A74D-8C87-6C24-6185-0C5925CC5A83}"/>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67E01558-2C71-F47C-418E-EB24A9BD611D}"/>
              </a:ext>
            </a:extLst>
          </p:cNvPr>
          <p:cNvSpPr txBox="1"/>
          <p:nvPr/>
        </p:nvSpPr>
        <p:spPr>
          <a:xfrm>
            <a:off x="0" y="5600563"/>
            <a:ext cx="5791200" cy="369332"/>
          </a:xfrm>
          <a:prstGeom prst="rect">
            <a:avLst/>
          </a:prstGeom>
          <a:noFill/>
        </p:spPr>
        <p:txBody>
          <a:bodyPr wrap="square" rtlCol="0">
            <a:spAutoFit/>
          </a:bodyPr>
          <a:lstStyle/>
          <a:p>
            <a:pPr algn="ctr"/>
            <a:r>
              <a:rPr lang="en-US" dirty="0"/>
              <a:t>Step 3: Exhale-PADAHASTASANA</a:t>
            </a:r>
            <a:endParaRPr lang="en-IN" dirty="0"/>
          </a:p>
        </p:txBody>
      </p:sp>
      <p:sp>
        <p:nvSpPr>
          <p:cNvPr id="11" name="TextBox 10">
            <a:extLst>
              <a:ext uri="{FF2B5EF4-FFF2-40B4-BE49-F238E27FC236}">
                <a16:creationId xmlns:a16="http://schemas.microsoft.com/office/drawing/2014/main" id="{03E69BA7-7D4D-AAC4-59E9-EA9005864A99}"/>
              </a:ext>
            </a:extLst>
          </p:cNvPr>
          <p:cNvSpPr txBox="1"/>
          <p:nvPr/>
        </p:nvSpPr>
        <p:spPr>
          <a:xfrm>
            <a:off x="6248400" y="5600563"/>
            <a:ext cx="5791200" cy="369332"/>
          </a:xfrm>
          <a:prstGeom prst="rect">
            <a:avLst/>
          </a:prstGeom>
          <a:noFill/>
        </p:spPr>
        <p:txBody>
          <a:bodyPr wrap="square" rtlCol="0">
            <a:spAutoFit/>
          </a:bodyPr>
          <a:lstStyle/>
          <a:p>
            <a:pPr algn="ctr"/>
            <a:r>
              <a:rPr lang="en-US" dirty="0"/>
              <a:t>Step 3: Inhale-ASHWA SANCHALANASANA</a:t>
            </a:r>
            <a:endParaRPr lang="en-IN" dirty="0"/>
          </a:p>
        </p:txBody>
      </p:sp>
      <p:pic>
        <p:nvPicPr>
          <p:cNvPr id="4" name="Picture 3">
            <a:extLst>
              <a:ext uri="{FF2B5EF4-FFF2-40B4-BE49-F238E27FC236}">
                <a16:creationId xmlns:a16="http://schemas.microsoft.com/office/drawing/2014/main" id="{964A06E0-C054-CA88-8141-4211210C8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709750"/>
            <a:ext cx="5715000" cy="4286250"/>
          </a:xfrm>
          <a:prstGeom prst="rect">
            <a:avLst/>
          </a:prstGeom>
        </p:spPr>
      </p:pic>
    </p:spTree>
    <p:extLst>
      <p:ext uri="{BB962C8B-B14F-4D97-AF65-F5344CB8AC3E}">
        <p14:creationId xmlns:p14="http://schemas.microsoft.com/office/powerpoint/2010/main" val="1781808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D617-0538-297D-E907-D478EE50D4F7}"/>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75FA8B7-F6B4-1CC6-8AA9-C12AB60C5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709750"/>
            <a:ext cx="5715000" cy="4286250"/>
          </a:xfrm>
          <a:prstGeom prst="rect">
            <a:avLst/>
          </a:prstGeom>
        </p:spPr>
      </p:pic>
      <p:sp>
        <p:nvSpPr>
          <p:cNvPr id="5" name="AutoShape 2">
            <a:extLst>
              <a:ext uri="{FF2B5EF4-FFF2-40B4-BE49-F238E27FC236}">
                <a16:creationId xmlns:a16="http://schemas.microsoft.com/office/drawing/2014/main" id="{CFB840EE-EF94-2236-590C-197EA357DD1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CCBD16C8-19A3-3C04-FA7B-01BDE03E5CB4}"/>
              </a:ext>
            </a:extLst>
          </p:cNvPr>
          <p:cNvSpPr>
            <a:spLocks noChangeAspect="1" noChangeArrowheads="1"/>
          </p:cNvSpPr>
          <p:nvPr/>
        </p:nvSpPr>
        <p:spPr bwMode="auto">
          <a:xfrm>
            <a:off x="6096000" y="34290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2FA675C8-0EA2-A179-333F-2D9F404B677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77A9C1C7-3785-EA42-A33A-88236BBADDD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a:extLst>
              <a:ext uri="{FF2B5EF4-FFF2-40B4-BE49-F238E27FC236}">
                <a16:creationId xmlns:a16="http://schemas.microsoft.com/office/drawing/2014/main" id="{6C8CA241-FD3D-3D13-ED4E-C12535F408DD}"/>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39C2357A-D42B-538D-CC33-2B0C2F60497C}"/>
              </a:ext>
            </a:extLst>
          </p:cNvPr>
          <p:cNvSpPr txBox="1"/>
          <p:nvPr/>
        </p:nvSpPr>
        <p:spPr>
          <a:xfrm>
            <a:off x="0" y="5600563"/>
            <a:ext cx="5791200" cy="369332"/>
          </a:xfrm>
          <a:prstGeom prst="rect">
            <a:avLst/>
          </a:prstGeom>
          <a:noFill/>
        </p:spPr>
        <p:txBody>
          <a:bodyPr wrap="square" rtlCol="0">
            <a:spAutoFit/>
          </a:bodyPr>
          <a:lstStyle/>
          <a:p>
            <a:pPr algn="ctr"/>
            <a:r>
              <a:rPr lang="en-US" dirty="0"/>
              <a:t>Step 5: Inhale-ANDRA CHANDRASANA</a:t>
            </a:r>
            <a:endParaRPr lang="en-IN" dirty="0"/>
          </a:p>
        </p:txBody>
      </p:sp>
      <p:sp>
        <p:nvSpPr>
          <p:cNvPr id="11" name="TextBox 10">
            <a:extLst>
              <a:ext uri="{FF2B5EF4-FFF2-40B4-BE49-F238E27FC236}">
                <a16:creationId xmlns:a16="http://schemas.microsoft.com/office/drawing/2014/main" id="{1CCB1265-156F-3DF1-3CCC-BDF0F0943B55}"/>
              </a:ext>
            </a:extLst>
          </p:cNvPr>
          <p:cNvSpPr txBox="1"/>
          <p:nvPr/>
        </p:nvSpPr>
        <p:spPr>
          <a:xfrm>
            <a:off x="6248400" y="5600563"/>
            <a:ext cx="5791200" cy="369332"/>
          </a:xfrm>
          <a:prstGeom prst="rect">
            <a:avLst/>
          </a:prstGeom>
          <a:noFill/>
        </p:spPr>
        <p:txBody>
          <a:bodyPr wrap="square" rtlCol="0">
            <a:spAutoFit/>
          </a:bodyPr>
          <a:lstStyle/>
          <a:p>
            <a:pPr algn="ctr"/>
            <a:r>
              <a:rPr lang="en-US" dirty="0"/>
              <a:t>Step 6: Retain the breath-DANDASANA</a:t>
            </a:r>
            <a:endParaRPr lang="en-IN" dirty="0"/>
          </a:p>
        </p:txBody>
      </p:sp>
      <p:pic>
        <p:nvPicPr>
          <p:cNvPr id="24" name="Picture 23">
            <a:extLst>
              <a:ext uri="{FF2B5EF4-FFF2-40B4-BE49-F238E27FC236}">
                <a16:creationId xmlns:a16="http://schemas.microsoft.com/office/drawing/2014/main" id="{1A476105-E684-54C6-D159-C481CDEB88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4726" y="709750"/>
            <a:ext cx="5791200" cy="4286250"/>
          </a:xfrm>
          <a:prstGeom prst="rect">
            <a:avLst/>
          </a:prstGeom>
        </p:spPr>
      </p:pic>
    </p:spTree>
    <p:extLst>
      <p:ext uri="{BB962C8B-B14F-4D97-AF65-F5344CB8AC3E}">
        <p14:creationId xmlns:p14="http://schemas.microsoft.com/office/powerpoint/2010/main" val="1150319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2426B-0BBA-E88B-F498-1C37FF33C4F9}"/>
            </a:ext>
          </a:extLst>
        </p:cNvPr>
        <p:cNvGrpSpPr/>
        <p:nvPr/>
      </p:nvGrpSpPr>
      <p:grpSpPr>
        <a:xfrm>
          <a:off x="0" y="0"/>
          <a:ext cx="0" cy="0"/>
          <a:chOff x="0" y="0"/>
          <a:chExt cx="0" cy="0"/>
        </a:xfrm>
      </p:grpSpPr>
      <p:sp>
        <p:nvSpPr>
          <p:cNvPr id="5" name="AutoShape 2">
            <a:extLst>
              <a:ext uri="{FF2B5EF4-FFF2-40B4-BE49-F238E27FC236}">
                <a16:creationId xmlns:a16="http://schemas.microsoft.com/office/drawing/2014/main" id="{487B542C-0E78-3534-89A7-BAE6493068B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5ED75CB9-76EE-22B0-F6D4-76C6EAB9F4E1}"/>
              </a:ext>
            </a:extLst>
          </p:cNvPr>
          <p:cNvSpPr>
            <a:spLocks noChangeAspect="1" noChangeArrowheads="1"/>
          </p:cNvSpPr>
          <p:nvPr/>
        </p:nvSpPr>
        <p:spPr bwMode="auto">
          <a:xfrm>
            <a:off x="6096000" y="34290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F9789FF3-B981-C60D-3A19-8C7796847FF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D29AE10F-7FE3-EEB3-6BDB-FA03902D2DA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a:extLst>
              <a:ext uri="{FF2B5EF4-FFF2-40B4-BE49-F238E27FC236}">
                <a16:creationId xmlns:a16="http://schemas.microsoft.com/office/drawing/2014/main" id="{1F32BA90-0AF1-A1DC-91C5-7061CFB39E92}"/>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2638673E-8CC5-49C8-6BFF-A0E601299EB4}"/>
              </a:ext>
            </a:extLst>
          </p:cNvPr>
          <p:cNvSpPr txBox="1"/>
          <p:nvPr/>
        </p:nvSpPr>
        <p:spPr>
          <a:xfrm>
            <a:off x="0" y="5600563"/>
            <a:ext cx="5791200" cy="369332"/>
          </a:xfrm>
          <a:prstGeom prst="rect">
            <a:avLst/>
          </a:prstGeom>
          <a:noFill/>
        </p:spPr>
        <p:txBody>
          <a:bodyPr wrap="square" rtlCol="0">
            <a:spAutoFit/>
          </a:bodyPr>
          <a:lstStyle/>
          <a:p>
            <a:pPr algn="ctr"/>
            <a:r>
              <a:rPr lang="en-US" dirty="0"/>
              <a:t>Step 7: Exhale-ASHTANGA NAMASKARA</a:t>
            </a:r>
            <a:endParaRPr lang="en-IN" dirty="0"/>
          </a:p>
        </p:txBody>
      </p:sp>
      <p:sp>
        <p:nvSpPr>
          <p:cNvPr id="11" name="TextBox 10">
            <a:extLst>
              <a:ext uri="{FF2B5EF4-FFF2-40B4-BE49-F238E27FC236}">
                <a16:creationId xmlns:a16="http://schemas.microsoft.com/office/drawing/2014/main" id="{3ADDEC61-507B-D1B3-25D6-E2CD60C530B7}"/>
              </a:ext>
            </a:extLst>
          </p:cNvPr>
          <p:cNvSpPr txBox="1"/>
          <p:nvPr/>
        </p:nvSpPr>
        <p:spPr>
          <a:xfrm>
            <a:off x="6248400" y="5600563"/>
            <a:ext cx="5791200" cy="369332"/>
          </a:xfrm>
          <a:prstGeom prst="rect">
            <a:avLst/>
          </a:prstGeom>
          <a:noFill/>
        </p:spPr>
        <p:txBody>
          <a:bodyPr wrap="square" rtlCol="0">
            <a:spAutoFit/>
          </a:bodyPr>
          <a:lstStyle/>
          <a:p>
            <a:pPr algn="ctr"/>
            <a:r>
              <a:rPr lang="en-US" dirty="0"/>
              <a:t>Step 8: Inhale-BHUJANGASANA</a:t>
            </a:r>
            <a:endParaRPr lang="en-IN" dirty="0"/>
          </a:p>
        </p:txBody>
      </p:sp>
      <p:pic>
        <p:nvPicPr>
          <p:cNvPr id="12" name="Picture 11">
            <a:extLst>
              <a:ext uri="{FF2B5EF4-FFF2-40B4-BE49-F238E27FC236}">
                <a16:creationId xmlns:a16="http://schemas.microsoft.com/office/drawing/2014/main" id="{131F2C74-764B-84DD-AE14-308F2329C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799" y="709750"/>
            <a:ext cx="5715000" cy="4286250"/>
          </a:xfrm>
          <a:prstGeom prst="rect">
            <a:avLst/>
          </a:prstGeom>
        </p:spPr>
      </p:pic>
      <p:pic>
        <p:nvPicPr>
          <p:cNvPr id="15" name="Picture 14">
            <a:extLst>
              <a:ext uri="{FF2B5EF4-FFF2-40B4-BE49-F238E27FC236}">
                <a16:creationId xmlns:a16="http://schemas.microsoft.com/office/drawing/2014/main" id="{3692D0EE-147E-AE0F-2732-4E25997F4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48" y="709750"/>
            <a:ext cx="5715000" cy="4286250"/>
          </a:xfrm>
          <a:prstGeom prst="rect">
            <a:avLst/>
          </a:prstGeom>
        </p:spPr>
      </p:pic>
    </p:spTree>
    <p:extLst>
      <p:ext uri="{BB962C8B-B14F-4D97-AF65-F5344CB8AC3E}">
        <p14:creationId xmlns:p14="http://schemas.microsoft.com/office/powerpoint/2010/main" val="495027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12F9D-A7BD-193A-5ED6-5E1B2DDFBCA7}"/>
            </a:ext>
          </a:extLst>
        </p:cNvPr>
        <p:cNvGrpSpPr/>
        <p:nvPr/>
      </p:nvGrpSpPr>
      <p:grpSpPr>
        <a:xfrm>
          <a:off x="0" y="0"/>
          <a:ext cx="0" cy="0"/>
          <a:chOff x="0" y="0"/>
          <a:chExt cx="0" cy="0"/>
        </a:xfrm>
      </p:grpSpPr>
      <p:sp>
        <p:nvSpPr>
          <p:cNvPr id="5" name="AutoShape 2">
            <a:extLst>
              <a:ext uri="{FF2B5EF4-FFF2-40B4-BE49-F238E27FC236}">
                <a16:creationId xmlns:a16="http://schemas.microsoft.com/office/drawing/2014/main" id="{F22637F6-FFFC-3935-9AFD-C0BABC84DEF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52485FBD-62F2-4AB9-39A9-612B505E43C6}"/>
              </a:ext>
            </a:extLst>
          </p:cNvPr>
          <p:cNvSpPr>
            <a:spLocks noChangeAspect="1" noChangeArrowheads="1"/>
          </p:cNvSpPr>
          <p:nvPr/>
        </p:nvSpPr>
        <p:spPr bwMode="auto">
          <a:xfrm>
            <a:off x="6096000" y="34290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31CAA0E5-66A9-2F1B-39B3-2D072C2A5C6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BBE3C182-306E-B6F9-59A3-B80009B76DBA}"/>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a:extLst>
              <a:ext uri="{FF2B5EF4-FFF2-40B4-BE49-F238E27FC236}">
                <a16:creationId xmlns:a16="http://schemas.microsoft.com/office/drawing/2014/main" id="{C47594FF-F476-8841-C148-FC74315994E9}"/>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EF8BDFFA-011B-8755-CFF7-AE64411676E3}"/>
              </a:ext>
            </a:extLst>
          </p:cNvPr>
          <p:cNvSpPr txBox="1"/>
          <p:nvPr/>
        </p:nvSpPr>
        <p:spPr>
          <a:xfrm>
            <a:off x="0" y="5600563"/>
            <a:ext cx="5791200" cy="369332"/>
          </a:xfrm>
          <a:prstGeom prst="rect">
            <a:avLst/>
          </a:prstGeom>
          <a:noFill/>
        </p:spPr>
        <p:txBody>
          <a:bodyPr wrap="square" rtlCol="0">
            <a:spAutoFit/>
          </a:bodyPr>
          <a:lstStyle/>
          <a:p>
            <a:pPr algn="ctr"/>
            <a:r>
              <a:rPr lang="en-US" dirty="0"/>
              <a:t>Step 9: Exhale-PARVATASANA</a:t>
            </a:r>
            <a:endParaRPr lang="en-IN" dirty="0"/>
          </a:p>
        </p:txBody>
      </p:sp>
      <p:sp>
        <p:nvSpPr>
          <p:cNvPr id="11" name="TextBox 10">
            <a:extLst>
              <a:ext uri="{FF2B5EF4-FFF2-40B4-BE49-F238E27FC236}">
                <a16:creationId xmlns:a16="http://schemas.microsoft.com/office/drawing/2014/main" id="{A203AB3F-57E0-93ED-C493-52DD8DFE7BC6}"/>
              </a:ext>
            </a:extLst>
          </p:cNvPr>
          <p:cNvSpPr txBox="1"/>
          <p:nvPr/>
        </p:nvSpPr>
        <p:spPr>
          <a:xfrm>
            <a:off x="6248400" y="5600563"/>
            <a:ext cx="5791200" cy="369332"/>
          </a:xfrm>
          <a:prstGeom prst="rect">
            <a:avLst/>
          </a:prstGeom>
          <a:noFill/>
        </p:spPr>
        <p:txBody>
          <a:bodyPr wrap="square" rtlCol="0">
            <a:spAutoFit/>
          </a:bodyPr>
          <a:lstStyle/>
          <a:p>
            <a:pPr algn="ctr"/>
            <a:r>
              <a:rPr lang="en-US" dirty="0"/>
              <a:t>Step 10: Inhale-ASHWA SANCHALANASANA</a:t>
            </a:r>
            <a:endParaRPr lang="en-IN" dirty="0"/>
          </a:p>
        </p:txBody>
      </p:sp>
      <p:pic>
        <p:nvPicPr>
          <p:cNvPr id="16" name="Picture 15">
            <a:extLst>
              <a:ext uri="{FF2B5EF4-FFF2-40B4-BE49-F238E27FC236}">
                <a16:creationId xmlns:a16="http://schemas.microsoft.com/office/drawing/2014/main" id="{73FA52E1-98C8-2732-0339-BBC93CC8EF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1" y="702998"/>
            <a:ext cx="5715000" cy="4286250"/>
          </a:xfrm>
          <a:prstGeom prst="rect">
            <a:avLst/>
          </a:prstGeom>
        </p:spPr>
      </p:pic>
      <p:pic>
        <p:nvPicPr>
          <p:cNvPr id="18" name="Picture 17">
            <a:extLst>
              <a:ext uri="{FF2B5EF4-FFF2-40B4-BE49-F238E27FC236}">
                <a16:creationId xmlns:a16="http://schemas.microsoft.com/office/drawing/2014/main" id="{4CE22DA0-81CC-F85A-781E-8588A5812B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600" y="702998"/>
            <a:ext cx="5715000" cy="4286250"/>
          </a:xfrm>
          <a:prstGeom prst="rect">
            <a:avLst/>
          </a:prstGeom>
        </p:spPr>
      </p:pic>
    </p:spTree>
    <p:extLst>
      <p:ext uri="{BB962C8B-B14F-4D97-AF65-F5344CB8AC3E}">
        <p14:creationId xmlns:p14="http://schemas.microsoft.com/office/powerpoint/2010/main" val="2033957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591AD-E736-E1C8-ED1B-3D6A368B33F5}"/>
            </a:ext>
          </a:extLst>
        </p:cNvPr>
        <p:cNvGrpSpPr/>
        <p:nvPr/>
      </p:nvGrpSpPr>
      <p:grpSpPr>
        <a:xfrm>
          <a:off x="0" y="0"/>
          <a:ext cx="0" cy="0"/>
          <a:chOff x="0" y="0"/>
          <a:chExt cx="0" cy="0"/>
        </a:xfrm>
      </p:grpSpPr>
      <p:sp>
        <p:nvSpPr>
          <p:cNvPr id="5" name="AutoShape 2">
            <a:extLst>
              <a:ext uri="{FF2B5EF4-FFF2-40B4-BE49-F238E27FC236}">
                <a16:creationId xmlns:a16="http://schemas.microsoft.com/office/drawing/2014/main" id="{4FF33514-561E-82FD-ED6D-82D7A756E5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6D45D34E-C030-F3C9-B707-ED86E515838A}"/>
              </a:ext>
            </a:extLst>
          </p:cNvPr>
          <p:cNvSpPr>
            <a:spLocks noChangeAspect="1" noChangeArrowheads="1"/>
          </p:cNvSpPr>
          <p:nvPr/>
        </p:nvSpPr>
        <p:spPr bwMode="auto">
          <a:xfrm>
            <a:off x="6096000" y="34290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BA0967AC-83BD-3A1E-32EB-4DAFE44392B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3A22F859-2FCE-3BDC-D2A8-6A38D8BA4822}"/>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a:extLst>
              <a:ext uri="{FF2B5EF4-FFF2-40B4-BE49-F238E27FC236}">
                <a16:creationId xmlns:a16="http://schemas.microsoft.com/office/drawing/2014/main" id="{8C4F5EE3-569C-4DBA-673A-DB18D4E9D95A}"/>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573416A1-2D28-CE22-30C6-78F73BE6CCE7}"/>
              </a:ext>
            </a:extLst>
          </p:cNvPr>
          <p:cNvSpPr txBox="1"/>
          <p:nvPr/>
        </p:nvSpPr>
        <p:spPr>
          <a:xfrm>
            <a:off x="0" y="5600563"/>
            <a:ext cx="5791200" cy="369332"/>
          </a:xfrm>
          <a:prstGeom prst="rect">
            <a:avLst/>
          </a:prstGeom>
          <a:noFill/>
        </p:spPr>
        <p:txBody>
          <a:bodyPr wrap="square" rtlCol="0">
            <a:spAutoFit/>
          </a:bodyPr>
          <a:lstStyle/>
          <a:p>
            <a:pPr algn="ctr"/>
            <a:r>
              <a:rPr lang="en-US" dirty="0"/>
              <a:t>Step 11: Inhale-ARDHA CHANDRASANA</a:t>
            </a:r>
            <a:endParaRPr lang="en-IN" dirty="0"/>
          </a:p>
        </p:txBody>
      </p:sp>
      <p:sp>
        <p:nvSpPr>
          <p:cNvPr id="11" name="TextBox 10">
            <a:extLst>
              <a:ext uri="{FF2B5EF4-FFF2-40B4-BE49-F238E27FC236}">
                <a16:creationId xmlns:a16="http://schemas.microsoft.com/office/drawing/2014/main" id="{4DD0BFDC-4BBA-421E-3ED9-152F73AB1522}"/>
              </a:ext>
            </a:extLst>
          </p:cNvPr>
          <p:cNvSpPr txBox="1"/>
          <p:nvPr/>
        </p:nvSpPr>
        <p:spPr>
          <a:xfrm>
            <a:off x="6248400" y="5600563"/>
            <a:ext cx="5791200" cy="369332"/>
          </a:xfrm>
          <a:prstGeom prst="rect">
            <a:avLst/>
          </a:prstGeom>
          <a:noFill/>
        </p:spPr>
        <p:txBody>
          <a:bodyPr wrap="square" rtlCol="0">
            <a:spAutoFit/>
          </a:bodyPr>
          <a:lstStyle/>
          <a:p>
            <a:pPr algn="ctr"/>
            <a:r>
              <a:rPr lang="en-US" dirty="0"/>
              <a:t>Step 12: Exhale-PADAHASTASANA</a:t>
            </a:r>
            <a:endParaRPr lang="en-IN" dirty="0"/>
          </a:p>
        </p:txBody>
      </p:sp>
      <p:pic>
        <p:nvPicPr>
          <p:cNvPr id="13" name="Picture 12">
            <a:extLst>
              <a:ext uri="{FF2B5EF4-FFF2-40B4-BE49-F238E27FC236}">
                <a16:creationId xmlns:a16="http://schemas.microsoft.com/office/drawing/2014/main" id="{FBA5CA8B-8B93-2FF6-AC83-3103895F3D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709750"/>
            <a:ext cx="5715000" cy="4286250"/>
          </a:xfrm>
          <a:prstGeom prst="rect">
            <a:avLst/>
          </a:prstGeom>
        </p:spPr>
      </p:pic>
      <p:pic>
        <p:nvPicPr>
          <p:cNvPr id="16" name="Picture 15">
            <a:extLst>
              <a:ext uri="{FF2B5EF4-FFF2-40B4-BE49-F238E27FC236}">
                <a16:creationId xmlns:a16="http://schemas.microsoft.com/office/drawing/2014/main" id="{6183DD58-6A7C-2A6F-C0F4-92BBFECCDE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1671" y="709750"/>
            <a:ext cx="5715000" cy="4286250"/>
          </a:xfrm>
          <a:prstGeom prst="rect">
            <a:avLst/>
          </a:prstGeom>
        </p:spPr>
      </p:pic>
    </p:spTree>
    <p:extLst>
      <p:ext uri="{BB962C8B-B14F-4D97-AF65-F5344CB8AC3E}">
        <p14:creationId xmlns:p14="http://schemas.microsoft.com/office/powerpoint/2010/main" val="2454315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12BC1-D3ED-9D7F-0DA9-976D7666D172}"/>
            </a:ext>
          </a:extLst>
        </p:cNvPr>
        <p:cNvGrpSpPr/>
        <p:nvPr/>
      </p:nvGrpSpPr>
      <p:grpSpPr>
        <a:xfrm>
          <a:off x="0" y="0"/>
          <a:ext cx="0" cy="0"/>
          <a:chOff x="0" y="0"/>
          <a:chExt cx="0" cy="0"/>
        </a:xfrm>
      </p:grpSpPr>
      <p:sp>
        <p:nvSpPr>
          <p:cNvPr id="5" name="AutoShape 2">
            <a:extLst>
              <a:ext uri="{FF2B5EF4-FFF2-40B4-BE49-F238E27FC236}">
                <a16:creationId xmlns:a16="http://schemas.microsoft.com/office/drawing/2014/main" id="{6727C704-3339-8172-3FC9-09049EC9D1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39879BA7-0960-97BF-B361-B59D1E88404B}"/>
              </a:ext>
            </a:extLst>
          </p:cNvPr>
          <p:cNvSpPr>
            <a:spLocks noChangeAspect="1" noChangeArrowheads="1"/>
          </p:cNvSpPr>
          <p:nvPr/>
        </p:nvSpPr>
        <p:spPr bwMode="auto">
          <a:xfrm>
            <a:off x="6096000" y="34290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2A96B9C4-869B-FDE1-9136-B88989FF673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a:extLst>
              <a:ext uri="{FF2B5EF4-FFF2-40B4-BE49-F238E27FC236}">
                <a16:creationId xmlns:a16="http://schemas.microsoft.com/office/drawing/2014/main" id="{2ACE3522-F8C4-8010-6627-40EE908935F0}"/>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a:extLst>
              <a:ext uri="{FF2B5EF4-FFF2-40B4-BE49-F238E27FC236}">
                <a16:creationId xmlns:a16="http://schemas.microsoft.com/office/drawing/2014/main" id="{C09E40AC-F414-54F0-BF87-F26181A23CD8}"/>
              </a:ext>
            </a:extLst>
          </p:cNvPr>
          <p:cNvSpPr>
            <a:spLocks noChangeAspect="1" noChangeArrowheads="1"/>
          </p:cNvSpPr>
          <p:nvPr/>
        </p:nvSpPr>
        <p:spPr bwMode="auto">
          <a:xfrm>
            <a:off x="6400800" y="37338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1">
            <a:extLst>
              <a:ext uri="{FF2B5EF4-FFF2-40B4-BE49-F238E27FC236}">
                <a16:creationId xmlns:a16="http://schemas.microsoft.com/office/drawing/2014/main" id="{41374929-D322-5CF4-56E6-2A8436D3D6C3}"/>
              </a:ext>
            </a:extLst>
          </p:cNvPr>
          <p:cNvSpPr txBox="1"/>
          <p:nvPr/>
        </p:nvSpPr>
        <p:spPr>
          <a:xfrm>
            <a:off x="0" y="5600563"/>
            <a:ext cx="5791200" cy="369332"/>
          </a:xfrm>
          <a:prstGeom prst="rect">
            <a:avLst/>
          </a:prstGeom>
          <a:noFill/>
        </p:spPr>
        <p:txBody>
          <a:bodyPr wrap="square" rtlCol="0">
            <a:spAutoFit/>
          </a:bodyPr>
          <a:lstStyle/>
          <a:p>
            <a:pPr algn="ctr"/>
            <a:r>
              <a:rPr lang="en-US" dirty="0"/>
              <a:t>Step 13: Inhale-HASTA UTANASANA</a:t>
            </a:r>
            <a:endParaRPr lang="en-IN" dirty="0"/>
          </a:p>
        </p:txBody>
      </p:sp>
      <p:sp>
        <p:nvSpPr>
          <p:cNvPr id="11" name="TextBox 10">
            <a:extLst>
              <a:ext uri="{FF2B5EF4-FFF2-40B4-BE49-F238E27FC236}">
                <a16:creationId xmlns:a16="http://schemas.microsoft.com/office/drawing/2014/main" id="{1623AB6B-D3E4-14D7-0DC1-B11D1028F8BD}"/>
              </a:ext>
            </a:extLst>
          </p:cNvPr>
          <p:cNvSpPr txBox="1"/>
          <p:nvPr/>
        </p:nvSpPr>
        <p:spPr>
          <a:xfrm>
            <a:off x="6248400" y="5600563"/>
            <a:ext cx="5791200" cy="369332"/>
          </a:xfrm>
          <a:prstGeom prst="rect">
            <a:avLst/>
          </a:prstGeom>
          <a:noFill/>
        </p:spPr>
        <p:txBody>
          <a:bodyPr wrap="square" rtlCol="0">
            <a:spAutoFit/>
          </a:bodyPr>
          <a:lstStyle/>
          <a:p>
            <a:pPr algn="ctr"/>
            <a:r>
              <a:rPr lang="en-US" dirty="0"/>
              <a:t>Step 14: Exhale-PRANAMASANA</a:t>
            </a:r>
            <a:endParaRPr lang="en-IN" dirty="0"/>
          </a:p>
        </p:txBody>
      </p:sp>
      <p:pic>
        <p:nvPicPr>
          <p:cNvPr id="4" name="Picture 3">
            <a:extLst>
              <a:ext uri="{FF2B5EF4-FFF2-40B4-BE49-F238E27FC236}">
                <a16:creationId xmlns:a16="http://schemas.microsoft.com/office/drawing/2014/main" id="{B3BF230E-C8AE-4022-28D0-EF91C22C2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1" y="709750"/>
            <a:ext cx="5715000" cy="4286250"/>
          </a:xfrm>
          <a:prstGeom prst="rect">
            <a:avLst/>
          </a:prstGeom>
        </p:spPr>
      </p:pic>
      <p:pic>
        <p:nvPicPr>
          <p:cNvPr id="13" name="Picture 12">
            <a:extLst>
              <a:ext uri="{FF2B5EF4-FFF2-40B4-BE49-F238E27FC236}">
                <a16:creationId xmlns:a16="http://schemas.microsoft.com/office/drawing/2014/main" id="{45F4CEF1-D9CD-0412-A104-3001A1A614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799" y="709750"/>
            <a:ext cx="5715000" cy="4286250"/>
          </a:xfrm>
          <a:prstGeom prst="rect">
            <a:avLst/>
          </a:prstGeom>
        </p:spPr>
      </p:pic>
    </p:spTree>
    <p:extLst>
      <p:ext uri="{BB962C8B-B14F-4D97-AF65-F5344CB8AC3E}">
        <p14:creationId xmlns:p14="http://schemas.microsoft.com/office/powerpoint/2010/main" val="1434006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C958E9-B147-5F86-7AD4-812F025260F3}"/>
              </a:ext>
            </a:extLst>
          </p:cNvPr>
          <p:cNvSpPr>
            <a:spLocks noGrp="1"/>
          </p:cNvSpPr>
          <p:nvPr>
            <p:ph idx="1"/>
          </p:nvPr>
        </p:nvSpPr>
        <p:spPr>
          <a:xfrm>
            <a:off x="0" y="431800"/>
            <a:ext cx="12192000" cy="6426200"/>
          </a:xfrm>
        </p:spPr>
        <p:txBody>
          <a:bodyPr>
            <a:normAutofit/>
          </a:bodyPr>
          <a:lstStyle/>
          <a:p>
            <a:pPr marL="0" indent="0" algn="ctr">
              <a:buNone/>
            </a:pPr>
            <a:endParaRPr lang="en-US" sz="13000" dirty="0"/>
          </a:p>
          <a:p>
            <a:pPr marL="0" indent="0" algn="ctr">
              <a:buNone/>
            </a:pPr>
            <a:r>
              <a:rPr lang="en-US" sz="13000" dirty="0"/>
              <a:t>Thank You</a:t>
            </a:r>
            <a:endParaRPr lang="en-IN" sz="13000" dirty="0"/>
          </a:p>
        </p:txBody>
      </p:sp>
    </p:spTree>
    <p:extLst>
      <p:ext uri="{BB962C8B-B14F-4D97-AF65-F5344CB8AC3E}">
        <p14:creationId xmlns:p14="http://schemas.microsoft.com/office/powerpoint/2010/main" val="1631746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1594</Words>
  <Application>Microsoft Office PowerPoint</Application>
  <PresentationFormat>Widescreen</PresentationFormat>
  <Paragraphs>115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French Script MT</vt:lpstr>
      <vt:lpstr>Wingdings</vt:lpstr>
      <vt:lpstr>Office Theme</vt:lpstr>
      <vt:lpstr>Yoga</vt:lpstr>
      <vt:lpstr>What is Yoga?</vt:lpstr>
      <vt:lpstr>Advantages Of Yoga</vt:lpstr>
      <vt:lpstr>Ashtanga Yoga</vt:lpstr>
      <vt:lpstr>History Of Ashtanga Yoga</vt:lpstr>
      <vt:lpstr>8 Limbs Of Ashtanga Yoga</vt:lpstr>
      <vt:lpstr>PowerPoint Presentation</vt:lpstr>
      <vt:lpstr>Ashtanga Yoga Poses</vt:lpstr>
      <vt:lpstr>Benefits Of Ashtanga Yoga</vt:lpstr>
      <vt:lpstr>Moon Salutation</vt:lpstr>
      <vt:lpstr>PowerPoint Presentation</vt:lpstr>
      <vt:lpstr>Steps To Perform Moon Salutation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Soumitra Das</dc:creator>
  <cp:lastModifiedBy>Soumitra Das</cp:lastModifiedBy>
  <cp:revision>6</cp:revision>
  <dcterms:created xsi:type="dcterms:W3CDTF">2024-12-01T15:21:02Z</dcterms:created>
  <dcterms:modified xsi:type="dcterms:W3CDTF">2024-12-02T04:06:22Z</dcterms:modified>
</cp:coreProperties>
</file>