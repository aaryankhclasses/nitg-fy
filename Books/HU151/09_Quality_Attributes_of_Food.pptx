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68" r:id="rId4"/>
    <p:sldId id="269" r:id="rId5"/>
    <p:sldId id="270" r:id="rId6"/>
    <p:sldId id="271" r:id="rId7"/>
    <p:sldId id="272" r:id="rId8"/>
    <p:sldId id="273" r:id="rId9"/>
    <p:sldId id="274" r:id="rId10"/>
    <p:sldId id="275" r:id="rId11"/>
    <p:sldId id="276"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CE3A8-4E77-99D6-8ED3-E304B4D361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2929D5-B7BD-5093-DBA2-85F941E689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D25348-44A8-40BA-DDC1-63B8A8188332}"/>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5" name="Footer Placeholder 4">
            <a:extLst>
              <a:ext uri="{FF2B5EF4-FFF2-40B4-BE49-F238E27FC236}">
                <a16:creationId xmlns:a16="http://schemas.microsoft.com/office/drawing/2014/main" id="{9EC2C784-C19F-C928-0D4B-71887DABAE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756543-2438-5363-97FA-1F996E53B081}"/>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337782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E6E04-8E2C-5604-88AF-CDEA5B8A1A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3156B0-EADE-DEF2-7F10-CDC55B65F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9E8572-8A41-0D78-E00D-18B7E4FC6229}"/>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5" name="Footer Placeholder 4">
            <a:extLst>
              <a:ext uri="{FF2B5EF4-FFF2-40B4-BE49-F238E27FC236}">
                <a16:creationId xmlns:a16="http://schemas.microsoft.com/office/drawing/2014/main" id="{50741431-967D-1A61-D1FB-E2934AD276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16137A-A4EA-A750-A446-07F622E60E0C}"/>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603606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DF3B9-3AB8-BAF2-604D-9D0027B904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96F3A4-7B0C-A246-1478-3D8C47FC11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B8FBE5-482E-5F61-0014-AC7D820EF2EF}"/>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5" name="Footer Placeholder 4">
            <a:extLst>
              <a:ext uri="{FF2B5EF4-FFF2-40B4-BE49-F238E27FC236}">
                <a16:creationId xmlns:a16="http://schemas.microsoft.com/office/drawing/2014/main" id="{EF961FA6-9705-067C-9E34-94F27BBF9F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BD9169-25B7-2EE2-85E1-7417DFE16913}"/>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130931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FD53-EFB7-20B6-FB05-6FCD156884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A1C65D-F18A-DD00-7232-2BC553D453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A87F5B-A855-4FF5-B5E9-6418ACD5DC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3F911B-E965-B3BC-071F-C84C43499461}"/>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6" name="Footer Placeholder 5">
            <a:extLst>
              <a:ext uri="{FF2B5EF4-FFF2-40B4-BE49-F238E27FC236}">
                <a16:creationId xmlns:a16="http://schemas.microsoft.com/office/drawing/2014/main" id="{1019663C-CCAD-DCC8-EBF5-1AB9A03A94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090FEA-60B1-AB67-A09A-C7DD11CB755C}"/>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272700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39DA-7D4A-BE40-A1AD-92F734D10D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922474-9D0D-DC84-8C19-E2C30ED473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3AE25-D198-C9D8-734B-A2FDA3A4AA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0BADCA-17B4-F879-8FB2-1C97BF4EBF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4322D-8A05-A42D-A012-D8BD3B6550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A4985F-7C43-26CE-01FC-9DCFE01CB4E6}"/>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8" name="Footer Placeholder 7">
            <a:extLst>
              <a:ext uri="{FF2B5EF4-FFF2-40B4-BE49-F238E27FC236}">
                <a16:creationId xmlns:a16="http://schemas.microsoft.com/office/drawing/2014/main" id="{3B056F28-21C9-8F29-F8C2-9A40A35D97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522241-0B93-5116-BA48-3A7AB0FDA400}"/>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1278645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257D0-4D39-9F0A-E396-8276EA8DE9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291A31-7C4F-D5D9-684B-DA0FD82991F4}"/>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4" name="Footer Placeholder 3">
            <a:extLst>
              <a:ext uri="{FF2B5EF4-FFF2-40B4-BE49-F238E27FC236}">
                <a16:creationId xmlns:a16="http://schemas.microsoft.com/office/drawing/2014/main" id="{5B5709F4-CA2E-FEBE-40B9-BE73F0844C9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A49CE7-1F0B-AD70-57DF-6FDEFF096860}"/>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65750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4BC506-6C94-D13C-4CD3-52FB3A4F324C}"/>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3" name="Footer Placeholder 2">
            <a:extLst>
              <a:ext uri="{FF2B5EF4-FFF2-40B4-BE49-F238E27FC236}">
                <a16:creationId xmlns:a16="http://schemas.microsoft.com/office/drawing/2014/main" id="{18B3B7CE-7EF1-C98D-BE8D-4B3C2A15983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AFC56F-C162-3671-110F-4C41C13F2FF2}"/>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2189244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A54E7-BF11-AB9B-11E4-C5BCA3516F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669A29-1FAF-BB9E-503C-B75A22D572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AD79C4-D0BC-7F82-B9B6-2DFCD4263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1C46EA-D4CA-6894-9732-7004DF78534D}"/>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6" name="Footer Placeholder 5">
            <a:extLst>
              <a:ext uri="{FF2B5EF4-FFF2-40B4-BE49-F238E27FC236}">
                <a16:creationId xmlns:a16="http://schemas.microsoft.com/office/drawing/2014/main" id="{401CC7EA-B0F4-8F34-3E49-E37E099EA8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171126-764B-3BFB-9996-41F5867166B7}"/>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72464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0C64-0FDA-C5F0-F534-3BB53A4A4C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C360DE-35B4-3FA7-47A5-DF93E4657C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5B05DB-3C42-BEF0-66F4-537B0BB8AD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B5441B-2831-017C-921C-D6AE5F4E42E1}"/>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6" name="Footer Placeholder 5">
            <a:extLst>
              <a:ext uri="{FF2B5EF4-FFF2-40B4-BE49-F238E27FC236}">
                <a16:creationId xmlns:a16="http://schemas.microsoft.com/office/drawing/2014/main" id="{2586B636-BB8E-BA7B-3C4C-C0356899D5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0410EF-FCF2-38D9-B8D0-27FE77EB19EB}"/>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3193538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39B9B-8A99-20D3-33F8-95649F2864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491C25-1EA6-3EB2-D5DC-5E5F16EA6B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87FEFD-B079-475A-63E7-98C9B1445D3B}"/>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5" name="Footer Placeholder 4">
            <a:extLst>
              <a:ext uri="{FF2B5EF4-FFF2-40B4-BE49-F238E27FC236}">
                <a16:creationId xmlns:a16="http://schemas.microsoft.com/office/drawing/2014/main" id="{F6902A3A-2526-411A-BCD8-D79F58AA27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29B4DA-8251-778E-40D0-1B0C85866A0C}"/>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3782058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3722D8-00AC-8C45-0FDF-957DB57FC0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67D674-716F-7099-72C7-A39645D925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B8D15E-98B8-F39B-DC16-BACB74D58987}"/>
              </a:ext>
            </a:extLst>
          </p:cNvPr>
          <p:cNvSpPr>
            <a:spLocks noGrp="1"/>
          </p:cNvSpPr>
          <p:nvPr>
            <p:ph type="dt" sz="half" idx="10"/>
          </p:nvPr>
        </p:nvSpPr>
        <p:spPr/>
        <p:txBody>
          <a:bodyPr/>
          <a:lstStyle/>
          <a:p>
            <a:fld id="{737F841B-102A-4DBD-B630-0D5ABBACE3C2}" type="datetimeFigureOut">
              <a:rPr lang="en-IN" smtClean="0"/>
              <a:t>05-04-2025</a:t>
            </a:fld>
            <a:endParaRPr lang="en-IN"/>
          </a:p>
        </p:txBody>
      </p:sp>
      <p:sp>
        <p:nvSpPr>
          <p:cNvPr id="5" name="Footer Placeholder 4">
            <a:extLst>
              <a:ext uri="{FF2B5EF4-FFF2-40B4-BE49-F238E27FC236}">
                <a16:creationId xmlns:a16="http://schemas.microsoft.com/office/drawing/2014/main" id="{ABD786D4-2B00-55FD-8D66-5B01F9CD43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FF6614-9A6F-44BC-81D5-561E2974BC60}"/>
              </a:ext>
            </a:extLst>
          </p:cNvPr>
          <p:cNvSpPr>
            <a:spLocks noGrp="1"/>
          </p:cNvSpPr>
          <p:nvPr>
            <p:ph type="sldNum" sz="quarter" idx="12"/>
          </p:nvPr>
        </p:nvSpPr>
        <p:spPr/>
        <p:txBody>
          <a:bodyPr/>
          <a:lstStyle/>
          <a:p>
            <a:fld id="{5CBD9458-9F03-43D6-A42D-E9C999FF5C3F}" type="slidenum">
              <a:rPr lang="en-IN" smtClean="0"/>
              <a:t>‹#›</a:t>
            </a:fld>
            <a:endParaRPr lang="en-IN"/>
          </a:p>
        </p:txBody>
      </p:sp>
    </p:spTree>
    <p:extLst>
      <p:ext uri="{BB962C8B-B14F-4D97-AF65-F5344CB8AC3E}">
        <p14:creationId xmlns:p14="http://schemas.microsoft.com/office/powerpoint/2010/main" val="296745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99F2E0-71D2-B8F1-C1ED-F68AB41982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B83EA3-9767-4402-BAA5-71D74F6DD2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87AF6-E4F5-F839-A394-83465EAF47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7F841B-102A-4DBD-B630-0D5ABBACE3C2}" type="datetimeFigureOut">
              <a:rPr lang="en-IN" smtClean="0"/>
              <a:t>05-04-2025</a:t>
            </a:fld>
            <a:endParaRPr lang="en-IN"/>
          </a:p>
        </p:txBody>
      </p:sp>
      <p:sp>
        <p:nvSpPr>
          <p:cNvPr id="5" name="Footer Placeholder 4">
            <a:extLst>
              <a:ext uri="{FF2B5EF4-FFF2-40B4-BE49-F238E27FC236}">
                <a16:creationId xmlns:a16="http://schemas.microsoft.com/office/drawing/2014/main" id="{A7CF3450-7989-CFF7-956C-9A109DFC41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744F28-6F77-B00C-1EA3-C3BFA937C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BD9458-9F03-43D6-A42D-E9C999FF5C3F}" type="slidenum">
              <a:rPr lang="en-IN" smtClean="0"/>
              <a:t>‹#›</a:t>
            </a:fld>
            <a:endParaRPr lang="en-IN"/>
          </a:p>
        </p:txBody>
      </p:sp>
    </p:spTree>
    <p:extLst>
      <p:ext uri="{BB962C8B-B14F-4D97-AF65-F5344CB8AC3E}">
        <p14:creationId xmlns:p14="http://schemas.microsoft.com/office/powerpoint/2010/main" val="2167694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1DDC-3311-D873-961D-6A32F8340A71}"/>
              </a:ext>
            </a:extLst>
          </p:cNvPr>
          <p:cNvSpPr>
            <a:spLocks noGrp="1"/>
          </p:cNvSpPr>
          <p:nvPr>
            <p:ph type="ctrTitle"/>
          </p:nvPr>
        </p:nvSpPr>
        <p:spPr>
          <a:xfrm>
            <a:off x="1524000" y="1122363"/>
            <a:ext cx="9144000" cy="990917"/>
          </a:xfrm>
        </p:spPr>
        <p:txBody>
          <a:bodyPr>
            <a:noAutofit/>
          </a:bodyPr>
          <a:lstStyle/>
          <a:p>
            <a:r>
              <a:rPr lang="en-US" sz="7200" b="1" dirty="0">
                <a:solidFill>
                  <a:srgbClr val="003366"/>
                </a:solidFill>
                <a:effectLst>
                  <a:outerShdw blurRad="38100" dist="38100" dir="2700000" algn="tl">
                    <a:srgbClr val="000000">
                      <a:alpha val="43137"/>
                    </a:srgbClr>
                  </a:outerShdw>
                </a:effectLst>
                <a:latin typeface="French Script MT" panose="03020402040607040605" pitchFamily="66" charset="0"/>
              </a:rPr>
              <a:t>Quality Attributes of Food</a:t>
            </a:r>
            <a:endParaRPr lang="en-IN" sz="7200" b="1" dirty="0">
              <a:solidFill>
                <a:srgbClr val="003366"/>
              </a:solidFill>
              <a:effectLst>
                <a:outerShdw blurRad="38100" dist="38100" dir="2700000" algn="tl">
                  <a:srgbClr val="000000">
                    <a:alpha val="43137"/>
                  </a:srgbClr>
                </a:outerShdw>
              </a:effectLst>
              <a:latin typeface="French Script MT" panose="03020402040607040605" pitchFamily="66" charset="0"/>
            </a:endParaRPr>
          </a:p>
        </p:txBody>
      </p:sp>
      <p:sp>
        <p:nvSpPr>
          <p:cNvPr id="3" name="Subtitle 2">
            <a:extLst>
              <a:ext uri="{FF2B5EF4-FFF2-40B4-BE49-F238E27FC236}">
                <a16:creationId xmlns:a16="http://schemas.microsoft.com/office/drawing/2014/main" id="{958F2F1C-DDDB-3A6E-1AF8-318AF57AC350}"/>
              </a:ext>
            </a:extLst>
          </p:cNvPr>
          <p:cNvSpPr>
            <a:spLocks noGrp="1"/>
          </p:cNvSpPr>
          <p:nvPr>
            <p:ph type="subTitle" idx="1"/>
          </p:nvPr>
        </p:nvSpPr>
        <p:spPr/>
        <p:txBody>
          <a:bodyPr>
            <a:normAutofit fontScale="77500" lnSpcReduction="20000"/>
          </a:bodyPr>
          <a:lstStyle/>
          <a:p>
            <a:r>
              <a:rPr lang="en-US" b="1" dirty="0" err="1"/>
              <a:t>Sanghamitra</a:t>
            </a:r>
            <a:r>
              <a:rPr lang="en-US" b="1" dirty="0"/>
              <a:t> Samanta</a:t>
            </a:r>
          </a:p>
          <a:p>
            <a:r>
              <a:rPr lang="en-US" dirty="0"/>
              <a:t>Guest Lecturer</a:t>
            </a:r>
          </a:p>
          <a:p>
            <a:r>
              <a:rPr lang="en-US" dirty="0"/>
              <a:t>Department of Humanities and Social Science,</a:t>
            </a:r>
          </a:p>
          <a:p>
            <a:r>
              <a:rPr lang="en-US" dirty="0"/>
              <a:t>National Institute of Technology, Goa</a:t>
            </a:r>
          </a:p>
          <a:p>
            <a:r>
              <a:rPr lang="en-US" dirty="0" err="1"/>
              <a:t>Cuncolim</a:t>
            </a:r>
            <a:r>
              <a:rPr lang="en-US" dirty="0"/>
              <a:t>, South Goa, Goa-403703</a:t>
            </a:r>
          </a:p>
          <a:p>
            <a:endParaRPr lang="en-IN" b="1" dirty="0"/>
          </a:p>
        </p:txBody>
      </p:sp>
    </p:spTree>
    <p:extLst>
      <p:ext uri="{BB962C8B-B14F-4D97-AF65-F5344CB8AC3E}">
        <p14:creationId xmlns:p14="http://schemas.microsoft.com/office/powerpoint/2010/main" val="15268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1207-CAD5-2626-C38F-10A193412D74}"/>
              </a:ext>
            </a:extLst>
          </p:cNvPr>
          <p:cNvSpPr>
            <a:spLocks noGrp="1"/>
          </p:cNvSpPr>
          <p:nvPr>
            <p:ph type="title"/>
          </p:nvPr>
        </p:nvSpPr>
        <p:spPr>
          <a:xfrm>
            <a:off x="838200" y="-71755"/>
            <a:ext cx="10515600" cy="1325563"/>
          </a:xfrm>
        </p:spPr>
        <p:txBody>
          <a:bodyPr/>
          <a:lstStyle/>
          <a:p>
            <a:pPr algn="ctr"/>
            <a:r>
              <a:rPr lang="en-US" dirty="0"/>
              <a:t>Introduction to Quality Attributes of Food </a:t>
            </a:r>
            <a:endParaRPr lang="en-IN" dirty="0"/>
          </a:p>
        </p:txBody>
      </p:sp>
      <p:sp>
        <p:nvSpPr>
          <p:cNvPr id="3" name="Content Placeholder 2">
            <a:extLst>
              <a:ext uri="{FF2B5EF4-FFF2-40B4-BE49-F238E27FC236}">
                <a16:creationId xmlns:a16="http://schemas.microsoft.com/office/drawing/2014/main" id="{6D0444BD-9E39-65D5-0343-7A97AA1758B7}"/>
              </a:ext>
            </a:extLst>
          </p:cNvPr>
          <p:cNvSpPr>
            <a:spLocks noGrp="1"/>
          </p:cNvSpPr>
          <p:nvPr>
            <p:ph idx="1"/>
          </p:nvPr>
        </p:nvSpPr>
        <p:spPr>
          <a:xfrm>
            <a:off x="0" y="1188720"/>
            <a:ext cx="12192000" cy="5872480"/>
          </a:xfrm>
        </p:spPr>
        <p:txBody>
          <a:bodyPr>
            <a:normAutofit fontScale="62500" lnSpcReduction="20000"/>
          </a:bodyPr>
          <a:lstStyle/>
          <a:p>
            <a:pPr>
              <a:buFont typeface="Wingdings" panose="05000000000000000000" pitchFamily="2" charset="2"/>
              <a:buChar char="v"/>
            </a:pPr>
            <a:r>
              <a:rPr lang="en-US" sz="5100" dirty="0"/>
              <a:t>What is Food Quality?</a:t>
            </a:r>
          </a:p>
          <a:p>
            <a:pPr>
              <a:buFont typeface="Wingdings" panose="05000000000000000000" pitchFamily="2" charset="2"/>
              <a:buChar char="Ø"/>
            </a:pPr>
            <a:r>
              <a:rPr lang="en-US" sz="3600" b="1" dirty="0"/>
              <a:t>The term food quality represents the sum of all properties and attributes of a food item that are acceptable to the customer. </a:t>
            </a:r>
            <a:r>
              <a:rPr lang="en-US" sz="3600" dirty="0"/>
              <a:t>Some of the most common food quality attributes include: </a:t>
            </a:r>
          </a:p>
          <a:p>
            <a:pPr>
              <a:buFont typeface="Wingdings" panose="05000000000000000000" pitchFamily="2" charset="2"/>
              <a:buChar char="Ø"/>
            </a:pPr>
            <a:r>
              <a:rPr lang="en-US" sz="3600" dirty="0"/>
              <a:t> Appearance: This includes the size, shape, color, gloss, and consistency of the food. Appearance is one of the first things that a consumer notices and impacts their overall opinion of the food's quality.  </a:t>
            </a:r>
          </a:p>
          <a:p>
            <a:pPr>
              <a:buFont typeface="Wingdings" panose="05000000000000000000" pitchFamily="2" charset="2"/>
              <a:buChar char="Ø"/>
            </a:pPr>
            <a:r>
              <a:rPr lang="en-US" sz="3600" dirty="0"/>
              <a:t>Texture: Texture is a key attribute that affects the handling, processing, shelf life, and consumer acceptance of a food. </a:t>
            </a:r>
          </a:p>
          <a:p>
            <a:pPr>
              <a:buFont typeface="Wingdings" panose="05000000000000000000" pitchFamily="2" charset="2"/>
              <a:buChar char="Ø"/>
            </a:pPr>
            <a:r>
              <a:rPr lang="en-US" sz="3600" dirty="0"/>
              <a:t> Flavor: Flavor is made up of the food's odor and taste. Smell is an important part of a food's flavor, and people who lose their sense of smell find food less enjoyable.  Nutritional content. This includes the serving size, calories, fat, cholesterol, sodium, carbohydrates, protein, fiber, and sugars.  </a:t>
            </a:r>
          </a:p>
          <a:p>
            <a:pPr>
              <a:buFont typeface="Wingdings" panose="05000000000000000000" pitchFamily="2" charset="2"/>
              <a:buChar char="Ø"/>
            </a:pPr>
            <a:r>
              <a:rPr lang="en-US" sz="3600" dirty="0"/>
              <a:t>Food safety: Food safety is a basic prerequisite for any food quality attribute. Testing food for contaminants like listeria and salmonella is essential to ensure consumer health and safety.</a:t>
            </a:r>
          </a:p>
          <a:p>
            <a:pPr>
              <a:buFont typeface="Wingdings" panose="05000000000000000000" pitchFamily="2" charset="2"/>
              <a:buChar char="Ø"/>
            </a:pPr>
            <a:r>
              <a:rPr lang="en-US" sz="3600" dirty="0"/>
              <a:t>  Packaging: Food should be properly packaged and sealed. </a:t>
            </a:r>
          </a:p>
          <a:p>
            <a:pPr>
              <a:buFont typeface="Wingdings" panose="05000000000000000000" pitchFamily="2" charset="2"/>
              <a:buChar char="Ø"/>
            </a:pPr>
            <a:r>
              <a:rPr lang="en-US" sz="3600" dirty="0"/>
              <a:t> Labeling: The food should be correctly labeled with ingredients, nutritional information, and supplier or manufacturer details. </a:t>
            </a:r>
          </a:p>
          <a:p>
            <a:pPr>
              <a:buFont typeface="Wingdings" panose="05000000000000000000" pitchFamily="2" charset="2"/>
              <a:buChar char="Ø"/>
            </a:pPr>
            <a:r>
              <a:rPr lang="en-US" sz="3600" dirty="0"/>
              <a:t> Traceability: The food should be traceable in case a recall is required.</a:t>
            </a:r>
            <a:endParaRPr lang="en-IN" sz="3600" dirty="0"/>
          </a:p>
        </p:txBody>
      </p:sp>
    </p:spTree>
    <p:extLst>
      <p:ext uri="{BB962C8B-B14F-4D97-AF65-F5344CB8AC3E}">
        <p14:creationId xmlns:p14="http://schemas.microsoft.com/office/powerpoint/2010/main" val="1592221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0E16D-C7BF-AFD4-31D7-EFCBA0E1314C}"/>
              </a:ext>
            </a:extLst>
          </p:cNvPr>
          <p:cNvSpPr>
            <a:spLocks noGrp="1"/>
          </p:cNvSpPr>
          <p:nvPr>
            <p:ph type="title"/>
          </p:nvPr>
        </p:nvSpPr>
        <p:spPr/>
        <p:txBody>
          <a:bodyPr/>
          <a:lstStyle/>
          <a:p>
            <a:pPr algn="ctr"/>
            <a:r>
              <a:rPr lang="en-US" dirty="0"/>
              <a:t>Methods of Quality Evaluation</a:t>
            </a:r>
            <a:endParaRPr lang="en-IN" dirty="0"/>
          </a:p>
        </p:txBody>
      </p:sp>
      <p:sp>
        <p:nvSpPr>
          <p:cNvPr id="3" name="Content Placeholder 2">
            <a:extLst>
              <a:ext uri="{FF2B5EF4-FFF2-40B4-BE49-F238E27FC236}">
                <a16:creationId xmlns:a16="http://schemas.microsoft.com/office/drawing/2014/main" id="{2956083E-6759-E70D-97A8-F0A11FC5137C}"/>
              </a:ext>
            </a:extLst>
          </p:cNvPr>
          <p:cNvSpPr>
            <a:spLocks noGrp="1"/>
          </p:cNvSpPr>
          <p:nvPr>
            <p:ph idx="1"/>
          </p:nvPr>
        </p:nvSpPr>
        <p:spPr/>
        <p:txBody>
          <a:bodyPr/>
          <a:lstStyle/>
          <a:p>
            <a:pPr>
              <a:buFont typeface="Wingdings" panose="05000000000000000000" pitchFamily="2" charset="2"/>
              <a:buChar char="v"/>
            </a:pPr>
            <a:r>
              <a:rPr lang="en-US" dirty="0"/>
              <a:t>Definition of Quality Evaluation: </a:t>
            </a:r>
          </a:p>
          <a:p>
            <a:pPr>
              <a:buFont typeface="Wingdings" panose="05000000000000000000" pitchFamily="2" charset="2"/>
              <a:buChar char="Ø"/>
            </a:pPr>
            <a:r>
              <a:rPr lang="en-US" dirty="0"/>
              <a:t>Quality evaluation is the process of objectively and systematically determining the value of a product, service, or </a:t>
            </a:r>
            <a:r>
              <a:rPr lang="en-US" dirty="0" err="1"/>
              <a:t>process.It</a:t>
            </a:r>
            <a:r>
              <a:rPr lang="en-US" dirty="0"/>
              <a:t> is a technique to gauge the accomplishment of a project, program, or activity and offers a chance to identify the areas for improvement. Data on a product, service, or process are collected and analyzed as part of the quality evaluation process. Their quality is then assessed using the information gathered, and any areas that need improvement are identified.</a:t>
            </a:r>
            <a:endParaRPr lang="en-IN" dirty="0"/>
          </a:p>
        </p:txBody>
      </p:sp>
    </p:spTree>
    <p:extLst>
      <p:ext uri="{BB962C8B-B14F-4D97-AF65-F5344CB8AC3E}">
        <p14:creationId xmlns:p14="http://schemas.microsoft.com/office/powerpoint/2010/main" val="433745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CD086-D7EC-9E7F-0F58-6887461D260B}"/>
              </a:ext>
            </a:extLst>
          </p:cNvPr>
          <p:cNvSpPr>
            <a:spLocks noGrp="1"/>
          </p:cNvSpPr>
          <p:nvPr>
            <p:ph type="title"/>
          </p:nvPr>
        </p:nvSpPr>
        <p:spPr/>
        <p:txBody>
          <a:bodyPr/>
          <a:lstStyle/>
          <a:p>
            <a:pPr algn="ctr"/>
            <a:r>
              <a:rPr lang="en-US" dirty="0"/>
              <a:t>5 Types of Quality Evaluation</a:t>
            </a:r>
            <a:endParaRPr lang="en-IN" dirty="0"/>
          </a:p>
        </p:txBody>
      </p:sp>
      <p:sp>
        <p:nvSpPr>
          <p:cNvPr id="3" name="Content Placeholder 2">
            <a:extLst>
              <a:ext uri="{FF2B5EF4-FFF2-40B4-BE49-F238E27FC236}">
                <a16:creationId xmlns:a16="http://schemas.microsoft.com/office/drawing/2014/main" id="{B2BE6A88-2BC5-01E5-735E-DB2F248FE96B}"/>
              </a:ext>
            </a:extLst>
          </p:cNvPr>
          <p:cNvSpPr>
            <a:spLocks noGrp="1"/>
          </p:cNvSpPr>
          <p:nvPr>
            <p:ph idx="1"/>
          </p:nvPr>
        </p:nvSpPr>
        <p:spPr/>
        <p:txBody>
          <a:bodyPr>
            <a:normAutofit lnSpcReduction="10000"/>
          </a:bodyPr>
          <a:lstStyle/>
          <a:p>
            <a:r>
              <a:rPr lang="en-US" dirty="0"/>
              <a:t>Quality evaluation comes in different types, depending on the data that needs to be assessed. Here are five of the most commonly used:</a:t>
            </a:r>
          </a:p>
          <a:p>
            <a:pPr marL="0" indent="0">
              <a:buNone/>
            </a:pPr>
            <a:r>
              <a:rPr lang="en-US" b="1" dirty="0"/>
              <a:t>Formative evaluation: </a:t>
            </a:r>
            <a:r>
              <a:rPr lang="en-US" dirty="0"/>
              <a:t>Formative evaluation is a continuous process             that happens as a product, service, or process is being developed. The   major objective of this type of evaluation is to offer feedback and identify areas of improvement while the product, service, or process is still in progress. Formative evaluation is designed to help groups, companies, and people make adjustments and enhance the quality of their projects before they are completed. It provides an opportunity to spot flaws or challenges so they can be addressed early on before they become larger issues."</a:t>
            </a:r>
            <a:endParaRPr lang="en-IN" dirty="0"/>
          </a:p>
        </p:txBody>
      </p:sp>
    </p:spTree>
    <p:extLst>
      <p:ext uri="{BB962C8B-B14F-4D97-AF65-F5344CB8AC3E}">
        <p14:creationId xmlns:p14="http://schemas.microsoft.com/office/powerpoint/2010/main" val="3432930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4D5125-AB06-AF9F-0CCE-3E48093753D4}"/>
              </a:ext>
            </a:extLst>
          </p:cNvPr>
          <p:cNvSpPr>
            <a:spLocks noGrp="1"/>
          </p:cNvSpPr>
          <p:nvPr>
            <p:ph idx="1"/>
          </p:nvPr>
        </p:nvSpPr>
        <p:spPr>
          <a:xfrm>
            <a:off x="838200" y="274320"/>
            <a:ext cx="10515600" cy="5902643"/>
          </a:xfrm>
        </p:spPr>
        <p:txBody>
          <a:bodyPr>
            <a:noAutofit/>
          </a:bodyPr>
          <a:lstStyle/>
          <a:p>
            <a:pPr marL="0" indent="0">
              <a:buNone/>
            </a:pPr>
            <a:r>
              <a:rPr lang="en-US" sz="2700" b="1" dirty="0"/>
              <a:t>Summative evaluation:</a:t>
            </a:r>
            <a:r>
              <a:rPr lang="en-US" sz="2700" dirty="0"/>
              <a:t> Summative evaluation assesses the efficiency and success of a completed project (product, service, or process).In contrast to formative evaluation, summative evaluation happens after the project has been completed. It aims to provide an overall review of its efficacy and success. The major objective of this quality evaluation is to identify improvement areas and assess the project’s value and impact. It usually entails gathering and evaluating data to conclude the quality of the project.</a:t>
            </a:r>
          </a:p>
          <a:p>
            <a:pPr marL="0" indent="0">
              <a:buNone/>
            </a:pPr>
            <a:r>
              <a:rPr lang="en-US" sz="2700" b="1" dirty="0"/>
              <a:t>Process evaluation: </a:t>
            </a:r>
            <a:r>
              <a:rPr lang="en-US" sz="2700" dirty="0"/>
              <a:t>Process evaluation assesses the project’s implementation methodologies, systems, and processes. Its main goal is to monitor the efficacy and quality of the procedures and methods used to carry out a project, program, or activity. This type of quality evaluation is a continuous process that happens throughout the execution of the project. It is designed to provide feedback and make suggestions for enhancements to guarantee that the methods and procedures used are high-quality and efficient.</a:t>
            </a:r>
            <a:endParaRPr lang="en-IN" sz="2700" dirty="0"/>
          </a:p>
        </p:txBody>
      </p:sp>
    </p:spTree>
    <p:extLst>
      <p:ext uri="{BB962C8B-B14F-4D97-AF65-F5344CB8AC3E}">
        <p14:creationId xmlns:p14="http://schemas.microsoft.com/office/powerpoint/2010/main" val="2501571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4686A3C-3FFC-AE44-381F-1F295EC891F5}"/>
              </a:ext>
            </a:extLst>
          </p:cNvPr>
          <p:cNvSpPr>
            <a:spLocks noGrp="1"/>
          </p:cNvSpPr>
          <p:nvPr>
            <p:ph idx="1"/>
          </p:nvPr>
        </p:nvSpPr>
        <p:spPr>
          <a:xfrm>
            <a:off x="731520" y="193040"/>
            <a:ext cx="10850880" cy="5902643"/>
          </a:xfrm>
        </p:spPr>
        <p:txBody>
          <a:bodyPr>
            <a:noAutofit/>
          </a:bodyPr>
          <a:lstStyle/>
          <a:p>
            <a:pPr marL="0" indent="0">
              <a:buNone/>
            </a:pPr>
            <a:r>
              <a:rPr lang="en-US" sz="2700" b="1" dirty="0"/>
              <a:t>Impact evaluation: </a:t>
            </a:r>
            <a:r>
              <a:rPr lang="en-US" sz="2700" dirty="0"/>
              <a:t>Impact evaluation focuses on the overall effects and outcomes of the project. The core objective of this evaluation is to determine the degree to which the project has accomplished its objectives. Further, it also aims to identify its effect on the target population, community, or environment. This quality evaluation is usually carried out following the conclusion of the project. It offers a comprehensive review of its effectiveness and influence. Impact evaluation may involve gathering and evaluating data, completing surveys and questionnaires, and speaking with stakeholders, clients, or users in interviews.</a:t>
            </a:r>
          </a:p>
          <a:p>
            <a:pPr marL="0" indent="0">
              <a:buNone/>
            </a:pPr>
            <a:r>
              <a:rPr lang="en-US" sz="2700" b="1" dirty="0"/>
              <a:t>Outcome evaluation: </a:t>
            </a:r>
            <a:r>
              <a:rPr lang="en-US" sz="2700" dirty="0"/>
              <a:t>Outcome evaluation concentrates on the particular results of the project. Its key objective is determining whether the project has achieved its intended goals and objectives. It also gauges the project’s effects on the target population or audience. This type of evaluation usually happens after a project or activity has concluded. Like impact evaluation, it may involve data collection and analysis, surveys, and interviews with stakeholders, clients, or users.</a:t>
            </a:r>
            <a:endParaRPr lang="en-IN" sz="2700" dirty="0"/>
          </a:p>
        </p:txBody>
      </p:sp>
    </p:spTree>
    <p:extLst>
      <p:ext uri="{BB962C8B-B14F-4D97-AF65-F5344CB8AC3E}">
        <p14:creationId xmlns:p14="http://schemas.microsoft.com/office/powerpoint/2010/main" val="286558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3EE4-E280-30D7-F0C0-1D91B1EFF1CE}"/>
              </a:ext>
            </a:extLst>
          </p:cNvPr>
          <p:cNvSpPr>
            <a:spLocks noGrp="1"/>
          </p:cNvSpPr>
          <p:nvPr>
            <p:ph type="title"/>
          </p:nvPr>
        </p:nvSpPr>
        <p:spPr>
          <a:xfrm>
            <a:off x="838200" y="-163195"/>
            <a:ext cx="10515600" cy="1325563"/>
          </a:xfrm>
        </p:spPr>
        <p:txBody>
          <a:bodyPr/>
          <a:lstStyle/>
          <a:p>
            <a:pPr algn="ctr"/>
            <a:r>
              <a:rPr lang="en-US" dirty="0"/>
              <a:t>Body Mass Index(BMI) System</a:t>
            </a:r>
            <a:endParaRPr lang="en-IN" dirty="0"/>
          </a:p>
        </p:txBody>
      </p:sp>
      <p:sp>
        <p:nvSpPr>
          <p:cNvPr id="3" name="Content Placeholder 2">
            <a:extLst>
              <a:ext uri="{FF2B5EF4-FFF2-40B4-BE49-F238E27FC236}">
                <a16:creationId xmlns:a16="http://schemas.microsoft.com/office/drawing/2014/main" id="{18385021-5CEE-E9C8-796E-DFF09BC823D1}"/>
              </a:ext>
            </a:extLst>
          </p:cNvPr>
          <p:cNvSpPr>
            <a:spLocks noGrp="1"/>
          </p:cNvSpPr>
          <p:nvPr>
            <p:ph idx="1"/>
          </p:nvPr>
        </p:nvSpPr>
        <p:spPr>
          <a:xfrm>
            <a:off x="0" y="1020128"/>
            <a:ext cx="12192000" cy="5506720"/>
          </a:xfrm>
        </p:spPr>
        <p:txBody>
          <a:bodyPr>
            <a:normAutofit lnSpcReduction="10000"/>
          </a:bodyPr>
          <a:lstStyle/>
          <a:p>
            <a:pPr>
              <a:buFont typeface="Wingdings" panose="05000000000000000000" pitchFamily="2" charset="2"/>
              <a:buChar char="v"/>
            </a:pPr>
            <a:r>
              <a:rPr lang="en-US" dirty="0"/>
              <a:t>What is BMI?</a:t>
            </a:r>
          </a:p>
          <a:p>
            <a:pPr>
              <a:buFont typeface="Wingdings" panose="05000000000000000000" pitchFamily="2" charset="2"/>
              <a:buChar char="Ø"/>
            </a:pPr>
            <a:r>
              <a:rPr lang="en-US" dirty="0"/>
              <a:t>Body mass index (BMI) is a calculation that estimates body fat based on a person's weight and height. It's used to categorize people as underweight, normal weight, overweight, or obese. BMI is a useful tool for assessing health risk and is often used in public health policies.  BMI is calculated by dividing weight in kilograms by height in meters squared (m2). It can be calculated using either metric or imperial units.  BMI is a good indicator of the risk of developing diseases associated with higher body fat, such as:</a:t>
            </a:r>
          </a:p>
          <a:p>
            <a:pPr marL="514350" indent="-514350">
              <a:buFont typeface="+mj-lt"/>
              <a:buAutoNum type="romanLcPeriod"/>
            </a:pPr>
            <a:r>
              <a:rPr lang="en-US" sz="2400" dirty="0"/>
              <a:t>Heart disease                                                 </a:t>
            </a:r>
          </a:p>
          <a:p>
            <a:pPr marL="514350" indent="-514350">
              <a:buFont typeface="+mj-lt"/>
              <a:buAutoNum type="romanLcPeriod"/>
            </a:pPr>
            <a:r>
              <a:rPr lang="en-US" sz="2400" dirty="0"/>
              <a:t>High blood pressure</a:t>
            </a:r>
          </a:p>
          <a:p>
            <a:pPr marL="514350" indent="-514350">
              <a:buFont typeface="+mj-lt"/>
              <a:buAutoNum type="romanLcPeriod"/>
            </a:pPr>
            <a:r>
              <a:rPr lang="en-US" sz="2400" dirty="0"/>
              <a:t>Type 2 diabetes</a:t>
            </a:r>
          </a:p>
          <a:p>
            <a:pPr marL="514350" indent="-514350">
              <a:buFont typeface="+mj-lt"/>
              <a:buAutoNum type="romanLcPeriod"/>
            </a:pPr>
            <a:r>
              <a:rPr lang="en-US" sz="2400" dirty="0"/>
              <a:t>Gallstones</a:t>
            </a:r>
          </a:p>
          <a:p>
            <a:pPr marL="514350" indent="-514350">
              <a:buFont typeface="+mj-lt"/>
              <a:buAutoNum type="romanLcPeriod"/>
            </a:pPr>
            <a:r>
              <a:rPr lang="en-US" sz="2400" dirty="0"/>
              <a:t>Breathing problems</a:t>
            </a:r>
          </a:p>
          <a:p>
            <a:pPr marL="514350" indent="-514350">
              <a:buFont typeface="+mj-lt"/>
              <a:buAutoNum type="romanLcPeriod"/>
            </a:pPr>
            <a:r>
              <a:rPr lang="en-US" sz="2400" dirty="0"/>
              <a:t>Certain cancers</a:t>
            </a:r>
          </a:p>
        </p:txBody>
      </p:sp>
      <p:sp>
        <p:nvSpPr>
          <p:cNvPr id="4" name="TextBox 3">
            <a:extLst>
              <a:ext uri="{FF2B5EF4-FFF2-40B4-BE49-F238E27FC236}">
                <a16:creationId xmlns:a16="http://schemas.microsoft.com/office/drawing/2014/main" id="{9FB9E124-FA67-D48B-EA71-799FC55A33B8}"/>
              </a:ext>
            </a:extLst>
          </p:cNvPr>
          <p:cNvSpPr txBox="1"/>
          <p:nvPr/>
        </p:nvSpPr>
        <p:spPr>
          <a:xfrm>
            <a:off x="3606800" y="3895408"/>
            <a:ext cx="8585200" cy="2923877"/>
          </a:xfrm>
          <a:prstGeom prst="rect">
            <a:avLst/>
          </a:prstGeom>
          <a:noFill/>
        </p:spPr>
        <p:txBody>
          <a:bodyPr wrap="square" rtlCol="0">
            <a:spAutoFit/>
          </a:bodyPr>
          <a:lstStyle/>
          <a:p>
            <a:r>
              <a:rPr lang="en-US" sz="2300" b="1" dirty="0"/>
              <a:t>BMI is quick, inexpensive, and noninvasive, making it a good tool for routine health care visits. However, BMI has some limitations:  </a:t>
            </a:r>
          </a:p>
          <a:p>
            <a:r>
              <a:rPr lang="en-US" sz="2300" b="1" dirty="0"/>
              <a:t>It may overestimate body fat in people who are muscular or athletes.  </a:t>
            </a:r>
          </a:p>
          <a:p>
            <a:r>
              <a:rPr lang="en-US" sz="2300" b="1" dirty="0"/>
              <a:t>It may underestimate body fat in people who are older or have lost muscle.  </a:t>
            </a:r>
          </a:p>
          <a:p>
            <a:r>
              <a:rPr lang="en-US" sz="2300" b="1" dirty="0"/>
              <a:t>It's not intended for children and adolescents, who are still growing. For children, BMI is compared to percentiles for children of the same age and sex.</a:t>
            </a:r>
            <a:endParaRPr lang="en-IN" sz="2300" b="1" dirty="0"/>
          </a:p>
        </p:txBody>
      </p:sp>
    </p:spTree>
    <p:extLst>
      <p:ext uri="{BB962C8B-B14F-4D97-AF65-F5344CB8AC3E}">
        <p14:creationId xmlns:p14="http://schemas.microsoft.com/office/powerpoint/2010/main" val="413839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219B7D-C129-CBAB-2760-A83AEED3CFF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8715"/>
          <a:stretch/>
        </p:blipFill>
        <p:spPr>
          <a:xfrm>
            <a:off x="0" y="1"/>
            <a:ext cx="12192000" cy="4257039"/>
          </a:xfrm>
        </p:spPr>
      </p:pic>
      <p:sp>
        <p:nvSpPr>
          <p:cNvPr id="8" name="TextBox 7">
            <a:extLst>
              <a:ext uri="{FF2B5EF4-FFF2-40B4-BE49-F238E27FC236}">
                <a16:creationId xmlns:a16="http://schemas.microsoft.com/office/drawing/2014/main" id="{0C55C87B-CB0E-E3F5-1BC4-22B97DC2858D}"/>
              </a:ext>
            </a:extLst>
          </p:cNvPr>
          <p:cNvSpPr txBox="1"/>
          <p:nvPr/>
        </p:nvSpPr>
        <p:spPr>
          <a:xfrm>
            <a:off x="0" y="4303455"/>
            <a:ext cx="12192000" cy="2554545"/>
          </a:xfrm>
          <a:prstGeom prst="rect">
            <a:avLst/>
          </a:prstGeom>
          <a:noFill/>
        </p:spPr>
        <p:txBody>
          <a:bodyPr wrap="square" rtlCol="0">
            <a:spAutoFit/>
          </a:bodyPr>
          <a:lstStyle/>
          <a:p>
            <a:r>
              <a:rPr lang="en-US" sz="3200" dirty="0"/>
              <a:t>Children's BMI is calculated differently than adults' because children are still growing. A children's BMI calculator takes into account age, gender, height, and weight. A child's BMI is reported as a percentile, which shows how their BMI compares to other children of the same age and gender.</a:t>
            </a:r>
            <a:endParaRPr lang="en-IN" sz="3200" dirty="0"/>
          </a:p>
        </p:txBody>
      </p:sp>
    </p:spTree>
    <p:extLst>
      <p:ext uri="{BB962C8B-B14F-4D97-AF65-F5344CB8AC3E}">
        <p14:creationId xmlns:p14="http://schemas.microsoft.com/office/powerpoint/2010/main" val="2266165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1F93B-8587-F67C-D0BE-BE0B4AA59EAD}"/>
              </a:ext>
            </a:extLst>
          </p:cNvPr>
          <p:cNvSpPr>
            <a:spLocks noGrp="1"/>
          </p:cNvSpPr>
          <p:nvPr>
            <p:ph type="title"/>
          </p:nvPr>
        </p:nvSpPr>
        <p:spPr>
          <a:xfrm>
            <a:off x="838200" y="-142875"/>
            <a:ext cx="10515600" cy="1325563"/>
          </a:xfrm>
        </p:spPr>
        <p:txBody>
          <a:bodyPr/>
          <a:lstStyle/>
          <a:p>
            <a:pPr algn="ctr"/>
            <a:r>
              <a:rPr lang="en-US" dirty="0"/>
              <a:t>Food Adulteration</a:t>
            </a:r>
            <a:endParaRPr lang="en-IN" dirty="0"/>
          </a:p>
        </p:txBody>
      </p:sp>
      <p:sp>
        <p:nvSpPr>
          <p:cNvPr id="3" name="Content Placeholder 2">
            <a:extLst>
              <a:ext uri="{FF2B5EF4-FFF2-40B4-BE49-F238E27FC236}">
                <a16:creationId xmlns:a16="http://schemas.microsoft.com/office/drawing/2014/main" id="{CB9C28C9-D040-A3FE-5716-080AACBE38BC}"/>
              </a:ext>
            </a:extLst>
          </p:cNvPr>
          <p:cNvSpPr>
            <a:spLocks noGrp="1"/>
          </p:cNvSpPr>
          <p:nvPr>
            <p:ph idx="1"/>
          </p:nvPr>
        </p:nvSpPr>
        <p:spPr>
          <a:xfrm>
            <a:off x="0" y="792480"/>
            <a:ext cx="12192000" cy="6065520"/>
          </a:xfrm>
        </p:spPr>
        <p:txBody>
          <a:bodyPr>
            <a:normAutofit fontScale="92500" lnSpcReduction="10000"/>
          </a:bodyPr>
          <a:lstStyle/>
          <a:p>
            <a:pPr>
              <a:buFont typeface="Wingdings" panose="05000000000000000000" pitchFamily="2" charset="2"/>
              <a:buChar char="v"/>
            </a:pPr>
            <a:r>
              <a:rPr lang="en-US" dirty="0"/>
              <a:t>Food adulteration is the intentional debasing of food quality by adding, removing, or substituting substances to increase profit or shelf life, often posing health risks and violating consumer trust. Here's a more detailed explanation:</a:t>
            </a:r>
          </a:p>
          <a:p>
            <a:pPr>
              <a:buFont typeface="Wingdings" panose="05000000000000000000" pitchFamily="2" charset="2"/>
              <a:buChar char="Ø"/>
            </a:pPr>
            <a:r>
              <a:rPr lang="en-US" dirty="0"/>
              <a:t>Definition: Food adulteration is the practice of intentionally degrading the quality and safety of food products. </a:t>
            </a:r>
          </a:p>
          <a:p>
            <a:pPr>
              <a:buFont typeface="Wingdings" panose="05000000000000000000" pitchFamily="2" charset="2"/>
              <a:buChar char="Ø"/>
            </a:pPr>
            <a:r>
              <a:rPr lang="en-US" dirty="0"/>
              <a:t>Methods: This can involve adding inferior or harmful substances, removing valuable ingredients, or substituting them with cheaper alternatives. </a:t>
            </a:r>
          </a:p>
          <a:p>
            <a:pPr>
              <a:buFont typeface="Wingdings" panose="05000000000000000000" pitchFamily="2" charset="2"/>
              <a:buChar char="Ø"/>
            </a:pPr>
            <a:r>
              <a:rPr lang="en-US" dirty="0"/>
              <a:t>Motivations: The primary goal is often to increase profits by reducing production costs or making products appear better or last longer. </a:t>
            </a:r>
          </a:p>
          <a:p>
            <a:pPr>
              <a:buFont typeface="Wingdings" panose="05000000000000000000" pitchFamily="2" charset="2"/>
              <a:buChar char="Ø"/>
            </a:pPr>
            <a:r>
              <a:rPr lang="en-US" dirty="0"/>
              <a:t>Examples: Common examples include adding water to milk, using artificial colors and flavors instead of natural ones, or substituting expensive ingredients with cheaper ones. </a:t>
            </a:r>
          </a:p>
          <a:p>
            <a:pPr>
              <a:buFont typeface="Wingdings" panose="05000000000000000000" pitchFamily="2" charset="2"/>
              <a:buChar char="Ø"/>
            </a:pPr>
            <a:r>
              <a:rPr lang="en-US" dirty="0"/>
              <a:t>Consequences: Food adulteration can lead to a variety of health problems, including malnutrition, poisoning, and chronic diseases. </a:t>
            </a:r>
          </a:p>
          <a:p>
            <a:pPr>
              <a:buFont typeface="Wingdings" panose="05000000000000000000" pitchFamily="2" charset="2"/>
              <a:buChar char="Ø"/>
            </a:pPr>
            <a:r>
              <a:rPr lang="en-US" dirty="0"/>
              <a:t>Legal Implications: Adulteration is a legal offense, and food products that fail to meet legal standards are considered adulterated.</a:t>
            </a:r>
            <a:endParaRPr lang="en-IN" dirty="0"/>
          </a:p>
        </p:txBody>
      </p:sp>
    </p:spTree>
    <p:extLst>
      <p:ext uri="{BB962C8B-B14F-4D97-AF65-F5344CB8AC3E}">
        <p14:creationId xmlns:p14="http://schemas.microsoft.com/office/powerpoint/2010/main" val="145014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53C06-FC38-5F38-F556-E4B7C38BEF81}"/>
              </a:ext>
            </a:extLst>
          </p:cNvPr>
          <p:cNvSpPr>
            <a:spLocks noGrp="1"/>
          </p:cNvSpPr>
          <p:nvPr>
            <p:ph type="title"/>
          </p:nvPr>
        </p:nvSpPr>
        <p:spPr>
          <a:xfrm>
            <a:off x="838200" y="-193675"/>
            <a:ext cx="10515600" cy="1325563"/>
          </a:xfrm>
        </p:spPr>
        <p:txBody>
          <a:bodyPr/>
          <a:lstStyle/>
          <a:p>
            <a:pPr algn="ctr"/>
            <a:r>
              <a:rPr lang="en-US" dirty="0"/>
              <a:t>Need of Food Adulteration</a:t>
            </a:r>
            <a:endParaRPr lang="en-IN" dirty="0"/>
          </a:p>
        </p:txBody>
      </p:sp>
      <p:sp>
        <p:nvSpPr>
          <p:cNvPr id="3" name="Content Placeholder 2">
            <a:extLst>
              <a:ext uri="{FF2B5EF4-FFF2-40B4-BE49-F238E27FC236}">
                <a16:creationId xmlns:a16="http://schemas.microsoft.com/office/drawing/2014/main" id="{3DE52A06-508A-0FD6-1F9D-10D9C1DF982E}"/>
              </a:ext>
            </a:extLst>
          </p:cNvPr>
          <p:cNvSpPr>
            <a:spLocks noGrp="1"/>
          </p:cNvSpPr>
          <p:nvPr>
            <p:ph idx="1"/>
          </p:nvPr>
        </p:nvSpPr>
        <p:spPr>
          <a:xfrm>
            <a:off x="0" y="853440"/>
            <a:ext cx="12192000" cy="6004560"/>
          </a:xfrm>
        </p:spPr>
        <p:txBody>
          <a:bodyPr/>
          <a:lstStyle/>
          <a:p>
            <a:pPr>
              <a:buFont typeface="Wingdings" panose="05000000000000000000" pitchFamily="2" charset="2"/>
              <a:buChar char="v"/>
            </a:pPr>
            <a:r>
              <a:rPr lang="en-US" dirty="0"/>
              <a:t>Why is Food Adulteration Done?</a:t>
            </a:r>
          </a:p>
          <a:p>
            <a:pPr>
              <a:buFont typeface="Wingdings" panose="05000000000000000000" pitchFamily="2" charset="2"/>
              <a:buChar char="ü"/>
            </a:pPr>
            <a:r>
              <a:rPr lang="en-US" dirty="0"/>
              <a:t>There are several reasons behind the adulteration of food. Some of the common motives include:</a:t>
            </a:r>
          </a:p>
          <a:p>
            <a:pPr>
              <a:buFont typeface="Wingdings" panose="05000000000000000000" pitchFamily="2" charset="2"/>
              <a:buChar char="Ø"/>
            </a:pPr>
            <a:r>
              <a:rPr lang="en-US" dirty="0"/>
              <a:t>Economic Gain: Many businesses adulterate food to increase volume and </a:t>
            </a:r>
            <a:r>
              <a:rPr lang="en-US" dirty="0" err="1"/>
              <a:t>maximise</a:t>
            </a:r>
            <a:r>
              <a:rPr lang="en-US" dirty="0"/>
              <a:t> profits with minimal investment.</a:t>
            </a:r>
          </a:p>
          <a:p>
            <a:pPr>
              <a:buFont typeface="Wingdings" panose="05000000000000000000" pitchFamily="2" charset="2"/>
              <a:buChar char="Ø"/>
            </a:pPr>
            <a:r>
              <a:rPr lang="en-US" dirty="0"/>
              <a:t>Imitation and Misrepresentation: Cheaper alternatives are added to mimic the appearance or texture of a high-quality product.</a:t>
            </a:r>
          </a:p>
          <a:p>
            <a:pPr>
              <a:buFont typeface="Wingdings" panose="05000000000000000000" pitchFamily="2" charset="2"/>
              <a:buChar char="Ø"/>
            </a:pPr>
            <a:r>
              <a:rPr lang="en-US" dirty="0"/>
              <a:t>Lack of Awareness: Consumers are sometimes unaware of the quality standards, which encourages unethical practices.</a:t>
            </a:r>
          </a:p>
          <a:p>
            <a:pPr>
              <a:buFont typeface="Wingdings" panose="05000000000000000000" pitchFamily="2" charset="2"/>
              <a:buChar char="Ø"/>
            </a:pPr>
            <a:r>
              <a:rPr lang="en-US" dirty="0"/>
              <a:t>High Demand and Limited Supply: In markets where food demand outstrips supply, adulteration is used to extend stocks.</a:t>
            </a:r>
          </a:p>
          <a:p>
            <a:pPr>
              <a:buFont typeface="Wingdings" panose="05000000000000000000" pitchFamily="2" charset="2"/>
              <a:buChar char="v"/>
            </a:pPr>
            <a:r>
              <a:rPr lang="en-US" dirty="0"/>
              <a:t>Thus, food adulteration meaning is not only about the loss of nutritional value but also about the potential harm to health due to unsafe practices.</a:t>
            </a:r>
            <a:endParaRPr lang="en-IN" dirty="0"/>
          </a:p>
        </p:txBody>
      </p:sp>
    </p:spTree>
    <p:extLst>
      <p:ext uri="{BB962C8B-B14F-4D97-AF65-F5344CB8AC3E}">
        <p14:creationId xmlns:p14="http://schemas.microsoft.com/office/powerpoint/2010/main" val="2392792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00E7-0AC3-90CF-E2F3-60612FE38E6E}"/>
              </a:ext>
            </a:extLst>
          </p:cNvPr>
          <p:cNvSpPr>
            <a:spLocks noGrp="1"/>
          </p:cNvSpPr>
          <p:nvPr>
            <p:ph type="title"/>
          </p:nvPr>
        </p:nvSpPr>
        <p:spPr>
          <a:xfrm>
            <a:off x="838200" y="-234315"/>
            <a:ext cx="10515600" cy="1325563"/>
          </a:xfrm>
        </p:spPr>
        <p:txBody>
          <a:bodyPr/>
          <a:lstStyle/>
          <a:p>
            <a:pPr algn="ctr"/>
            <a:r>
              <a:rPr lang="en-US" dirty="0"/>
              <a:t>Types of Food Adulteration</a:t>
            </a:r>
            <a:endParaRPr lang="en-IN" dirty="0"/>
          </a:p>
        </p:txBody>
      </p:sp>
      <p:sp>
        <p:nvSpPr>
          <p:cNvPr id="3" name="Content Placeholder 2">
            <a:extLst>
              <a:ext uri="{FF2B5EF4-FFF2-40B4-BE49-F238E27FC236}">
                <a16:creationId xmlns:a16="http://schemas.microsoft.com/office/drawing/2014/main" id="{A813169C-B07B-3ACE-4F90-800E178F73DA}"/>
              </a:ext>
            </a:extLst>
          </p:cNvPr>
          <p:cNvSpPr>
            <a:spLocks noGrp="1"/>
          </p:cNvSpPr>
          <p:nvPr>
            <p:ph idx="1"/>
          </p:nvPr>
        </p:nvSpPr>
        <p:spPr>
          <a:xfrm>
            <a:off x="0" y="833120"/>
            <a:ext cx="12192000" cy="6024880"/>
          </a:xfrm>
        </p:spPr>
        <p:txBody>
          <a:bodyPr>
            <a:normAutofit lnSpcReduction="10000"/>
          </a:bodyPr>
          <a:lstStyle/>
          <a:p>
            <a:pPr>
              <a:buFont typeface="Wingdings" panose="05000000000000000000" pitchFamily="2" charset="2"/>
              <a:buChar char="v"/>
            </a:pPr>
            <a:r>
              <a:rPr lang="en-US" dirty="0"/>
              <a:t>Types of Food Adulteration and Methods Used:</a:t>
            </a:r>
          </a:p>
          <a:p>
            <a:pPr>
              <a:buFont typeface="Wingdings" panose="05000000000000000000" pitchFamily="2" charset="2"/>
              <a:buChar char="ü"/>
            </a:pPr>
            <a:r>
              <a:rPr lang="en-US" dirty="0"/>
              <a:t>There are several types of food adulteration methods </a:t>
            </a:r>
            <a:r>
              <a:rPr lang="en-US" dirty="0" err="1"/>
              <a:t>practised</a:t>
            </a:r>
            <a:r>
              <a:rPr lang="en-US" dirty="0"/>
              <a:t> across the world. Let’s look at some common techniques:</a:t>
            </a:r>
          </a:p>
          <a:p>
            <a:pPr>
              <a:buFont typeface="Wingdings" panose="05000000000000000000" pitchFamily="2" charset="2"/>
              <a:buChar char="Ø"/>
            </a:pPr>
            <a:r>
              <a:rPr lang="en-US" dirty="0"/>
              <a:t>Chemical Adulteration: Adding chemicals to enhance </a:t>
            </a:r>
            <a:r>
              <a:rPr lang="en-US" dirty="0" err="1"/>
              <a:t>colour</a:t>
            </a:r>
            <a:r>
              <a:rPr lang="en-US" dirty="0"/>
              <a:t> or accelerate ripening, such as industrial dyes or pesticides.</a:t>
            </a:r>
          </a:p>
          <a:p>
            <a:pPr>
              <a:buFont typeface="Wingdings" panose="05000000000000000000" pitchFamily="2" charset="2"/>
              <a:buChar char="Ø"/>
            </a:pPr>
            <a:r>
              <a:rPr lang="en-US" dirty="0"/>
              <a:t>Physical Adulteration: Mixing foreign substances like dust, pebbles, stones or sand with grains, pulses, or other food products.</a:t>
            </a:r>
          </a:p>
          <a:p>
            <a:pPr>
              <a:buFont typeface="Wingdings" panose="05000000000000000000" pitchFamily="2" charset="2"/>
              <a:buChar char="Ø"/>
            </a:pPr>
            <a:r>
              <a:rPr lang="en-US" dirty="0"/>
              <a:t>Substitution: Replacing high-quality ingredients with cheaper alternatives. For example, using Vanaspati in place of ghee or adulterated sugar with chalk powder.</a:t>
            </a:r>
          </a:p>
          <a:p>
            <a:pPr>
              <a:buFont typeface="Wingdings" panose="05000000000000000000" pitchFamily="2" charset="2"/>
              <a:buChar char="Ø"/>
            </a:pPr>
            <a:r>
              <a:rPr lang="en-US" dirty="0"/>
              <a:t>Contamination: Incorporating decomposed or damaged food items with good quality ones, often seen in fruits and vegetables.</a:t>
            </a:r>
          </a:p>
          <a:p>
            <a:pPr>
              <a:buFont typeface="Wingdings" panose="05000000000000000000" pitchFamily="2" charset="2"/>
              <a:buChar char="v"/>
            </a:pPr>
            <a:r>
              <a:rPr lang="en-US" dirty="0"/>
              <a:t>Each of these methods affects the food adulteration definition and food adulteration means reducing the purity and safety of our food.</a:t>
            </a:r>
            <a:endParaRPr lang="en-IN" dirty="0"/>
          </a:p>
        </p:txBody>
      </p:sp>
    </p:spTree>
    <p:extLst>
      <p:ext uri="{BB962C8B-B14F-4D97-AF65-F5344CB8AC3E}">
        <p14:creationId xmlns:p14="http://schemas.microsoft.com/office/powerpoint/2010/main" val="103869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958E9-B147-5F86-7AD4-812F025260F3}"/>
              </a:ext>
            </a:extLst>
          </p:cNvPr>
          <p:cNvSpPr>
            <a:spLocks noGrp="1"/>
          </p:cNvSpPr>
          <p:nvPr>
            <p:ph idx="1"/>
          </p:nvPr>
        </p:nvSpPr>
        <p:spPr>
          <a:xfrm>
            <a:off x="0" y="431800"/>
            <a:ext cx="12192000" cy="6426200"/>
          </a:xfrm>
        </p:spPr>
        <p:txBody>
          <a:bodyPr>
            <a:normAutofit/>
          </a:bodyPr>
          <a:lstStyle/>
          <a:p>
            <a:pPr marL="0" indent="0" algn="ctr">
              <a:buNone/>
            </a:pPr>
            <a:endParaRPr lang="en-US" sz="13000" dirty="0"/>
          </a:p>
          <a:p>
            <a:pPr marL="0" indent="0" algn="ctr">
              <a:buNone/>
            </a:pPr>
            <a:r>
              <a:rPr lang="en-US" sz="13000" dirty="0"/>
              <a:t>Thank You</a:t>
            </a:r>
            <a:endParaRPr lang="en-IN" sz="13000" dirty="0"/>
          </a:p>
        </p:txBody>
      </p:sp>
    </p:spTree>
    <p:extLst>
      <p:ext uri="{BB962C8B-B14F-4D97-AF65-F5344CB8AC3E}">
        <p14:creationId xmlns:p14="http://schemas.microsoft.com/office/powerpoint/2010/main" val="1631746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1580</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French Script MT</vt:lpstr>
      <vt:lpstr>Wingdings</vt:lpstr>
      <vt:lpstr>Office Theme</vt:lpstr>
      <vt:lpstr>Quality Attributes of Food</vt:lpstr>
      <vt:lpstr>Introduction to Quality Attributes of Food </vt:lpstr>
      <vt:lpstr>Methods of Quality Evaluation</vt:lpstr>
      <vt:lpstr>5 Types of Quality Evaluation</vt:lpstr>
      <vt:lpstr>PowerPoint Presentation</vt:lpstr>
      <vt:lpstr>PowerPoint Presentation</vt:lpstr>
      <vt:lpstr>Body Mass Index(BMI) System</vt:lpstr>
      <vt:lpstr>PowerPoint Presentation</vt:lpstr>
      <vt:lpstr>Food Adulteration</vt:lpstr>
      <vt:lpstr>Need of Food Adulteration</vt:lpstr>
      <vt:lpstr>Types of Food Adulteration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Soumitra Das</dc:creator>
  <cp:lastModifiedBy>Soumitra Das</cp:lastModifiedBy>
  <cp:revision>2</cp:revision>
  <dcterms:created xsi:type="dcterms:W3CDTF">2024-10-17T17:45:29Z</dcterms:created>
  <dcterms:modified xsi:type="dcterms:W3CDTF">2025-04-05T16:32:30Z</dcterms:modified>
</cp:coreProperties>
</file>