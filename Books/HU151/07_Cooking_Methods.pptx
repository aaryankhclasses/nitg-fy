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6" r:id="rId2"/>
    <p:sldId id="267" r:id="rId3"/>
    <p:sldId id="268" r:id="rId4"/>
    <p:sldId id="269" r:id="rId5"/>
    <p:sldId id="270" r:id="rId6"/>
    <p:sldId id="271" r:id="rId7"/>
    <p:sldId id="272" r:id="rId8"/>
    <p:sldId id="273" r:id="rId9"/>
    <p:sldId id="274" r:id="rId10"/>
    <p:sldId id="275" r:id="rId11"/>
    <p:sldId id="276" r:id="rId12"/>
    <p:sldId id="277" r:id="rId13"/>
    <p:sldId id="265"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5" d="100"/>
          <a:sy n="75" d="100"/>
        </p:scale>
        <p:origin x="902"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A8CBC-E03E-ADA7-A598-EF5C7D6D0F0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6D4A95D-BA70-4186-4F63-A8ECCABA324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B7962D1-F260-5DA5-C633-86C550ECE0D5}"/>
              </a:ext>
            </a:extLst>
          </p:cNvPr>
          <p:cNvSpPr>
            <a:spLocks noGrp="1"/>
          </p:cNvSpPr>
          <p:nvPr>
            <p:ph type="dt" sz="half" idx="10"/>
          </p:nvPr>
        </p:nvSpPr>
        <p:spPr/>
        <p:txBody>
          <a:bodyPr/>
          <a:lstStyle/>
          <a:p>
            <a:fld id="{6AA312CA-90F8-4ACA-8EE7-54071BE23CE7}" type="datetimeFigureOut">
              <a:rPr lang="en-IN" smtClean="0"/>
              <a:t>31-03-2025</a:t>
            </a:fld>
            <a:endParaRPr lang="en-IN"/>
          </a:p>
        </p:txBody>
      </p:sp>
      <p:sp>
        <p:nvSpPr>
          <p:cNvPr id="5" name="Footer Placeholder 4">
            <a:extLst>
              <a:ext uri="{FF2B5EF4-FFF2-40B4-BE49-F238E27FC236}">
                <a16:creationId xmlns:a16="http://schemas.microsoft.com/office/drawing/2014/main" id="{82BE08A5-FDAE-4391-AC5A-A2D492AD73B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6750BC0-E7C1-CC78-54F3-DDE154E3DC7F}"/>
              </a:ext>
            </a:extLst>
          </p:cNvPr>
          <p:cNvSpPr>
            <a:spLocks noGrp="1"/>
          </p:cNvSpPr>
          <p:nvPr>
            <p:ph type="sldNum" sz="quarter" idx="12"/>
          </p:nvPr>
        </p:nvSpPr>
        <p:spPr/>
        <p:txBody>
          <a:bodyPr/>
          <a:lstStyle/>
          <a:p>
            <a:fld id="{9B3B974B-1F48-429D-A1BD-3E688C4F9D14}" type="slidenum">
              <a:rPr lang="en-IN" smtClean="0"/>
              <a:t>‹#›</a:t>
            </a:fld>
            <a:endParaRPr lang="en-IN"/>
          </a:p>
        </p:txBody>
      </p:sp>
    </p:spTree>
    <p:extLst>
      <p:ext uri="{BB962C8B-B14F-4D97-AF65-F5344CB8AC3E}">
        <p14:creationId xmlns:p14="http://schemas.microsoft.com/office/powerpoint/2010/main" val="784843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D2426-FFF5-B170-BD91-FC4E4A00DCE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09CB8D8-D043-552E-5B2D-4211A3EC00C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2CD0A39-686A-AA52-2D84-280E6B1840CF}"/>
              </a:ext>
            </a:extLst>
          </p:cNvPr>
          <p:cNvSpPr>
            <a:spLocks noGrp="1"/>
          </p:cNvSpPr>
          <p:nvPr>
            <p:ph type="dt" sz="half" idx="10"/>
          </p:nvPr>
        </p:nvSpPr>
        <p:spPr/>
        <p:txBody>
          <a:bodyPr/>
          <a:lstStyle/>
          <a:p>
            <a:fld id="{6AA312CA-90F8-4ACA-8EE7-54071BE23CE7}" type="datetimeFigureOut">
              <a:rPr lang="en-IN" smtClean="0"/>
              <a:t>31-03-2025</a:t>
            </a:fld>
            <a:endParaRPr lang="en-IN"/>
          </a:p>
        </p:txBody>
      </p:sp>
      <p:sp>
        <p:nvSpPr>
          <p:cNvPr id="5" name="Footer Placeholder 4">
            <a:extLst>
              <a:ext uri="{FF2B5EF4-FFF2-40B4-BE49-F238E27FC236}">
                <a16:creationId xmlns:a16="http://schemas.microsoft.com/office/drawing/2014/main" id="{A0BA5781-82D1-89EF-E974-1EABE52A448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3827897-57B0-0443-818B-77CBD3DF8967}"/>
              </a:ext>
            </a:extLst>
          </p:cNvPr>
          <p:cNvSpPr>
            <a:spLocks noGrp="1"/>
          </p:cNvSpPr>
          <p:nvPr>
            <p:ph type="sldNum" sz="quarter" idx="12"/>
          </p:nvPr>
        </p:nvSpPr>
        <p:spPr/>
        <p:txBody>
          <a:bodyPr/>
          <a:lstStyle/>
          <a:p>
            <a:fld id="{9B3B974B-1F48-429D-A1BD-3E688C4F9D14}" type="slidenum">
              <a:rPr lang="en-IN" smtClean="0"/>
              <a:t>‹#›</a:t>
            </a:fld>
            <a:endParaRPr lang="en-IN"/>
          </a:p>
        </p:txBody>
      </p:sp>
    </p:spTree>
    <p:extLst>
      <p:ext uri="{BB962C8B-B14F-4D97-AF65-F5344CB8AC3E}">
        <p14:creationId xmlns:p14="http://schemas.microsoft.com/office/powerpoint/2010/main" val="15083400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9CAB1-2D28-49BD-0753-3E3CE279ED5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282C2C2-E8B0-E8C0-E771-3FCBD4189FA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1F9D51F-3A26-BAFD-4D30-E3CD43FC9DED}"/>
              </a:ext>
            </a:extLst>
          </p:cNvPr>
          <p:cNvSpPr>
            <a:spLocks noGrp="1"/>
          </p:cNvSpPr>
          <p:nvPr>
            <p:ph type="dt" sz="half" idx="10"/>
          </p:nvPr>
        </p:nvSpPr>
        <p:spPr/>
        <p:txBody>
          <a:bodyPr/>
          <a:lstStyle/>
          <a:p>
            <a:fld id="{6AA312CA-90F8-4ACA-8EE7-54071BE23CE7}" type="datetimeFigureOut">
              <a:rPr lang="en-IN" smtClean="0"/>
              <a:t>31-03-2025</a:t>
            </a:fld>
            <a:endParaRPr lang="en-IN"/>
          </a:p>
        </p:txBody>
      </p:sp>
      <p:sp>
        <p:nvSpPr>
          <p:cNvPr id="5" name="Footer Placeholder 4">
            <a:extLst>
              <a:ext uri="{FF2B5EF4-FFF2-40B4-BE49-F238E27FC236}">
                <a16:creationId xmlns:a16="http://schemas.microsoft.com/office/drawing/2014/main" id="{1F33F00E-3349-9F43-686C-8E72AD52E5C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3CE83C3-B8A8-9439-204E-BC8BEFA02B6D}"/>
              </a:ext>
            </a:extLst>
          </p:cNvPr>
          <p:cNvSpPr>
            <a:spLocks noGrp="1"/>
          </p:cNvSpPr>
          <p:nvPr>
            <p:ph type="sldNum" sz="quarter" idx="12"/>
          </p:nvPr>
        </p:nvSpPr>
        <p:spPr/>
        <p:txBody>
          <a:bodyPr/>
          <a:lstStyle/>
          <a:p>
            <a:fld id="{9B3B974B-1F48-429D-A1BD-3E688C4F9D14}" type="slidenum">
              <a:rPr lang="en-IN" smtClean="0"/>
              <a:t>‹#›</a:t>
            </a:fld>
            <a:endParaRPr lang="en-IN"/>
          </a:p>
        </p:txBody>
      </p:sp>
    </p:spTree>
    <p:extLst>
      <p:ext uri="{BB962C8B-B14F-4D97-AF65-F5344CB8AC3E}">
        <p14:creationId xmlns:p14="http://schemas.microsoft.com/office/powerpoint/2010/main" val="6510446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C2FC9-F381-A43C-8DF0-70FE0E9B9B0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4E8E3BF-7CE2-7E42-D150-A9E4865040F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21F2819-8A92-D3DE-6D7E-4C53EA5B8B8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8C29EB5-FEF4-C7FB-A98C-6B8EC8EFA5FD}"/>
              </a:ext>
            </a:extLst>
          </p:cNvPr>
          <p:cNvSpPr>
            <a:spLocks noGrp="1"/>
          </p:cNvSpPr>
          <p:nvPr>
            <p:ph type="dt" sz="half" idx="10"/>
          </p:nvPr>
        </p:nvSpPr>
        <p:spPr/>
        <p:txBody>
          <a:bodyPr/>
          <a:lstStyle/>
          <a:p>
            <a:fld id="{6AA312CA-90F8-4ACA-8EE7-54071BE23CE7}" type="datetimeFigureOut">
              <a:rPr lang="en-IN" smtClean="0"/>
              <a:t>31-03-2025</a:t>
            </a:fld>
            <a:endParaRPr lang="en-IN"/>
          </a:p>
        </p:txBody>
      </p:sp>
      <p:sp>
        <p:nvSpPr>
          <p:cNvPr id="6" name="Footer Placeholder 5">
            <a:extLst>
              <a:ext uri="{FF2B5EF4-FFF2-40B4-BE49-F238E27FC236}">
                <a16:creationId xmlns:a16="http://schemas.microsoft.com/office/drawing/2014/main" id="{6EEA3E3F-043F-4B77-91D3-F933FD72360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3ABC6FD-8A29-DB30-3D10-450F5834F4DE}"/>
              </a:ext>
            </a:extLst>
          </p:cNvPr>
          <p:cNvSpPr>
            <a:spLocks noGrp="1"/>
          </p:cNvSpPr>
          <p:nvPr>
            <p:ph type="sldNum" sz="quarter" idx="12"/>
          </p:nvPr>
        </p:nvSpPr>
        <p:spPr/>
        <p:txBody>
          <a:bodyPr/>
          <a:lstStyle/>
          <a:p>
            <a:fld id="{9B3B974B-1F48-429D-A1BD-3E688C4F9D14}" type="slidenum">
              <a:rPr lang="en-IN" smtClean="0"/>
              <a:t>‹#›</a:t>
            </a:fld>
            <a:endParaRPr lang="en-IN"/>
          </a:p>
        </p:txBody>
      </p:sp>
    </p:spTree>
    <p:extLst>
      <p:ext uri="{BB962C8B-B14F-4D97-AF65-F5344CB8AC3E}">
        <p14:creationId xmlns:p14="http://schemas.microsoft.com/office/powerpoint/2010/main" val="27384245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E531F-1B13-BF69-C0B6-9CEBECF5137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54B3035-2038-C91C-A142-CF62B3AC7EC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478F674-5B11-CFE6-1323-ECB0D1FCE3B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58D753E-548B-2C3D-F8DF-6F16961215B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F195D4F-6AE5-3679-8706-6F269BAEC28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533F90A-F3B8-85BE-E854-2E4CCF3A4EB7}"/>
              </a:ext>
            </a:extLst>
          </p:cNvPr>
          <p:cNvSpPr>
            <a:spLocks noGrp="1"/>
          </p:cNvSpPr>
          <p:nvPr>
            <p:ph type="dt" sz="half" idx="10"/>
          </p:nvPr>
        </p:nvSpPr>
        <p:spPr/>
        <p:txBody>
          <a:bodyPr/>
          <a:lstStyle/>
          <a:p>
            <a:fld id="{6AA312CA-90F8-4ACA-8EE7-54071BE23CE7}" type="datetimeFigureOut">
              <a:rPr lang="en-IN" smtClean="0"/>
              <a:t>31-03-2025</a:t>
            </a:fld>
            <a:endParaRPr lang="en-IN"/>
          </a:p>
        </p:txBody>
      </p:sp>
      <p:sp>
        <p:nvSpPr>
          <p:cNvPr id="8" name="Footer Placeholder 7">
            <a:extLst>
              <a:ext uri="{FF2B5EF4-FFF2-40B4-BE49-F238E27FC236}">
                <a16:creationId xmlns:a16="http://schemas.microsoft.com/office/drawing/2014/main" id="{65FA73DE-5664-26CA-953C-EFD4AF288AF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B29DADC-F907-5B0D-8090-0C707B864A2C}"/>
              </a:ext>
            </a:extLst>
          </p:cNvPr>
          <p:cNvSpPr>
            <a:spLocks noGrp="1"/>
          </p:cNvSpPr>
          <p:nvPr>
            <p:ph type="sldNum" sz="quarter" idx="12"/>
          </p:nvPr>
        </p:nvSpPr>
        <p:spPr/>
        <p:txBody>
          <a:bodyPr/>
          <a:lstStyle/>
          <a:p>
            <a:fld id="{9B3B974B-1F48-429D-A1BD-3E688C4F9D14}" type="slidenum">
              <a:rPr lang="en-IN" smtClean="0"/>
              <a:t>‹#›</a:t>
            </a:fld>
            <a:endParaRPr lang="en-IN"/>
          </a:p>
        </p:txBody>
      </p:sp>
    </p:spTree>
    <p:extLst>
      <p:ext uri="{BB962C8B-B14F-4D97-AF65-F5344CB8AC3E}">
        <p14:creationId xmlns:p14="http://schemas.microsoft.com/office/powerpoint/2010/main" val="37410040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50552-A555-427D-D2A7-A5CDEA1562E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81A0AB7-4C9E-4626-807A-05B864FD8B4C}"/>
              </a:ext>
            </a:extLst>
          </p:cNvPr>
          <p:cNvSpPr>
            <a:spLocks noGrp="1"/>
          </p:cNvSpPr>
          <p:nvPr>
            <p:ph type="dt" sz="half" idx="10"/>
          </p:nvPr>
        </p:nvSpPr>
        <p:spPr/>
        <p:txBody>
          <a:bodyPr/>
          <a:lstStyle/>
          <a:p>
            <a:fld id="{6AA312CA-90F8-4ACA-8EE7-54071BE23CE7}" type="datetimeFigureOut">
              <a:rPr lang="en-IN" smtClean="0"/>
              <a:t>31-03-2025</a:t>
            </a:fld>
            <a:endParaRPr lang="en-IN"/>
          </a:p>
        </p:txBody>
      </p:sp>
      <p:sp>
        <p:nvSpPr>
          <p:cNvPr id="4" name="Footer Placeholder 3">
            <a:extLst>
              <a:ext uri="{FF2B5EF4-FFF2-40B4-BE49-F238E27FC236}">
                <a16:creationId xmlns:a16="http://schemas.microsoft.com/office/drawing/2014/main" id="{AC360B3B-0516-87EF-D9CB-E79DD2D11BC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5E51140-D3D5-44BB-F6E5-CD5B9A006991}"/>
              </a:ext>
            </a:extLst>
          </p:cNvPr>
          <p:cNvSpPr>
            <a:spLocks noGrp="1"/>
          </p:cNvSpPr>
          <p:nvPr>
            <p:ph type="sldNum" sz="quarter" idx="12"/>
          </p:nvPr>
        </p:nvSpPr>
        <p:spPr/>
        <p:txBody>
          <a:bodyPr/>
          <a:lstStyle/>
          <a:p>
            <a:fld id="{9B3B974B-1F48-429D-A1BD-3E688C4F9D14}" type="slidenum">
              <a:rPr lang="en-IN" smtClean="0"/>
              <a:t>‹#›</a:t>
            </a:fld>
            <a:endParaRPr lang="en-IN"/>
          </a:p>
        </p:txBody>
      </p:sp>
    </p:spTree>
    <p:extLst>
      <p:ext uri="{BB962C8B-B14F-4D97-AF65-F5344CB8AC3E}">
        <p14:creationId xmlns:p14="http://schemas.microsoft.com/office/powerpoint/2010/main" val="34174798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D3A6A1A-B3DF-A95D-F61F-4CF7D5D60136}"/>
              </a:ext>
            </a:extLst>
          </p:cNvPr>
          <p:cNvSpPr>
            <a:spLocks noGrp="1"/>
          </p:cNvSpPr>
          <p:nvPr>
            <p:ph type="dt" sz="half" idx="10"/>
          </p:nvPr>
        </p:nvSpPr>
        <p:spPr/>
        <p:txBody>
          <a:bodyPr/>
          <a:lstStyle/>
          <a:p>
            <a:fld id="{6AA312CA-90F8-4ACA-8EE7-54071BE23CE7}" type="datetimeFigureOut">
              <a:rPr lang="en-IN" smtClean="0"/>
              <a:t>31-03-2025</a:t>
            </a:fld>
            <a:endParaRPr lang="en-IN"/>
          </a:p>
        </p:txBody>
      </p:sp>
      <p:sp>
        <p:nvSpPr>
          <p:cNvPr id="3" name="Footer Placeholder 2">
            <a:extLst>
              <a:ext uri="{FF2B5EF4-FFF2-40B4-BE49-F238E27FC236}">
                <a16:creationId xmlns:a16="http://schemas.microsoft.com/office/drawing/2014/main" id="{1FD2E4AF-69F4-9C43-EFE5-C4F10E52E03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FF3A363-8F5C-1A9D-2646-AC551B4FE208}"/>
              </a:ext>
            </a:extLst>
          </p:cNvPr>
          <p:cNvSpPr>
            <a:spLocks noGrp="1"/>
          </p:cNvSpPr>
          <p:nvPr>
            <p:ph type="sldNum" sz="quarter" idx="12"/>
          </p:nvPr>
        </p:nvSpPr>
        <p:spPr/>
        <p:txBody>
          <a:bodyPr/>
          <a:lstStyle/>
          <a:p>
            <a:fld id="{9B3B974B-1F48-429D-A1BD-3E688C4F9D14}" type="slidenum">
              <a:rPr lang="en-IN" smtClean="0"/>
              <a:t>‹#›</a:t>
            </a:fld>
            <a:endParaRPr lang="en-IN"/>
          </a:p>
        </p:txBody>
      </p:sp>
    </p:spTree>
    <p:extLst>
      <p:ext uri="{BB962C8B-B14F-4D97-AF65-F5344CB8AC3E}">
        <p14:creationId xmlns:p14="http://schemas.microsoft.com/office/powerpoint/2010/main" val="15233833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C7D03-7F37-1C28-514C-C9273348B2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C3CE787-3888-F14D-9B0A-39CF4A7A260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D63A185-7D5A-F458-1055-95AB22474B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F67B63-748A-4422-76A5-DB6052F80AF8}"/>
              </a:ext>
            </a:extLst>
          </p:cNvPr>
          <p:cNvSpPr>
            <a:spLocks noGrp="1"/>
          </p:cNvSpPr>
          <p:nvPr>
            <p:ph type="dt" sz="half" idx="10"/>
          </p:nvPr>
        </p:nvSpPr>
        <p:spPr/>
        <p:txBody>
          <a:bodyPr/>
          <a:lstStyle/>
          <a:p>
            <a:fld id="{6AA312CA-90F8-4ACA-8EE7-54071BE23CE7}" type="datetimeFigureOut">
              <a:rPr lang="en-IN" smtClean="0"/>
              <a:t>31-03-2025</a:t>
            </a:fld>
            <a:endParaRPr lang="en-IN"/>
          </a:p>
        </p:txBody>
      </p:sp>
      <p:sp>
        <p:nvSpPr>
          <p:cNvPr id="6" name="Footer Placeholder 5">
            <a:extLst>
              <a:ext uri="{FF2B5EF4-FFF2-40B4-BE49-F238E27FC236}">
                <a16:creationId xmlns:a16="http://schemas.microsoft.com/office/drawing/2014/main" id="{B7F06997-072D-BB91-18CC-45BBD2616BC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9D2289D-1E82-28DA-2499-A11BA55488CE}"/>
              </a:ext>
            </a:extLst>
          </p:cNvPr>
          <p:cNvSpPr>
            <a:spLocks noGrp="1"/>
          </p:cNvSpPr>
          <p:nvPr>
            <p:ph type="sldNum" sz="quarter" idx="12"/>
          </p:nvPr>
        </p:nvSpPr>
        <p:spPr/>
        <p:txBody>
          <a:bodyPr/>
          <a:lstStyle/>
          <a:p>
            <a:fld id="{9B3B974B-1F48-429D-A1BD-3E688C4F9D14}" type="slidenum">
              <a:rPr lang="en-IN" smtClean="0"/>
              <a:t>‹#›</a:t>
            </a:fld>
            <a:endParaRPr lang="en-IN"/>
          </a:p>
        </p:txBody>
      </p:sp>
    </p:spTree>
    <p:extLst>
      <p:ext uri="{BB962C8B-B14F-4D97-AF65-F5344CB8AC3E}">
        <p14:creationId xmlns:p14="http://schemas.microsoft.com/office/powerpoint/2010/main" val="951798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E3BCB0-9F9D-9242-990F-FBDB797E58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8C76E1C-C0A6-AAC7-0E0E-F2233E7828A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4C1E1D7-0EF7-2D2B-3252-B73066AFA6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8BE6B6-15E2-9536-13A7-551FFA25808B}"/>
              </a:ext>
            </a:extLst>
          </p:cNvPr>
          <p:cNvSpPr>
            <a:spLocks noGrp="1"/>
          </p:cNvSpPr>
          <p:nvPr>
            <p:ph type="dt" sz="half" idx="10"/>
          </p:nvPr>
        </p:nvSpPr>
        <p:spPr/>
        <p:txBody>
          <a:bodyPr/>
          <a:lstStyle/>
          <a:p>
            <a:fld id="{6AA312CA-90F8-4ACA-8EE7-54071BE23CE7}" type="datetimeFigureOut">
              <a:rPr lang="en-IN" smtClean="0"/>
              <a:t>31-03-2025</a:t>
            </a:fld>
            <a:endParaRPr lang="en-IN"/>
          </a:p>
        </p:txBody>
      </p:sp>
      <p:sp>
        <p:nvSpPr>
          <p:cNvPr id="6" name="Footer Placeholder 5">
            <a:extLst>
              <a:ext uri="{FF2B5EF4-FFF2-40B4-BE49-F238E27FC236}">
                <a16:creationId xmlns:a16="http://schemas.microsoft.com/office/drawing/2014/main" id="{0DD52448-165F-728D-4CDC-AF21AF77C68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152D285-FAAD-008E-7F19-D9BB29731FE1}"/>
              </a:ext>
            </a:extLst>
          </p:cNvPr>
          <p:cNvSpPr>
            <a:spLocks noGrp="1"/>
          </p:cNvSpPr>
          <p:nvPr>
            <p:ph type="sldNum" sz="quarter" idx="12"/>
          </p:nvPr>
        </p:nvSpPr>
        <p:spPr/>
        <p:txBody>
          <a:bodyPr/>
          <a:lstStyle/>
          <a:p>
            <a:fld id="{9B3B974B-1F48-429D-A1BD-3E688C4F9D14}" type="slidenum">
              <a:rPr lang="en-IN" smtClean="0"/>
              <a:t>‹#›</a:t>
            </a:fld>
            <a:endParaRPr lang="en-IN"/>
          </a:p>
        </p:txBody>
      </p:sp>
    </p:spTree>
    <p:extLst>
      <p:ext uri="{BB962C8B-B14F-4D97-AF65-F5344CB8AC3E}">
        <p14:creationId xmlns:p14="http://schemas.microsoft.com/office/powerpoint/2010/main" val="2120859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C4BBB-44AC-B158-ADEE-A3B3AACAD1D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A67D7CA-3489-0262-C6A1-BD075C6A03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E0E65A4-BA12-45EB-20E4-B3D99C53E6F0}"/>
              </a:ext>
            </a:extLst>
          </p:cNvPr>
          <p:cNvSpPr>
            <a:spLocks noGrp="1"/>
          </p:cNvSpPr>
          <p:nvPr>
            <p:ph type="dt" sz="half" idx="10"/>
          </p:nvPr>
        </p:nvSpPr>
        <p:spPr/>
        <p:txBody>
          <a:bodyPr/>
          <a:lstStyle/>
          <a:p>
            <a:fld id="{6AA312CA-90F8-4ACA-8EE7-54071BE23CE7}" type="datetimeFigureOut">
              <a:rPr lang="en-IN" smtClean="0"/>
              <a:t>31-03-2025</a:t>
            </a:fld>
            <a:endParaRPr lang="en-IN"/>
          </a:p>
        </p:txBody>
      </p:sp>
      <p:sp>
        <p:nvSpPr>
          <p:cNvPr id="5" name="Footer Placeholder 4">
            <a:extLst>
              <a:ext uri="{FF2B5EF4-FFF2-40B4-BE49-F238E27FC236}">
                <a16:creationId xmlns:a16="http://schemas.microsoft.com/office/drawing/2014/main" id="{25921A86-F8CF-8C42-E6CE-0FCE541F4BF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CAB0156-1ABC-749A-6EBE-1AA1DB3B7235}"/>
              </a:ext>
            </a:extLst>
          </p:cNvPr>
          <p:cNvSpPr>
            <a:spLocks noGrp="1"/>
          </p:cNvSpPr>
          <p:nvPr>
            <p:ph type="sldNum" sz="quarter" idx="12"/>
          </p:nvPr>
        </p:nvSpPr>
        <p:spPr/>
        <p:txBody>
          <a:bodyPr/>
          <a:lstStyle/>
          <a:p>
            <a:fld id="{9B3B974B-1F48-429D-A1BD-3E688C4F9D14}" type="slidenum">
              <a:rPr lang="en-IN" smtClean="0"/>
              <a:t>‹#›</a:t>
            </a:fld>
            <a:endParaRPr lang="en-IN"/>
          </a:p>
        </p:txBody>
      </p:sp>
    </p:spTree>
    <p:extLst>
      <p:ext uri="{BB962C8B-B14F-4D97-AF65-F5344CB8AC3E}">
        <p14:creationId xmlns:p14="http://schemas.microsoft.com/office/powerpoint/2010/main" val="30938937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6E9402A-843C-DAD4-24D0-9EC364CB3AD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5CAD83C-4866-2234-1776-E6C202598EF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BA9A913-9FCB-D4A5-F7B2-4083736AF981}"/>
              </a:ext>
            </a:extLst>
          </p:cNvPr>
          <p:cNvSpPr>
            <a:spLocks noGrp="1"/>
          </p:cNvSpPr>
          <p:nvPr>
            <p:ph type="dt" sz="half" idx="10"/>
          </p:nvPr>
        </p:nvSpPr>
        <p:spPr/>
        <p:txBody>
          <a:bodyPr/>
          <a:lstStyle/>
          <a:p>
            <a:fld id="{6AA312CA-90F8-4ACA-8EE7-54071BE23CE7}" type="datetimeFigureOut">
              <a:rPr lang="en-IN" smtClean="0"/>
              <a:t>31-03-2025</a:t>
            </a:fld>
            <a:endParaRPr lang="en-IN"/>
          </a:p>
        </p:txBody>
      </p:sp>
      <p:sp>
        <p:nvSpPr>
          <p:cNvPr id="5" name="Footer Placeholder 4">
            <a:extLst>
              <a:ext uri="{FF2B5EF4-FFF2-40B4-BE49-F238E27FC236}">
                <a16:creationId xmlns:a16="http://schemas.microsoft.com/office/drawing/2014/main" id="{2CEEE146-3637-7D33-69DF-F90C5FA0423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B8A825D-4CBB-23B0-5F2F-72354DC7AD82}"/>
              </a:ext>
            </a:extLst>
          </p:cNvPr>
          <p:cNvSpPr>
            <a:spLocks noGrp="1"/>
          </p:cNvSpPr>
          <p:nvPr>
            <p:ph type="sldNum" sz="quarter" idx="12"/>
          </p:nvPr>
        </p:nvSpPr>
        <p:spPr/>
        <p:txBody>
          <a:bodyPr/>
          <a:lstStyle/>
          <a:p>
            <a:fld id="{9B3B974B-1F48-429D-A1BD-3E688C4F9D14}" type="slidenum">
              <a:rPr lang="en-IN" smtClean="0"/>
              <a:t>‹#›</a:t>
            </a:fld>
            <a:endParaRPr lang="en-IN"/>
          </a:p>
        </p:txBody>
      </p:sp>
    </p:spTree>
    <p:extLst>
      <p:ext uri="{BB962C8B-B14F-4D97-AF65-F5344CB8AC3E}">
        <p14:creationId xmlns:p14="http://schemas.microsoft.com/office/powerpoint/2010/main" val="25870880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AEE957-B9E6-A765-F198-7F2FAFFBA56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DDB0A03-2871-3455-EF87-9700C6AC530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47E1685-3679-A051-5C1D-49293845F5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AA312CA-90F8-4ACA-8EE7-54071BE23CE7}" type="datetimeFigureOut">
              <a:rPr lang="en-IN" smtClean="0"/>
              <a:t>31-03-2025</a:t>
            </a:fld>
            <a:endParaRPr lang="en-IN"/>
          </a:p>
        </p:txBody>
      </p:sp>
      <p:sp>
        <p:nvSpPr>
          <p:cNvPr id="5" name="Footer Placeholder 4">
            <a:extLst>
              <a:ext uri="{FF2B5EF4-FFF2-40B4-BE49-F238E27FC236}">
                <a16:creationId xmlns:a16="http://schemas.microsoft.com/office/drawing/2014/main" id="{9F924946-D47B-E319-4CA6-D1A3002D3E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D913482-44CD-1CAD-D93F-D2844621D60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3B974B-1F48-429D-A1BD-3E688C4F9D14}" type="slidenum">
              <a:rPr lang="en-IN" smtClean="0"/>
              <a:t>‹#›</a:t>
            </a:fld>
            <a:endParaRPr lang="en-IN"/>
          </a:p>
        </p:txBody>
      </p:sp>
    </p:spTree>
    <p:extLst>
      <p:ext uri="{BB962C8B-B14F-4D97-AF65-F5344CB8AC3E}">
        <p14:creationId xmlns:p14="http://schemas.microsoft.com/office/powerpoint/2010/main" val="26618164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myborosil.com/collections/oven-toaster-griller"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myborosil.com/collections/oven-toaster-griller"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myborosil.com/collections/oven-toaster-griller"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61DDC-3311-D873-961D-6A32F8340A71}"/>
              </a:ext>
            </a:extLst>
          </p:cNvPr>
          <p:cNvSpPr>
            <a:spLocks noGrp="1"/>
          </p:cNvSpPr>
          <p:nvPr>
            <p:ph type="ctrTitle"/>
          </p:nvPr>
        </p:nvSpPr>
        <p:spPr>
          <a:xfrm>
            <a:off x="1524000" y="1122363"/>
            <a:ext cx="9144000" cy="990917"/>
          </a:xfrm>
        </p:spPr>
        <p:txBody>
          <a:bodyPr>
            <a:noAutofit/>
          </a:bodyPr>
          <a:lstStyle/>
          <a:p>
            <a:r>
              <a:rPr lang="en-US" sz="7200" b="1" dirty="0">
                <a:solidFill>
                  <a:srgbClr val="003366"/>
                </a:solidFill>
                <a:effectLst>
                  <a:outerShdw blurRad="38100" dist="38100" dir="2700000" algn="tl">
                    <a:srgbClr val="000000">
                      <a:alpha val="43137"/>
                    </a:srgbClr>
                  </a:outerShdw>
                </a:effectLst>
                <a:latin typeface="French Script MT" panose="03020402040607040605" pitchFamily="66" charset="0"/>
              </a:rPr>
              <a:t>Cooking Methods</a:t>
            </a:r>
            <a:endParaRPr lang="en-IN" sz="7200" b="1" dirty="0">
              <a:solidFill>
                <a:srgbClr val="003366"/>
              </a:solidFill>
              <a:effectLst>
                <a:outerShdw blurRad="38100" dist="38100" dir="2700000" algn="tl">
                  <a:srgbClr val="000000">
                    <a:alpha val="43137"/>
                  </a:srgbClr>
                </a:outerShdw>
              </a:effectLst>
              <a:latin typeface="French Script MT" panose="03020402040607040605" pitchFamily="66" charset="0"/>
            </a:endParaRPr>
          </a:p>
        </p:txBody>
      </p:sp>
      <p:sp>
        <p:nvSpPr>
          <p:cNvPr id="3" name="Subtitle 2">
            <a:extLst>
              <a:ext uri="{FF2B5EF4-FFF2-40B4-BE49-F238E27FC236}">
                <a16:creationId xmlns:a16="http://schemas.microsoft.com/office/drawing/2014/main" id="{958F2F1C-DDDB-3A6E-1AF8-318AF57AC350}"/>
              </a:ext>
            </a:extLst>
          </p:cNvPr>
          <p:cNvSpPr>
            <a:spLocks noGrp="1"/>
          </p:cNvSpPr>
          <p:nvPr>
            <p:ph type="subTitle" idx="1"/>
          </p:nvPr>
        </p:nvSpPr>
        <p:spPr/>
        <p:txBody>
          <a:bodyPr>
            <a:normAutofit fontScale="77500" lnSpcReduction="20000"/>
          </a:bodyPr>
          <a:lstStyle/>
          <a:p>
            <a:r>
              <a:rPr lang="en-US" b="1" dirty="0" err="1"/>
              <a:t>Sanghamitra</a:t>
            </a:r>
            <a:r>
              <a:rPr lang="en-US" b="1" dirty="0"/>
              <a:t> Samanta</a:t>
            </a:r>
          </a:p>
          <a:p>
            <a:r>
              <a:rPr lang="en-US" dirty="0"/>
              <a:t>Guest Lecturer</a:t>
            </a:r>
          </a:p>
          <a:p>
            <a:r>
              <a:rPr lang="en-US" dirty="0"/>
              <a:t>Department of Humanities and Social Science,</a:t>
            </a:r>
          </a:p>
          <a:p>
            <a:r>
              <a:rPr lang="en-US" dirty="0"/>
              <a:t>National Institute of Technology, Goa</a:t>
            </a:r>
          </a:p>
          <a:p>
            <a:r>
              <a:rPr lang="en-US" dirty="0" err="1"/>
              <a:t>Cuncolim</a:t>
            </a:r>
            <a:r>
              <a:rPr lang="en-US" dirty="0"/>
              <a:t>, South Goa, Goa-403703</a:t>
            </a:r>
          </a:p>
          <a:p>
            <a:endParaRPr lang="en-IN" b="1" dirty="0"/>
          </a:p>
        </p:txBody>
      </p:sp>
    </p:spTree>
    <p:extLst>
      <p:ext uri="{BB962C8B-B14F-4D97-AF65-F5344CB8AC3E}">
        <p14:creationId xmlns:p14="http://schemas.microsoft.com/office/powerpoint/2010/main" val="15268450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C1566D-4CF7-81DC-054C-429EB67B6665}"/>
              </a:ext>
            </a:extLst>
          </p:cNvPr>
          <p:cNvSpPr>
            <a:spLocks noGrp="1"/>
          </p:cNvSpPr>
          <p:nvPr>
            <p:ph idx="1"/>
          </p:nvPr>
        </p:nvSpPr>
        <p:spPr>
          <a:xfrm>
            <a:off x="5882640" y="1856719"/>
            <a:ext cx="6080760" cy="4667249"/>
          </a:xfrm>
        </p:spPr>
        <p:txBody>
          <a:bodyPr>
            <a:normAutofit fontScale="55000" lnSpcReduction="20000"/>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3300" b="1" i="0" u="none" strike="noStrike" cap="none" normalizeH="0" baseline="0" dirty="0">
                <a:ln>
                  <a:noFill/>
                </a:ln>
                <a:solidFill>
                  <a:schemeClr val="tx1"/>
                </a:solidFill>
                <a:effectLst/>
                <a:latin typeface="Mulish"/>
              </a:rPr>
              <a:t>Top 10 Cooking Methods To Make Your Life Easy  </a:t>
            </a:r>
            <a:br>
              <a:rPr kumimoji="0" lang="en-US" altLang="en-US" sz="2400" b="1" i="0" u="none" strike="noStrike" cap="none" normalizeH="0" baseline="0" dirty="0">
                <a:ln>
                  <a:noFill/>
                </a:ln>
                <a:solidFill>
                  <a:schemeClr val="tx1"/>
                </a:solidFill>
                <a:effectLst/>
                <a:latin typeface="Mulish"/>
              </a:rPr>
            </a:br>
            <a:endParaRPr kumimoji="0" lang="en-US" altLang="en-US" sz="2400" b="1" i="0" u="none" strike="noStrike" cap="none" normalizeH="0" baseline="0" dirty="0">
              <a:ln>
                <a:noFill/>
              </a:ln>
              <a:solidFill>
                <a:schemeClr val="tx1"/>
              </a:solidFill>
              <a:effectLst/>
              <a:latin typeface="Mulish"/>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7C828A"/>
                </a:solidFill>
                <a:effectLst/>
                <a:latin typeface="Mulish"/>
              </a:rPr>
              <a:t>First things first, based on the cooking style - either with water, no water or by using oil, you can divide the basics. Here, you have dry heat cooking, moist cooking and oil-based cooking. In all, along with water and oil, the amount of heat used to cook, the final output acts as a differentiating factor. </a:t>
            </a:r>
            <a:br>
              <a:rPr kumimoji="0" lang="en-US" altLang="en-US" sz="2800" b="0" i="0" u="none" strike="noStrike" cap="none" normalizeH="0" baseline="0" dirty="0">
                <a:ln>
                  <a:noFill/>
                </a:ln>
                <a:solidFill>
                  <a:srgbClr val="7C828A"/>
                </a:solidFill>
                <a:effectLst/>
                <a:latin typeface="Mulish"/>
              </a:rPr>
            </a:br>
            <a:endParaRPr kumimoji="0" lang="en-US" altLang="en-US" sz="3300" b="1" i="0" u="none" strike="noStrike" cap="none" normalizeH="0" baseline="0" dirty="0">
              <a:ln>
                <a:noFill/>
              </a:ln>
              <a:solidFill>
                <a:schemeClr val="tx1"/>
              </a:solidFill>
              <a:effectLst/>
              <a:latin typeface="Mulish"/>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3300" b="1" i="0" u="none" strike="noStrike" cap="none" normalizeH="0" baseline="0" dirty="0">
                <a:ln>
                  <a:noFill/>
                </a:ln>
                <a:solidFill>
                  <a:schemeClr val="tx1"/>
                </a:solidFill>
                <a:effectLst/>
                <a:latin typeface="Mulish"/>
              </a:rPr>
              <a:t>I-Dry Heat Cooking Style</a:t>
            </a:r>
            <a:br>
              <a:rPr kumimoji="0" lang="en-US" altLang="en-US" sz="3300" b="1" i="0" u="none" strike="noStrike" cap="none" normalizeH="0" baseline="0" dirty="0">
                <a:ln>
                  <a:noFill/>
                </a:ln>
                <a:solidFill>
                  <a:schemeClr val="tx1"/>
                </a:solidFill>
                <a:effectLst/>
                <a:latin typeface="Mulish"/>
              </a:rPr>
            </a:br>
            <a:endParaRPr kumimoji="0" lang="en-US" altLang="en-US" sz="3300" b="1" i="0" u="none" strike="noStrike" cap="none" normalizeH="0" baseline="0" dirty="0">
              <a:ln>
                <a:noFill/>
              </a:ln>
              <a:solidFill>
                <a:schemeClr val="tx1"/>
              </a:solidFill>
              <a:effectLst/>
              <a:latin typeface="Mulish"/>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7C828A"/>
                </a:solidFill>
                <a:effectLst/>
                <a:latin typeface="Mulish"/>
              </a:rPr>
              <a:t>Among all the cooking methods, in dry heat, there is no water used while preparing the food. When using this cooking style, you must be mindful and stay before the </a:t>
            </a:r>
            <a:r>
              <a:rPr lang="en-US" altLang="en-US" dirty="0">
                <a:solidFill>
                  <a:srgbClr val="7C828A"/>
                </a:solidFill>
                <a:latin typeface="Mulish"/>
              </a:rPr>
              <a:t>stove </a:t>
            </a:r>
            <a:r>
              <a:rPr kumimoji="0" lang="en-US" altLang="en-US" sz="2800" b="0" i="0" u="none" strike="noStrike" cap="none" normalizeH="0" baseline="0" dirty="0">
                <a:ln>
                  <a:noFill/>
                </a:ln>
                <a:solidFill>
                  <a:srgbClr val="7C828A"/>
                </a:solidFill>
                <a:effectLst/>
                <a:latin typeface="Mulish"/>
              </a:rPr>
              <a:t>until the process is complete. Moving on, here is a list of the various cooking methods that come under the dry heat cooking style. </a:t>
            </a:r>
            <a:endParaRPr lang="en-US" altLang="en-US" dirty="0">
              <a:solidFill>
                <a:srgbClr val="7C828A"/>
              </a:solidFill>
              <a:latin typeface="Mulish"/>
            </a:endParaRP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a:ln>
                <a:noFill/>
              </a:ln>
              <a:solidFill>
                <a:srgbClr val="7C828A"/>
              </a:solidFill>
              <a:effectLst/>
              <a:latin typeface="Mulish"/>
            </a:endParaRP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a:ln>
                <a:noFill/>
              </a:ln>
              <a:solidFill>
                <a:schemeClr val="tx1"/>
              </a:solidFill>
              <a:effectLst/>
              <a:latin typeface="Mulish"/>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3600" b="1" i="0" u="none" strike="noStrike" cap="none" normalizeH="0" baseline="0" dirty="0">
                <a:ln>
                  <a:noFill/>
                </a:ln>
                <a:solidFill>
                  <a:schemeClr val="tx1"/>
                </a:solidFill>
                <a:effectLst/>
                <a:latin typeface="Mulish"/>
              </a:rPr>
              <a:t>1. Baking</a:t>
            </a:r>
            <a:endParaRPr kumimoji="0" lang="en-US" altLang="en-US" sz="3600" b="0" i="0" u="none" strike="noStrike" cap="none" normalizeH="0" baseline="0" dirty="0">
              <a:ln>
                <a:noFill/>
              </a:ln>
              <a:solidFill>
                <a:srgbClr val="7C828A"/>
              </a:solidFill>
              <a:effectLst/>
              <a:latin typeface="Mulish"/>
            </a:endParaRPr>
          </a:p>
          <a:p>
            <a:pPr marL="0" indent="0">
              <a:buNone/>
            </a:pPr>
            <a:r>
              <a:rPr kumimoji="0" lang="en-US" altLang="en-US" sz="2800" b="0" i="0" u="none" strike="noStrike" cap="none" normalizeH="0" baseline="0" dirty="0">
                <a:ln>
                  <a:noFill/>
                </a:ln>
                <a:solidFill>
                  <a:srgbClr val="7C828A"/>
                </a:solidFill>
                <a:effectLst/>
                <a:latin typeface="Mulish"/>
              </a:rPr>
              <a:t>The baking method requires you to cook the food within an enclosed space without using any water. Typically, you need an </a:t>
            </a:r>
            <a:r>
              <a:rPr lang="en-US" altLang="en-US" dirty="0">
                <a:solidFill>
                  <a:srgbClr val="7C828A"/>
                </a:solidFill>
                <a:latin typeface="Mulish"/>
              </a:rPr>
              <a:t>oven </a:t>
            </a:r>
            <a:r>
              <a:rPr kumimoji="0" lang="en-US" altLang="en-US" sz="2800" b="0" i="0" u="none" strike="noStrike" cap="none" normalizeH="0" baseline="0" dirty="0">
                <a:ln>
                  <a:noFill/>
                </a:ln>
                <a:solidFill>
                  <a:srgbClr val="7C828A"/>
                </a:solidFill>
                <a:effectLst/>
                <a:latin typeface="Mulish"/>
              </a:rPr>
              <a:t>to bake. In the process, you bake doughs or batters, altering the form of the starch present in the dish. You require an enclosed space to complete the process of baking. Under such conditions, the heat gets evenly distributed across all sides of the dish.  </a:t>
            </a:r>
            <a:endParaRPr kumimoji="0" lang="en-US" altLang="en-US" sz="3600" b="0" i="0" u="none" strike="noStrike" cap="none" normalizeH="0" baseline="0" dirty="0">
              <a:ln>
                <a:noFill/>
              </a:ln>
              <a:solidFill>
                <a:schemeClr val="tx1"/>
              </a:solidFill>
              <a:effectLst/>
              <a:latin typeface="Arial" panose="020B0604020202020204" pitchFamily="34" charset="0"/>
            </a:endParaRPr>
          </a:p>
          <a:p>
            <a:endParaRPr lang="en-IN" dirty="0"/>
          </a:p>
        </p:txBody>
      </p:sp>
      <p:pic>
        <p:nvPicPr>
          <p:cNvPr id="1035" name="Picture 11">
            <a:hlinkClick r:id="rId2" tooltip="oven toaster griller by borosil baking a delicious pizza"/>
            <a:extLst>
              <a:ext uri="{FF2B5EF4-FFF2-40B4-BE49-F238E27FC236}">
                <a16:creationId xmlns:a16="http://schemas.microsoft.com/office/drawing/2014/main" id="{0F473A5B-54F3-0E54-D8D0-5DBBF9B7D0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825625"/>
            <a:ext cx="5152697" cy="466725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44FF0601-AA87-AF61-B395-CA2FD47337E5}"/>
              </a:ext>
            </a:extLst>
          </p:cNvPr>
          <p:cNvSpPr txBox="1"/>
          <p:nvPr/>
        </p:nvSpPr>
        <p:spPr>
          <a:xfrm>
            <a:off x="3988675" y="372898"/>
            <a:ext cx="4214649" cy="769441"/>
          </a:xfrm>
          <a:prstGeom prst="rect">
            <a:avLst/>
          </a:prstGeom>
          <a:noFill/>
        </p:spPr>
        <p:txBody>
          <a:bodyPr wrap="square" rtlCol="0">
            <a:spAutoFit/>
          </a:bodyPr>
          <a:lstStyle/>
          <a:p>
            <a:pPr algn="just"/>
            <a:r>
              <a:rPr lang="en-US" sz="4400" dirty="0"/>
              <a:t>Cooking Methods</a:t>
            </a:r>
            <a:endParaRPr lang="en-IN" sz="4400" dirty="0"/>
          </a:p>
        </p:txBody>
      </p:sp>
    </p:spTree>
    <p:extLst>
      <p:ext uri="{BB962C8B-B14F-4D97-AF65-F5344CB8AC3E}">
        <p14:creationId xmlns:p14="http://schemas.microsoft.com/office/powerpoint/2010/main" val="9819173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BD7E9-8245-E112-D758-8A34FDA4119E}"/>
              </a:ext>
            </a:extLst>
          </p:cNvPr>
          <p:cNvSpPr>
            <a:spLocks noGrp="1"/>
          </p:cNvSpPr>
          <p:nvPr>
            <p:ph type="title"/>
          </p:nvPr>
        </p:nvSpPr>
        <p:spPr>
          <a:xfrm>
            <a:off x="5117224" y="344105"/>
            <a:ext cx="1957551" cy="1325563"/>
          </a:xfrm>
        </p:spPr>
        <p:txBody>
          <a:bodyPr/>
          <a:lstStyle/>
          <a:p>
            <a:pPr algn="just"/>
            <a:r>
              <a:rPr lang="en-US" dirty="0"/>
              <a:t>Broiling</a:t>
            </a:r>
            <a:endParaRPr lang="en-IN" dirty="0"/>
          </a:p>
        </p:txBody>
      </p:sp>
      <p:sp>
        <p:nvSpPr>
          <p:cNvPr id="3" name="Content Placeholder 2">
            <a:extLst>
              <a:ext uri="{FF2B5EF4-FFF2-40B4-BE49-F238E27FC236}">
                <a16:creationId xmlns:a16="http://schemas.microsoft.com/office/drawing/2014/main" id="{1F9918AA-6E46-B00F-0B50-2F70E22B9AE4}"/>
              </a:ext>
            </a:extLst>
          </p:cNvPr>
          <p:cNvSpPr>
            <a:spLocks noGrp="1"/>
          </p:cNvSpPr>
          <p:nvPr>
            <p:ph idx="1"/>
          </p:nvPr>
        </p:nvSpPr>
        <p:spPr/>
        <p:txBody>
          <a:bodyPr/>
          <a:lstStyle/>
          <a:p>
            <a:pPr marL="0" indent="0" algn="l">
              <a:buNone/>
            </a:pPr>
            <a:r>
              <a:rPr lang="en-US" b="1" i="0" dirty="0">
                <a:effectLst/>
                <a:latin typeface="Mulish"/>
              </a:rPr>
              <a:t>2. Broiling</a:t>
            </a:r>
          </a:p>
          <a:p>
            <a:pPr marL="0" indent="0" algn="l">
              <a:buNone/>
            </a:pPr>
            <a:br>
              <a:rPr lang="en-US" b="1" i="0" dirty="0">
                <a:effectLst/>
                <a:latin typeface="Mulish"/>
              </a:rPr>
            </a:br>
            <a:r>
              <a:rPr lang="en-US" b="0" i="0" dirty="0">
                <a:solidFill>
                  <a:srgbClr val="7C828A"/>
                </a:solidFill>
                <a:effectLst/>
                <a:latin typeface="Mulish"/>
              </a:rPr>
              <a:t>Many find the broiling technique quite similar to roasting. Unlike the                        latter, here, the food gets cooked by absorbing heat from the above the food. In the broiling method, you need to set the oven temperature at a minimum of 200 degrees Celsius and keep checking to prevent burning. Mostly it is meat, which is broiled. Other than that, one can also broil vegetables and fruits.</a:t>
            </a:r>
          </a:p>
          <a:p>
            <a:endParaRPr lang="en-IN" dirty="0"/>
          </a:p>
        </p:txBody>
      </p:sp>
    </p:spTree>
    <p:extLst>
      <p:ext uri="{BB962C8B-B14F-4D97-AF65-F5344CB8AC3E}">
        <p14:creationId xmlns:p14="http://schemas.microsoft.com/office/powerpoint/2010/main" val="36646005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51793-E4C6-214B-5417-D1F923837B1B}"/>
              </a:ext>
            </a:extLst>
          </p:cNvPr>
          <p:cNvSpPr>
            <a:spLocks noGrp="1"/>
          </p:cNvSpPr>
          <p:nvPr>
            <p:ph type="title"/>
          </p:nvPr>
        </p:nvSpPr>
        <p:spPr>
          <a:xfrm>
            <a:off x="5185541" y="249511"/>
            <a:ext cx="1820917" cy="1325563"/>
          </a:xfrm>
        </p:spPr>
        <p:txBody>
          <a:bodyPr/>
          <a:lstStyle/>
          <a:p>
            <a:pPr algn="just"/>
            <a:r>
              <a:rPr lang="en-US" dirty="0"/>
              <a:t>Grilling</a:t>
            </a:r>
            <a:endParaRPr lang="en-IN" dirty="0"/>
          </a:p>
        </p:txBody>
      </p:sp>
      <p:sp>
        <p:nvSpPr>
          <p:cNvPr id="3" name="Content Placeholder 2">
            <a:extLst>
              <a:ext uri="{FF2B5EF4-FFF2-40B4-BE49-F238E27FC236}">
                <a16:creationId xmlns:a16="http://schemas.microsoft.com/office/drawing/2014/main" id="{0990D502-DB91-C56F-1E57-3758A6FEF3A5}"/>
              </a:ext>
            </a:extLst>
          </p:cNvPr>
          <p:cNvSpPr>
            <a:spLocks noGrp="1"/>
          </p:cNvSpPr>
          <p:nvPr>
            <p:ph idx="1"/>
          </p:nvPr>
        </p:nvSpPr>
        <p:spPr>
          <a:xfrm>
            <a:off x="5959366" y="1690688"/>
            <a:ext cx="5394434" cy="4351338"/>
          </a:xfrm>
        </p:spPr>
        <p:txBody>
          <a:bodyPr/>
          <a:lstStyle/>
          <a:p>
            <a:pPr marL="0" indent="0">
              <a:buNone/>
            </a:pPr>
            <a:r>
              <a:rPr kumimoji="0" lang="en-US" altLang="en-US" sz="2800" b="0" i="0" u="none" strike="noStrike" cap="none" normalizeH="0" baseline="0" dirty="0">
                <a:ln>
                  <a:noFill/>
                </a:ln>
                <a:solidFill>
                  <a:srgbClr val="7C828A"/>
                </a:solidFill>
                <a:effectLst/>
                <a:latin typeface="Mulish"/>
              </a:rPr>
              <a:t>3.Grilling</a:t>
            </a:r>
          </a:p>
          <a:p>
            <a:pPr marL="0" indent="0">
              <a:buNone/>
            </a:pPr>
            <a:r>
              <a:rPr kumimoji="0" lang="en-US" altLang="en-US" sz="2800" b="0" i="0" u="none" strike="noStrike" cap="none" normalizeH="0" baseline="0" dirty="0">
                <a:ln>
                  <a:noFill/>
                </a:ln>
                <a:solidFill>
                  <a:srgbClr val="7C828A"/>
                </a:solidFill>
                <a:effectLst/>
                <a:latin typeface="Mulish"/>
              </a:rPr>
              <a:t>While </a:t>
            </a:r>
            <a:r>
              <a:rPr lang="en-US" altLang="en-US" dirty="0">
                <a:solidFill>
                  <a:srgbClr val="7C828A"/>
                </a:solidFill>
                <a:latin typeface="Mulish"/>
              </a:rPr>
              <a:t>grilling</a:t>
            </a:r>
            <a:r>
              <a:rPr kumimoji="0" lang="en-US" altLang="en-US" sz="2800" b="0" i="0" u="none" strike="noStrike" cap="none" normalizeH="0" baseline="0" dirty="0">
                <a:ln>
                  <a:noFill/>
                </a:ln>
                <a:solidFill>
                  <a:srgbClr val="7C828A"/>
                </a:solidFill>
                <a:effectLst/>
                <a:latin typeface="Mulish"/>
              </a:rPr>
              <a:t>, your food (usually meats, burgers and fish) is directly placed over a heat source. You can adjust the source's temperature or continue moving and flipping the item for a uniformly cooked output. </a:t>
            </a:r>
            <a:endParaRPr lang="en-IN" dirty="0"/>
          </a:p>
        </p:txBody>
      </p:sp>
      <p:pic>
        <p:nvPicPr>
          <p:cNvPr id="2050" name="Picture 2">
            <a:hlinkClick r:id="rId2" tooltip="paneer &amp; veggies being grilled"/>
            <a:extLst>
              <a:ext uri="{FF2B5EF4-FFF2-40B4-BE49-F238E27FC236}">
                <a16:creationId xmlns:a16="http://schemas.microsoft.com/office/drawing/2014/main" id="{C76CA2F7-5A70-A66F-62B2-09897D0F40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4324" y="1575074"/>
            <a:ext cx="4572000" cy="457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46321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F18E6-7B2A-1D48-820F-ABDD8E117EBE}"/>
              </a:ext>
            </a:extLst>
          </p:cNvPr>
          <p:cNvSpPr>
            <a:spLocks noGrp="1"/>
          </p:cNvSpPr>
          <p:nvPr>
            <p:ph type="title"/>
          </p:nvPr>
        </p:nvSpPr>
        <p:spPr/>
        <p:txBody>
          <a:bodyPr>
            <a:normAutofit/>
          </a:bodyPr>
          <a:lstStyle/>
          <a:p>
            <a:r>
              <a:rPr kumimoji="0" lang="en-US" altLang="en-US" sz="4400" b="1" i="0" u="none" strike="noStrike" cap="none" normalizeH="0" baseline="0" dirty="0">
                <a:ln>
                  <a:noFill/>
                </a:ln>
                <a:solidFill>
                  <a:schemeClr val="tx1"/>
                </a:solidFill>
                <a:effectLst/>
                <a:latin typeface="Mulish"/>
              </a:rPr>
              <a:t>                                Roasting</a:t>
            </a:r>
            <a:endParaRPr lang="en-IN" dirty="0"/>
          </a:p>
        </p:txBody>
      </p:sp>
      <p:sp>
        <p:nvSpPr>
          <p:cNvPr id="3" name="Content Placeholder 2">
            <a:extLst>
              <a:ext uri="{FF2B5EF4-FFF2-40B4-BE49-F238E27FC236}">
                <a16:creationId xmlns:a16="http://schemas.microsoft.com/office/drawing/2014/main" id="{32517DA4-67D7-EDD3-5626-8099B0A87AB2}"/>
              </a:ext>
            </a:extLst>
          </p:cNvPr>
          <p:cNvSpPr>
            <a:spLocks noGrp="1"/>
          </p:cNvSpPr>
          <p:nvPr>
            <p:ph idx="1"/>
          </p:nvPr>
        </p:nvSpPr>
        <p:spPr>
          <a:xfrm>
            <a:off x="6001406" y="1825625"/>
            <a:ext cx="5352393" cy="4351338"/>
          </a:xfrm>
        </p:spPr>
        <p:txBody>
          <a:bodyPr>
            <a:normAutofit lnSpcReduction="10000"/>
          </a:bodyPr>
          <a:lstStyle/>
          <a:p>
            <a:pPr marL="0" indent="0">
              <a:buNone/>
            </a:pPr>
            <a:r>
              <a:rPr kumimoji="0" lang="en-US" altLang="en-US" sz="2800" b="1" i="0" u="none" strike="noStrike" cap="none" normalizeH="0" baseline="0" dirty="0">
                <a:ln>
                  <a:noFill/>
                </a:ln>
                <a:solidFill>
                  <a:schemeClr val="tx1"/>
                </a:solidFill>
                <a:effectLst/>
                <a:latin typeface="Mulish"/>
              </a:rPr>
              <a:t>4. Roasting</a:t>
            </a:r>
            <a:endParaRPr kumimoji="0" lang="en-US" altLang="en-US" sz="2800" b="0" i="0" u="none" strike="noStrike" cap="none" normalizeH="0" baseline="0" dirty="0">
              <a:ln>
                <a:noFill/>
              </a:ln>
              <a:solidFill>
                <a:srgbClr val="7C828A"/>
              </a:solidFill>
              <a:effectLst/>
              <a:latin typeface="Mulish"/>
            </a:endParaRPr>
          </a:p>
          <a:p>
            <a:pPr marL="0" indent="0">
              <a:buNone/>
            </a:pPr>
            <a:r>
              <a:rPr kumimoji="0" lang="en-US" altLang="en-US" sz="2800" b="0" i="0" u="none" strike="noStrike" cap="none" normalizeH="0" baseline="0" dirty="0">
                <a:ln>
                  <a:noFill/>
                </a:ln>
                <a:solidFill>
                  <a:srgbClr val="7C828A"/>
                </a:solidFill>
                <a:effectLst/>
                <a:latin typeface="Mulish"/>
              </a:rPr>
              <a:t>In this type of cooking, dry heat and hot air surrounding the food are used to cook the dish evenly across all sides. You can roast your raw ingredients over an open flame or in a specially curated </a:t>
            </a:r>
            <a:r>
              <a:rPr lang="en-US" altLang="en-US" dirty="0">
                <a:solidFill>
                  <a:srgbClr val="7C828A"/>
                </a:solidFill>
                <a:latin typeface="Mulish"/>
              </a:rPr>
              <a:t>oven.</a:t>
            </a:r>
            <a:r>
              <a:rPr kumimoji="0" lang="en-US" altLang="en-US" sz="2800" b="0" i="0" u="none" strike="noStrike" cap="none" normalizeH="0" baseline="0" dirty="0">
                <a:ln>
                  <a:noFill/>
                </a:ln>
                <a:solidFill>
                  <a:srgbClr val="7C828A"/>
                </a:solidFill>
                <a:effectLst/>
                <a:latin typeface="Mulish"/>
              </a:rPr>
              <a:t> Roasted meat and vegetables have a unique taste of their own, which comes from browning or </a:t>
            </a:r>
            <a:r>
              <a:rPr kumimoji="0" lang="en-US" altLang="en-US" sz="2800" b="0" i="0" u="none" strike="noStrike" cap="none" normalizeH="0" baseline="0" dirty="0" err="1">
                <a:ln>
                  <a:noFill/>
                </a:ln>
                <a:solidFill>
                  <a:srgbClr val="7C828A"/>
                </a:solidFill>
                <a:effectLst/>
                <a:latin typeface="Mulish"/>
              </a:rPr>
              <a:t>caramelisation</a:t>
            </a:r>
            <a:r>
              <a:rPr kumimoji="0" lang="en-US" altLang="en-US" sz="2800" b="0" i="0" u="none" strike="noStrike" cap="none" normalizeH="0" baseline="0" dirty="0">
                <a:ln>
                  <a:noFill/>
                </a:ln>
                <a:solidFill>
                  <a:srgbClr val="7C828A"/>
                </a:solidFill>
                <a:effectLst/>
                <a:latin typeface="Mulish"/>
              </a:rPr>
              <a:t> of the same.</a:t>
            </a:r>
            <a:endParaRPr kumimoji="0" lang="en-US" altLang="en-US" sz="3600" b="0" i="0" u="none" strike="noStrike" cap="none" normalizeH="0" baseline="0" dirty="0">
              <a:ln>
                <a:noFill/>
              </a:ln>
              <a:solidFill>
                <a:schemeClr val="tx1"/>
              </a:solidFill>
              <a:effectLst/>
              <a:latin typeface="Arial" panose="020B0604020202020204" pitchFamily="34" charset="0"/>
            </a:endParaRPr>
          </a:p>
          <a:p>
            <a:endParaRPr lang="en-IN" dirty="0"/>
          </a:p>
        </p:txBody>
      </p:sp>
      <p:pic>
        <p:nvPicPr>
          <p:cNvPr id="3074" name="Picture 2">
            <a:hlinkClick r:id="rId2" tooltip="borosil otg showcasing its amazing motorised rotisserie for roasting"/>
            <a:extLst>
              <a:ext uri="{FF2B5EF4-FFF2-40B4-BE49-F238E27FC236}">
                <a16:creationId xmlns:a16="http://schemas.microsoft.com/office/drawing/2014/main" id="{E4BF7CD1-EE1A-3055-C11A-21494EF92E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825625"/>
            <a:ext cx="4572000" cy="457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49202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230FB-959B-63D1-DA5A-327093D1ED89}"/>
              </a:ext>
            </a:extLst>
          </p:cNvPr>
          <p:cNvSpPr>
            <a:spLocks noGrp="1"/>
          </p:cNvSpPr>
          <p:nvPr>
            <p:ph type="title"/>
          </p:nvPr>
        </p:nvSpPr>
        <p:spPr/>
        <p:txBody>
          <a:bodyPr/>
          <a:lstStyle/>
          <a:p>
            <a:r>
              <a:rPr lang="en-US" altLang="en-US" b="1" dirty="0">
                <a:latin typeface="Mulish"/>
              </a:rPr>
              <a:t>                                 </a:t>
            </a:r>
            <a:r>
              <a:rPr kumimoji="0" lang="en-US" altLang="en-US" sz="4400" b="1" i="0" u="none" strike="noStrike" cap="none" normalizeH="0" baseline="0" dirty="0">
                <a:ln>
                  <a:noFill/>
                </a:ln>
                <a:solidFill>
                  <a:schemeClr val="tx1"/>
                </a:solidFill>
                <a:effectLst/>
                <a:latin typeface="Mulish"/>
              </a:rPr>
              <a:t> Boiling</a:t>
            </a:r>
            <a:endParaRPr lang="en-IN" dirty="0"/>
          </a:p>
        </p:txBody>
      </p:sp>
      <p:sp>
        <p:nvSpPr>
          <p:cNvPr id="3" name="Content Placeholder 2">
            <a:extLst>
              <a:ext uri="{FF2B5EF4-FFF2-40B4-BE49-F238E27FC236}">
                <a16:creationId xmlns:a16="http://schemas.microsoft.com/office/drawing/2014/main" id="{BB6F1251-ED97-5BE1-6EBC-15A99C502557}"/>
              </a:ext>
            </a:extLst>
          </p:cNvPr>
          <p:cNvSpPr>
            <a:spLocks noGrp="1"/>
          </p:cNvSpPr>
          <p:nvPr>
            <p:ph idx="1"/>
          </p:nvPr>
        </p:nvSpPr>
        <p:spPr>
          <a:xfrm>
            <a:off x="5171089" y="1648648"/>
            <a:ext cx="6873765" cy="5508898"/>
          </a:xfrm>
        </p:spPr>
        <p:txBody>
          <a:bodyPr>
            <a:normAutofit fontScale="92500" lnSpcReduction="20000"/>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3000" b="1" i="0" u="none" strike="noStrike" cap="none" normalizeH="0" baseline="0" dirty="0">
                <a:ln>
                  <a:noFill/>
                </a:ln>
                <a:solidFill>
                  <a:schemeClr val="tx1"/>
                </a:solidFill>
                <a:effectLst/>
                <a:latin typeface="Mulish"/>
              </a:rPr>
              <a:t>II-Moist Heat Cooking Style </a:t>
            </a:r>
            <a:br>
              <a:rPr kumimoji="0" lang="en-US" altLang="en-US" sz="1400" b="1" i="0" u="none" strike="noStrike" cap="none" normalizeH="0" baseline="0" dirty="0">
                <a:ln>
                  <a:noFill/>
                </a:ln>
                <a:solidFill>
                  <a:schemeClr val="tx1"/>
                </a:solidFill>
                <a:effectLst/>
                <a:latin typeface="Mulish"/>
              </a:rPr>
            </a:br>
            <a:endParaRPr kumimoji="0" lang="en-US" altLang="en-US" sz="1400" b="1" i="0" u="none" strike="noStrike" cap="none" normalizeH="0" baseline="0" dirty="0">
              <a:ln>
                <a:noFill/>
              </a:ln>
              <a:solidFill>
                <a:schemeClr val="tx1"/>
              </a:solidFill>
              <a:effectLst/>
              <a:latin typeface="Mulish"/>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7C828A"/>
                </a:solidFill>
                <a:effectLst/>
                <a:latin typeface="Mulish"/>
              </a:rPr>
              <a:t>The moist cooking method relies on the presence of liquid to cook the main ingredient. It is the most appropriate cooking method to </a:t>
            </a:r>
            <a:r>
              <a:rPr kumimoji="0" lang="en-US" altLang="en-US" sz="2800" b="0" i="0" u="none" strike="noStrike" cap="none" normalizeH="0" baseline="0" dirty="0" err="1">
                <a:ln>
                  <a:noFill/>
                </a:ln>
                <a:solidFill>
                  <a:srgbClr val="7C828A"/>
                </a:solidFill>
                <a:effectLst/>
                <a:latin typeface="Mulish"/>
              </a:rPr>
              <a:t>tenderise</a:t>
            </a:r>
            <a:r>
              <a:rPr kumimoji="0" lang="en-US" altLang="en-US" sz="2800" b="0" i="0" u="none" strike="noStrike" cap="none" normalizeH="0" baseline="0" dirty="0">
                <a:ln>
                  <a:noFill/>
                </a:ln>
                <a:solidFill>
                  <a:srgbClr val="7C828A"/>
                </a:solidFill>
                <a:effectLst/>
                <a:latin typeface="Mulish"/>
              </a:rPr>
              <a:t> the tough fibers of any raw food item, especially meat.  </a:t>
            </a:r>
            <a:br>
              <a:rPr kumimoji="0" lang="en-US" altLang="en-US" sz="2800" b="0" i="0" u="none" strike="noStrike" cap="none" normalizeH="0" baseline="0" dirty="0">
                <a:ln>
                  <a:noFill/>
                </a:ln>
                <a:solidFill>
                  <a:srgbClr val="7C828A"/>
                </a:solidFill>
                <a:effectLst/>
                <a:latin typeface="Mulish"/>
              </a:rPr>
            </a:br>
            <a:endParaRPr lang="en-US" altLang="en-US" dirty="0">
              <a:solidFill>
                <a:srgbClr val="7C828A"/>
              </a:solidFill>
              <a:latin typeface="Mulish"/>
            </a:endParaRPr>
          </a:p>
          <a:p>
            <a:pPr marL="0" indent="0">
              <a:buNone/>
            </a:pPr>
            <a:r>
              <a:rPr kumimoji="0" lang="en-US" altLang="en-US" sz="2800" b="1" i="0" u="none" strike="noStrike" cap="none" normalizeH="0" baseline="0" dirty="0">
                <a:ln>
                  <a:noFill/>
                </a:ln>
                <a:solidFill>
                  <a:schemeClr val="tx1"/>
                </a:solidFill>
                <a:effectLst/>
                <a:latin typeface="Mulish"/>
              </a:rPr>
              <a:t>5. Boiling</a:t>
            </a:r>
            <a:endParaRPr kumimoji="0" lang="en-US" altLang="en-US" sz="2800" b="0" i="0" u="none" strike="noStrike" cap="none" normalizeH="0" baseline="0" dirty="0">
              <a:ln>
                <a:noFill/>
              </a:ln>
              <a:solidFill>
                <a:srgbClr val="7C828A"/>
              </a:solidFill>
              <a:effectLst/>
              <a:latin typeface="Mulish"/>
            </a:endParaRPr>
          </a:p>
          <a:p>
            <a:pPr marL="0" indent="0">
              <a:buNone/>
            </a:pPr>
            <a:r>
              <a:rPr kumimoji="0" lang="en-US" altLang="en-US" sz="2800" b="0" i="0" u="none" strike="noStrike" cap="none" normalizeH="0" baseline="0" dirty="0">
                <a:ln>
                  <a:noFill/>
                </a:ln>
                <a:solidFill>
                  <a:srgbClr val="7C828A"/>
                </a:solidFill>
                <a:effectLst/>
                <a:latin typeface="Mulish"/>
              </a:rPr>
              <a:t>In the boiling cooking method, you need to immerse raw ingredients in water (may it be vegetable, meat, or fish), let them get all the heat and cook until the water reaches its boiling point (100 degrees Celsius). Boil fibrous raw materials to make them soft and easy to eat.   </a:t>
            </a: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None/>
              <a:tabLst/>
            </a:pPr>
            <a:br>
              <a:rPr kumimoji="0" lang="en-US" altLang="en-US" sz="2800" b="0" i="0" u="none" strike="noStrike" cap="none" normalizeH="0" baseline="0" dirty="0">
                <a:ln>
                  <a:noFill/>
                </a:ln>
                <a:solidFill>
                  <a:srgbClr val="7C828A"/>
                </a:solidFill>
                <a:effectLst/>
                <a:latin typeface="Mulish"/>
              </a:rPr>
            </a:br>
            <a:endParaRPr kumimoji="0" lang="en-US" altLang="en-US" sz="1400" b="1" i="0" u="none" strike="noStrike" cap="none" normalizeH="0" baseline="0" dirty="0">
              <a:ln>
                <a:noFill/>
              </a:ln>
              <a:solidFill>
                <a:schemeClr val="tx1"/>
              </a:solidFill>
              <a:effectLst/>
              <a:latin typeface="Mulish"/>
            </a:endParaRPr>
          </a:p>
          <a:p>
            <a:pPr marL="0" marR="0" lvl="0" indent="0" defTabSz="914400" rtl="0" eaLnBrk="0" fontAlgn="base" latinLnBrk="0" hangingPunct="0">
              <a:lnSpc>
                <a:spcPct val="100000"/>
              </a:lnSpc>
              <a:spcBef>
                <a:spcPct val="0"/>
              </a:spcBef>
              <a:spcAft>
                <a:spcPct val="0"/>
              </a:spcAft>
              <a:buClrTx/>
              <a:buSzTx/>
              <a:buFontTx/>
              <a:buNone/>
              <a:tabLst/>
            </a:pPr>
            <a:br>
              <a:rPr kumimoji="0" lang="en-US" altLang="en-US" sz="1400" b="1" i="0" u="none" strike="noStrike" cap="none" normalizeH="0" baseline="0" dirty="0">
                <a:ln>
                  <a:noFill/>
                </a:ln>
                <a:solidFill>
                  <a:schemeClr val="tx1"/>
                </a:solidFill>
                <a:effectLst/>
                <a:latin typeface="Mulish"/>
              </a:rPr>
            </a:br>
            <a:endParaRPr kumimoji="0" lang="en-US" altLang="en-US" sz="1400" b="1" i="0" u="none" strike="noStrike" cap="none" normalizeH="0" baseline="0" dirty="0">
              <a:ln>
                <a:noFill/>
              </a:ln>
              <a:solidFill>
                <a:schemeClr val="tx1"/>
              </a:solidFill>
              <a:effectLst/>
              <a:latin typeface="Mulish"/>
            </a:endParaRPr>
          </a:p>
          <a:p>
            <a:endParaRPr lang="en-IN" dirty="0"/>
          </a:p>
        </p:txBody>
      </p:sp>
      <p:pic>
        <p:nvPicPr>
          <p:cNvPr id="4098" name="Picture 2">
            <a:extLst>
              <a:ext uri="{FF2B5EF4-FFF2-40B4-BE49-F238E27FC236}">
                <a16:creationId xmlns:a16="http://schemas.microsoft.com/office/drawing/2014/main" id="{8D183EF8-A70D-078C-5A0E-9B4047DB0A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1" y="1690688"/>
            <a:ext cx="4572000" cy="457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63370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0E1B2-C752-ED25-B178-AFAD6ABE0363}"/>
              </a:ext>
            </a:extLst>
          </p:cNvPr>
          <p:cNvSpPr>
            <a:spLocks noGrp="1"/>
          </p:cNvSpPr>
          <p:nvPr>
            <p:ph type="title"/>
          </p:nvPr>
        </p:nvSpPr>
        <p:spPr/>
        <p:txBody>
          <a:bodyPr/>
          <a:lstStyle/>
          <a:p>
            <a:r>
              <a:rPr kumimoji="0" lang="en-US" altLang="en-US" sz="4400" b="1" i="0" u="none" strike="noStrike" cap="none" normalizeH="0" baseline="0" dirty="0">
                <a:ln>
                  <a:noFill/>
                </a:ln>
                <a:solidFill>
                  <a:schemeClr val="tx1"/>
                </a:solidFill>
                <a:effectLst/>
                <a:latin typeface="Mulish"/>
              </a:rPr>
              <a:t>                                Poaching</a:t>
            </a:r>
            <a:endParaRPr lang="en-IN" dirty="0"/>
          </a:p>
        </p:txBody>
      </p:sp>
      <p:sp>
        <p:nvSpPr>
          <p:cNvPr id="3" name="Content Placeholder 2">
            <a:extLst>
              <a:ext uri="{FF2B5EF4-FFF2-40B4-BE49-F238E27FC236}">
                <a16:creationId xmlns:a16="http://schemas.microsoft.com/office/drawing/2014/main" id="{2319DB68-9058-2A52-45E5-047C4CC4F05E}"/>
              </a:ext>
            </a:extLst>
          </p:cNvPr>
          <p:cNvSpPr>
            <a:spLocks noGrp="1"/>
          </p:cNvSpPr>
          <p:nvPr>
            <p:ph idx="1"/>
          </p:nvPr>
        </p:nvSpPr>
        <p:spPr>
          <a:xfrm>
            <a:off x="6243144" y="1825625"/>
            <a:ext cx="5110655" cy="4351338"/>
          </a:xfrm>
        </p:spPr>
        <p:txBody>
          <a:bodyPr/>
          <a:lstStyle/>
          <a:p>
            <a:pPr marL="0" indent="0">
              <a:buNone/>
            </a:pPr>
            <a:r>
              <a:rPr kumimoji="0" lang="en-US" altLang="en-US" sz="2800" b="1" i="0" u="none" strike="noStrike" cap="none" normalizeH="0" baseline="0" dirty="0">
                <a:ln>
                  <a:noFill/>
                </a:ln>
                <a:solidFill>
                  <a:schemeClr val="tx1"/>
                </a:solidFill>
                <a:effectLst/>
                <a:latin typeface="Mulish"/>
              </a:rPr>
              <a:t>6. Poaching</a:t>
            </a:r>
            <a:endParaRPr kumimoji="0" lang="en-US" altLang="en-US" sz="2800" b="0" i="0" u="none" strike="noStrike" cap="none" normalizeH="0" baseline="0" dirty="0">
              <a:ln>
                <a:noFill/>
              </a:ln>
              <a:solidFill>
                <a:srgbClr val="7C828A"/>
              </a:solidFill>
              <a:effectLst/>
              <a:latin typeface="Mulish"/>
            </a:endParaRPr>
          </a:p>
          <a:p>
            <a:pPr marL="0" indent="0">
              <a:buNone/>
            </a:pPr>
            <a:r>
              <a:rPr kumimoji="0" lang="en-US" altLang="en-US" sz="2800" b="0" i="0" u="none" strike="noStrike" cap="none" normalizeH="0" baseline="0" dirty="0">
                <a:ln>
                  <a:noFill/>
                </a:ln>
                <a:solidFill>
                  <a:srgbClr val="7C828A"/>
                </a:solidFill>
                <a:effectLst/>
                <a:latin typeface="Mulish"/>
              </a:rPr>
              <a:t>The poaching method requires you to immerse the food into the water, maintaining the temperature between 60 to 80 degrees Celsius. This type of low-heat cooking, among all other cooking methods, helps retain the moisture and </a:t>
            </a:r>
            <a:r>
              <a:rPr kumimoji="0" lang="en-US" altLang="en-US" sz="2800" b="0" i="0" u="none" strike="noStrike" cap="none" normalizeH="0" baseline="0" dirty="0" err="1">
                <a:ln>
                  <a:noFill/>
                </a:ln>
                <a:solidFill>
                  <a:srgbClr val="7C828A"/>
                </a:solidFill>
                <a:effectLst/>
                <a:latin typeface="Mulish"/>
              </a:rPr>
              <a:t>flavour</a:t>
            </a:r>
            <a:r>
              <a:rPr kumimoji="0" lang="en-US" altLang="en-US" sz="2800" b="0" i="0" u="none" strike="noStrike" cap="none" normalizeH="0" baseline="0" dirty="0">
                <a:ln>
                  <a:noFill/>
                </a:ln>
                <a:solidFill>
                  <a:srgbClr val="7C828A"/>
                </a:solidFill>
                <a:effectLst/>
                <a:latin typeface="Mulish"/>
              </a:rPr>
              <a:t> of the food without needing excess oil.  </a:t>
            </a:r>
            <a:endParaRPr kumimoji="0" lang="en-US" altLang="en-US" sz="3600" b="0" i="0" u="none" strike="noStrike" cap="none" normalizeH="0" baseline="0" dirty="0">
              <a:ln>
                <a:noFill/>
              </a:ln>
              <a:solidFill>
                <a:schemeClr val="tx1"/>
              </a:solidFill>
              <a:effectLst/>
              <a:latin typeface="Arial" panose="020B0604020202020204" pitchFamily="34" charset="0"/>
            </a:endParaRPr>
          </a:p>
          <a:p>
            <a:endParaRPr lang="en-IN" dirty="0"/>
          </a:p>
        </p:txBody>
      </p:sp>
      <p:pic>
        <p:nvPicPr>
          <p:cNvPr id="5122" name="Picture 2">
            <a:extLst>
              <a:ext uri="{FF2B5EF4-FFF2-40B4-BE49-F238E27FC236}">
                <a16:creationId xmlns:a16="http://schemas.microsoft.com/office/drawing/2014/main" id="{A156B02C-B46F-7BF3-681E-84E2DDB2AB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7330" y="1690688"/>
            <a:ext cx="4572000" cy="457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33897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231E06-95D0-3DFA-DFCF-A12F2FD498FF}"/>
              </a:ext>
            </a:extLst>
          </p:cNvPr>
          <p:cNvSpPr>
            <a:spLocks noGrp="1"/>
          </p:cNvSpPr>
          <p:nvPr>
            <p:ph type="title"/>
          </p:nvPr>
        </p:nvSpPr>
        <p:spPr/>
        <p:txBody>
          <a:bodyPr/>
          <a:lstStyle/>
          <a:p>
            <a:r>
              <a:rPr kumimoji="0" lang="en-US" altLang="en-US" sz="4400" b="1" i="0" u="none" strike="noStrike" cap="none" normalizeH="0" baseline="0" dirty="0">
                <a:ln>
                  <a:noFill/>
                </a:ln>
                <a:solidFill>
                  <a:schemeClr val="tx1"/>
                </a:solidFill>
                <a:effectLst/>
                <a:latin typeface="Mulish"/>
              </a:rPr>
              <a:t>                               Sous Vide</a:t>
            </a:r>
            <a:endParaRPr lang="en-IN" dirty="0"/>
          </a:p>
        </p:txBody>
      </p:sp>
      <p:sp>
        <p:nvSpPr>
          <p:cNvPr id="3" name="Content Placeholder 2">
            <a:extLst>
              <a:ext uri="{FF2B5EF4-FFF2-40B4-BE49-F238E27FC236}">
                <a16:creationId xmlns:a16="http://schemas.microsoft.com/office/drawing/2014/main" id="{C5593DE4-2CDB-7D37-B675-046ED6DE8581}"/>
              </a:ext>
            </a:extLst>
          </p:cNvPr>
          <p:cNvSpPr>
            <a:spLocks noGrp="1"/>
          </p:cNvSpPr>
          <p:nvPr>
            <p:ph idx="1"/>
          </p:nvPr>
        </p:nvSpPr>
        <p:spPr>
          <a:xfrm>
            <a:off x="6169572" y="1825625"/>
            <a:ext cx="5184228" cy="4351338"/>
          </a:xfrm>
        </p:spPr>
        <p:txBody>
          <a:bodyPr/>
          <a:lstStyle/>
          <a:p>
            <a:pPr marL="0" indent="0">
              <a:buNone/>
            </a:pPr>
            <a:r>
              <a:rPr kumimoji="0" lang="en-US" altLang="en-US" sz="2800" b="1" i="0" u="none" strike="noStrike" cap="none" normalizeH="0" baseline="0" dirty="0">
                <a:ln>
                  <a:noFill/>
                </a:ln>
                <a:solidFill>
                  <a:schemeClr val="tx1"/>
                </a:solidFill>
                <a:effectLst/>
                <a:latin typeface="Mulish"/>
              </a:rPr>
              <a:t>7. Sous Vide</a:t>
            </a:r>
            <a:endParaRPr kumimoji="0" lang="en-US" altLang="en-US" sz="2800" b="0" i="0" u="none" strike="noStrike" cap="none" normalizeH="0" baseline="0" dirty="0">
              <a:ln>
                <a:noFill/>
              </a:ln>
              <a:solidFill>
                <a:srgbClr val="7C828A"/>
              </a:solidFill>
              <a:effectLst/>
              <a:latin typeface="Mulish"/>
            </a:endParaRPr>
          </a:p>
          <a:p>
            <a:pPr marL="0" indent="0">
              <a:buNone/>
            </a:pPr>
            <a:r>
              <a:rPr kumimoji="0" lang="en-US" altLang="en-US" sz="2800" b="0" i="0" u="none" strike="noStrike" cap="none" normalizeH="0" baseline="0" dirty="0">
                <a:ln>
                  <a:noFill/>
                </a:ln>
                <a:solidFill>
                  <a:srgbClr val="7C828A"/>
                </a:solidFill>
                <a:effectLst/>
                <a:latin typeface="Mulish"/>
              </a:rPr>
              <a:t>“Sous Vide” originates from the French term "under vacuum." Here, you must place the vacuum-sealed raw material in a hot water bath, letting it slow cook. The best part about the technique is that it reduces contamination risks, prep time, and energy consumption. </a:t>
            </a:r>
            <a:br>
              <a:rPr kumimoji="0" lang="en-US" altLang="en-US" sz="2800" b="0" i="0" u="none" strike="noStrike" cap="none" normalizeH="0" baseline="0" dirty="0">
                <a:ln>
                  <a:noFill/>
                </a:ln>
                <a:solidFill>
                  <a:srgbClr val="7C828A"/>
                </a:solidFill>
                <a:effectLst/>
                <a:latin typeface="Mulish"/>
              </a:rPr>
            </a:br>
            <a:endParaRPr kumimoji="0" lang="en-US" altLang="en-US" sz="3600" b="0" i="0" u="none" strike="noStrike" cap="none" normalizeH="0" baseline="0" dirty="0">
              <a:ln>
                <a:noFill/>
              </a:ln>
              <a:solidFill>
                <a:schemeClr val="tx1"/>
              </a:solidFill>
              <a:effectLst/>
              <a:latin typeface="Arial" panose="020B0604020202020204" pitchFamily="34" charset="0"/>
            </a:endParaRPr>
          </a:p>
          <a:p>
            <a:endParaRPr lang="en-IN" dirty="0"/>
          </a:p>
        </p:txBody>
      </p:sp>
      <p:pic>
        <p:nvPicPr>
          <p:cNvPr id="6146" name="Picture 2">
            <a:extLst>
              <a:ext uri="{FF2B5EF4-FFF2-40B4-BE49-F238E27FC236}">
                <a16:creationId xmlns:a16="http://schemas.microsoft.com/office/drawing/2014/main" id="{FCC99A79-716E-0236-0FB7-5572669805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8558" y="1825625"/>
            <a:ext cx="4572000" cy="4572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60023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C7B6F-7A28-8FA9-A335-0D3896B94D41}"/>
              </a:ext>
            </a:extLst>
          </p:cNvPr>
          <p:cNvSpPr>
            <a:spLocks noGrp="1"/>
          </p:cNvSpPr>
          <p:nvPr>
            <p:ph type="title"/>
          </p:nvPr>
        </p:nvSpPr>
        <p:spPr/>
        <p:txBody>
          <a:bodyPr>
            <a:normAutofit/>
          </a:bodyPr>
          <a:lstStyle/>
          <a:p>
            <a:r>
              <a:rPr lang="en-US" altLang="en-US" b="1" dirty="0">
                <a:latin typeface="Mulish"/>
              </a:rPr>
              <a:t>                                </a:t>
            </a:r>
            <a:r>
              <a:rPr kumimoji="0" lang="en-US" altLang="en-US" sz="4400" b="1" i="0" u="none" strike="noStrike" cap="none" normalizeH="0" baseline="0" dirty="0">
                <a:ln>
                  <a:noFill/>
                </a:ln>
                <a:solidFill>
                  <a:schemeClr val="tx1"/>
                </a:solidFill>
                <a:effectLst/>
                <a:latin typeface="Mulish"/>
              </a:rPr>
              <a:t>Sauteing</a:t>
            </a:r>
            <a:endParaRPr lang="en-IN" dirty="0"/>
          </a:p>
        </p:txBody>
      </p:sp>
      <p:sp>
        <p:nvSpPr>
          <p:cNvPr id="3" name="Content Placeholder 2">
            <a:extLst>
              <a:ext uri="{FF2B5EF4-FFF2-40B4-BE49-F238E27FC236}">
                <a16:creationId xmlns:a16="http://schemas.microsoft.com/office/drawing/2014/main" id="{0B4753BD-1D37-A03F-FD4D-1291856BB185}"/>
              </a:ext>
            </a:extLst>
          </p:cNvPr>
          <p:cNvSpPr>
            <a:spLocks noGrp="1"/>
          </p:cNvSpPr>
          <p:nvPr>
            <p:ph idx="1"/>
          </p:nvPr>
        </p:nvSpPr>
        <p:spPr>
          <a:xfrm>
            <a:off x="5286703" y="1825624"/>
            <a:ext cx="6716110" cy="4806403"/>
          </a:xfrm>
        </p:spPr>
        <p:txBody>
          <a:bodyPr>
            <a:normAutofit fontScale="92500" lnSpcReduction="10000"/>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Mulish"/>
              </a:rPr>
              <a:t>III-Cooking Using Oil</a:t>
            </a: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7C828A"/>
                </a:solidFill>
                <a:effectLst/>
                <a:latin typeface="Mulish"/>
              </a:rPr>
              <a:t>You can ditch water but cannot say no to oil always. Here are the various ways of cooking using oil.  </a:t>
            </a:r>
            <a:br>
              <a:rPr kumimoji="0" lang="en-US" altLang="en-US" sz="2800" b="0" i="0" u="none" strike="noStrike" cap="none" normalizeH="0" baseline="0" dirty="0">
                <a:ln>
                  <a:noFill/>
                </a:ln>
                <a:solidFill>
                  <a:srgbClr val="7C828A"/>
                </a:solidFill>
                <a:effectLst/>
                <a:latin typeface="Mulish"/>
              </a:rPr>
            </a:br>
            <a:endParaRPr kumimoji="0" lang="en-US" altLang="en-US" sz="1400" b="1" i="0" u="none" strike="noStrike" cap="none" normalizeH="0" baseline="0" dirty="0">
              <a:ln>
                <a:noFill/>
              </a:ln>
              <a:solidFill>
                <a:schemeClr val="tx1"/>
              </a:solidFill>
              <a:effectLst/>
              <a:latin typeface="Mulish"/>
            </a:endParaRPr>
          </a:p>
          <a:p>
            <a:pPr marL="0" indent="0">
              <a:buNone/>
            </a:pPr>
            <a:r>
              <a:rPr kumimoji="0" lang="en-US" altLang="en-US" sz="2800" b="1" i="0" u="none" strike="noStrike" cap="none" normalizeH="0" baseline="0" dirty="0">
                <a:ln>
                  <a:noFill/>
                </a:ln>
                <a:solidFill>
                  <a:schemeClr val="tx1"/>
                </a:solidFill>
                <a:effectLst/>
                <a:latin typeface="Mulish"/>
              </a:rPr>
              <a:t>8. Sauteing</a:t>
            </a:r>
            <a:endParaRPr kumimoji="0" lang="en-US" altLang="en-US" sz="2800" b="0" i="0" u="none" strike="noStrike" cap="none" normalizeH="0" baseline="0" dirty="0">
              <a:ln>
                <a:noFill/>
              </a:ln>
              <a:solidFill>
                <a:srgbClr val="7C828A"/>
              </a:solidFill>
              <a:effectLst/>
              <a:latin typeface="Mulish"/>
            </a:endParaRPr>
          </a:p>
          <a:p>
            <a:pPr marL="0" indent="0">
              <a:buNone/>
            </a:pPr>
            <a:r>
              <a:rPr kumimoji="0" lang="en-US" altLang="en-US" sz="2800" b="0" i="0" u="none" strike="noStrike" cap="none" normalizeH="0" baseline="0" dirty="0">
                <a:ln>
                  <a:noFill/>
                </a:ln>
                <a:solidFill>
                  <a:srgbClr val="7C828A"/>
                </a:solidFill>
                <a:effectLst/>
                <a:latin typeface="Mulish"/>
              </a:rPr>
              <a:t>It is the healthiest option among all other cooking methods using oil. When on a diet and determined to abide by a strict rule, you can </a:t>
            </a:r>
            <a:r>
              <a:rPr kumimoji="0" lang="en-US" altLang="en-US" sz="2800" b="0" i="0" u="none" strike="noStrike" cap="none" normalizeH="0" baseline="0" dirty="0" err="1">
                <a:ln>
                  <a:noFill/>
                </a:ln>
                <a:solidFill>
                  <a:srgbClr val="7C828A"/>
                </a:solidFill>
                <a:effectLst/>
                <a:latin typeface="Mulish"/>
              </a:rPr>
              <a:t>saute</a:t>
            </a:r>
            <a:r>
              <a:rPr kumimoji="0" lang="en-US" altLang="en-US" sz="2800" b="0" i="0" u="none" strike="noStrike" cap="none" normalizeH="0" baseline="0" dirty="0">
                <a:ln>
                  <a:noFill/>
                </a:ln>
                <a:solidFill>
                  <a:srgbClr val="7C828A"/>
                </a:solidFill>
                <a:effectLst/>
                <a:latin typeface="Mulish"/>
              </a:rPr>
              <a:t> your vegetables in less oil on a </a:t>
            </a:r>
            <a:r>
              <a:rPr lang="en-US" altLang="en-US" dirty="0">
                <a:solidFill>
                  <a:srgbClr val="7C828A"/>
                </a:solidFill>
                <a:latin typeface="Mulish"/>
              </a:rPr>
              <a:t>pan</a:t>
            </a:r>
            <a:r>
              <a:rPr kumimoji="0" lang="en-US" altLang="en-US" sz="2800" b="0" i="0" u="none" strike="noStrike" cap="none" normalizeH="0" baseline="0" dirty="0">
                <a:ln>
                  <a:noFill/>
                </a:ln>
                <a:solidFill>
                  <a:srgbClr val="7C828A"/>
                </a:solidFill>
                <a:effectLst/>
                <a:latin typeface="Mulish"/>
              </a:rPr>
              <a:t> over a burner. The term </a:t>
            </a:r>
            <a:r>
              <a:rPr kumimoji="0" lang="en-US" altLang="en-US" sz="2800" b="0" i="0" u="none" strike="noStrike" cap="none" normalizeH="0" baseline="0" dirty="0" err="1">
                <a:ln>
                  <a:noFill/>
                </a:ln>
                <a:solidFill>
                  <a:srgbClr val="7C828A"/>
                </a:solidFill>
                <a:effectLst/>
                <a:latin typeface="Mulish"/>
              </a:rPr>
              <a:t>saute</a:t>
            </a:r>
            <a:r>
              <a:rPr kumimoji="0" lang="en-US" altLang="en-US" sz="2800" b="0" i="0" u="none" strike="noStrike" cap="none" normalizeH="0" baseline="0" dirty="0">
                <a:ln>
                  <a:noFill/>
                </a:ln>
                <a:solidFill>
                  <a:srgbClr val="7C828A"/>
                </a:solidFill>
                <a:effectLst/>
                <a:latin typeface="Mulish"/>
              </a:rPr>
              <a:t> is derived from the French word "to jump," where you keep moving the food by flipping or tossing it on the pan. </a:t>
            </a:r>
            <a:endParaRPr kumimoji="0" lang="en-US" altLang="en-US" sz="3600" b="0" i="0" u="none" strike="noStrike" cap="none" normalizeH="0" baseline="0" dirty="0">
              <a:ln>
                <a:noFill/>
              </a:ln>
              <a:solidFill>
                <a:schemeClr val="tx1"/>
              </a:solidFill>
              <a:effectLst/>
              <a:latin typeface="Arial" panose="020B0604020202020204" pitchFamily="34" charset="0"/>
            </a:endParaRPr>
          </a:p>
          <a:p>
            <a:endParaRPr lang="en-IN" dirty="0"/>
          </a:p>
        </p:txBody>
      </p:sp>
      <p:pic>
        <p:nvPicPr>
          <p:cNvPr id="7170" name="Picture 2">
            <a:extLst>
              <a:ext uri="{FF2B5EF4-FFF2-40B4-BE49-F238E27FC236}">
                <a16:creationId xmlns:a16="http://schemas.microsoft.com/office/drawing/2014/main" id="{60390972-A3A4-E273-A201-839B72E208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8579" y="1825625"/>
            <a:ext cx="4572000" cy="457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07073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1BDA8-BDD7-C204-B0CC-07A49B748E83}"/>
              </a:ext>
            </a:extLst>
          </p:cNvPr>
          <p:cNvSpPr>
            <a:spLocks noGrp="1"/>
          </p:cNvSpPr>
          <p:nvPr>
            <p:ph type="title"/>
          </p:nvPr>
        </p:nvSpPr>
        <p:spPr/>
        <p:txBody>
          <a:bodyPr/>
          <a:lstStyle/>
          <a:p>
            <a:r>
              <a:rPr lang="en-US" dirty="0"/>
              <a:t>                                   Searing</a:t>
            </a:r>
            <a:endParaRPr lang="en-IN" dirty="0"/>
          </a:p>
        </p:txBody>
      </p:sp>
      <p:sp>
        <p:nvSpPr>
          <p:cNvPr id="3" name="Content Placeholder 2">
            <a:extLst>
              <a:ext uri="{FF2B5EF4-FFF2-40B4-BE49-F238E27FC236}">
                <a16:creationId xmlns:a16="http://schemas.microsoft.com/office/drawing/2014/main" id="{6D01D970-97F7-BB87-D008-3CEA7749C190}"/>
              </a:ext>
            </a:extLst>
          </p:cNvPr>
          <p:cNvSpPr>
            <a:spLocks noGrp="1"/>
          </p:cNvSpPr>
          <p:nvPr>
            <p:ph idx="1"/>
          </p:nvPr>
        </p:nvSpPr>
        <p:spPr/>
        <p:txBody>
          <a:bodyPr/>
          <a:lstStyle/>
          <a:p>
            <a:pPr marL="0" indent="0" algn="l">
              <a:buNone/>
            </a:pPr>
            <a:r>
              <a:rPr lang="en-US" b="1" i="0" dirty="0">
                <a:effectLst/>
                <a:latin typeface="Mulish"/>
              </a:rPr>
              <a:t>9. Searing</a:t>
            </a:r>
          </a:p>
          <a:p>
            <a:pPr marL="0" indent="0" algn="just">
              <a:buNone/>
            </a:pPr>
            <a:r>
              <a:rPr lang="en-US" b="0" i="0" dirty="0">
                <a:solidFill>
                  <a:srgbClr val="7C828A"/>
                </a:solidFill>
                <a:effectLst/>
                <a:latin typeface="Mulish"/>
              </a:rPr>
              <a:t>The searing technique requires cooking the ingredient at a high temperature, adding a crispy browning crunch on the outside. You can add small amounts of butter, oil or fat to enhance the dish's </a:t>
            </a:r>
            <a:r>
              <a:rPr lang="en-US" b="0" i="0" dirty="0" err="1">
                <a:solidFill>
                  <a:srgbClr val="7C828A"/>
                </a:solidFill>
                <a:effectLst/>
                <a:latin typeface="Mulish"/>
              </a:rPr>
              <a:t>flavour</a:t>
            </a:r>
            <a:r>
              <a:rPr lang="en-US" b="0" i="0" dirty="0">
                <a:solidFill>
                  <a:srgbClr val="7C828A"/>
                </a:solidFill>
                <a:effectLst/>
                <a:latin typeface="Mulish"/>
              </a:rPr>
              <a:t>.</a:t>
            </a:r>
          </a:p>
          <a:p>
            <a:endParaRPr lang="en-IN" dirty="0"/>
          </a:p>
        </p:txBody>
      </p:sp>
    </p:spTree>
    <p:extLst>
      <p:ext uri="{BB962C8B-B14F-4D97-AF65-F5344CB8AC3E}">
        <p14:creationId xmlns:p14="http://schemas.microsoft.com/office/powerpoint/2010/main" val="4891365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C6385-F298-7134-D809-C533AF840FBD}"/>
              </a:ext>
            </a:extLst>
          </p:cNvPr>
          <p:cNvSpPr>
            <a:spLocks noGrp="1"/>
          </p:cNvSpPr>
          <p:nvPr>
            <p:ph type="title"/>
          </p:nvPr>
        </p:nvSpPr>
        <p:spPr/>
        <p:txBody>
          <a:bodyPr>
            <a:normAutofit/>
          </a:bodyPr>
          <a:lstStyle/>
          <a:p>
            <a:r>
              <a:rPr lang="en-US" altLang="en-US" b="1" dirty="0">
                <a:latin typeface="Mulish"/>
              </a:rPr>
              <a:t>                               </a:t>
            </a:r>
            <a:r>
              <a:rPr kumimoji="0" lang="en-US" altLang="en-US" sz="4400" b="1" i="0" u="none" strike="noStrike" cap="none" normalizeH="0" baseline="0" dirty="0">
                <a:ln>
                  <a:noFill/>
                </a:ln>
                <a:solidFill>
                  <a:schemeClr val="tx1"/>
                </a:solidFill>
                <a:effectLst/>
                <a:latin typeface="Mulish"/>
              </a:rPr>
              <a:t> Stir-frying</a:t>
            </a:r>
            <a:endParaRPr lang="en-IN" dirty="0"/>
          </a:p>
        </p:txBody>
      </p:sp>
      <p:sp>
        <p:nvSpPr>
          <p:cNvPr id="3" name="Content Placeholder 2">
            <a:extLst>
              <a:ext uri="{FF2B5EF4-FFF2-40B4-BE49-F238E27FC236}">
                <a16:creationId xmlns:a16="http://schemas.microsoft.com/office/drawing/2014/main" id="{E8F00BC2-EB97-71C6-8000-A25678861934}"/>
              </a:ext>
            </a:extLst>
          </p:cNvPr>
          <p:cNvSpPr>
            <a:spLocks noGrp="1"/>
          </p:cNvSpPr>
          <p:nvPr>
            <p:ph idx="1"/>
          </p:nvPr>
        </p:nvSpPr>
        <p:spPr>
          <a:xfrm>
            <a:off x="5570484" y="1825624"/>
            <a:ext cx="6327226" cy="5032375"/>
          </a:xfrm>
        </p:spPr>
        <p:txBody>
          <a:bodyPr>
            <a:normAutofit/>
          </a:bodyPr>
          <a:lstStyle/>
          <a:p>
            <a:pPr marL="0" indent="0">
              <a:buNone/>
            </a:pPr>
            <a:r>
              <a:rPr kumimoji="0" lang="en-US" altLang="en-US" sz="2800" b="1" i="0" u="none" strike="noStrike" cap="none" normalizeH="0" baseline="0" dirty="0">
                <a:ln>
                  <a:noFill/>
                </a:ln>
                <a:solidFill>
                  <a:schemeClr val="tx1"/>
                </a:solidFill>
                <a:effectLst/>
                <a:latin typeface="Mulish"/>
              </a:rPr>
              <a:t>10. Stir-frying</a:t>
            </a:r>
            <a:endParaRPr kumimoji="0" lang="en-US" altLang="en-US" sz="2800" b="0" i="0" u="none" strike="noStrike" cap="none" normalizeH="0" baseline="0" dirty="0">
              <a:ln>
                <a:noFill/>
              </a:ln>
              <a:solidFill>
                <a:srgbClr val="7C828A"/>
              </a:solidFill>
              <a:effectLst/>
              <a:latin typeface="Mulish"/>
            </a:endParaRPr>
          </a:p>
          <a:p>
            <a:pPr marL="0" indent="0">
              <a:buNone/>
            </a:pPr>
            <a:r>
              <a:rPr kumimoji="0" lang="en-US" altLang="en-US" sz="2800" b="0" i="0" u="none" strike="noStrike" cap="none" normalizeH="0" baseline="0" dirty="0">
                <a:ln>
                  <a:noFill/>
                </a:ln>
                <a:solidFill>
                  <a:srgbClr val="7C828A"/>
                </a:solidFill>
                <a:effectLst/>
                <a:latin typeface="Mulish"/>
              </a:rPr>
              <a:t>Stir-frying is a commonly used technique to cook Chinese or Korean dishes. Here you need an oiled </a:t>
            </a:r>
            <a:r>
              <a:rPr lang="en-US" altLang="en-US" dirty="0" err="1">
                <a:solidFill>
                  <a:srgbClr val="7C828A"/>
                </a:solidFill>
                <a:latin typeface="Mulish"/>
              </a:rPr>
              <a:t>kadhai</a:t>
            </a:r>
            <a:r>
              <a:rPr kumimoji="0" lang="en-US" altLang="en-US" sz="2800" b="0" i="0" u="none" strike="noStrike" cap="none" normalizeH="0" baseline="0" dirty="0">
                <a:ln>
                  <a:noFill/>
                </a:ln>
                <a:solidFill>
                  <a:srgbClr val="7C828A"/>
                </a:solidFill>
                <a:effectLst/>
                <a:latin typeface="Mulish"/>
              </a:rPr>
              <a:t> and must continue stirring the ingredient using a pair of chopsticks or a </a:t>
            </a:r>
            <a:r>
              <a:rPr lang="en-US" altLang="en-US" dirty="0">
                <a:solidFill>
                  <a:srgbClr val="7C828A"/>
                </a:solidFill>
                <a:latin typeface="Mulish"/>
              </a:rPr>
              <a:t>spatula</a:t>
            </a:r>
            <a:r>
              <a:rPr kumimoji="0" lang="en-US" altLang="en-US" sz="2800" b="0" i="0" u="none" strike="noStrike" cap="none" normalizeH="0" baseline="0" dirty="0">
                <a:ln>
                  <a:noFill/>
                </a:ln>
                <a:solidFill>
                  <a:srgbClr val="7C828A"/>
                </a:solidFill>
                <a:effectLst/>
                <a:latin typeface="Mulish"/>
              </a:rPr>
              <a:t>. This ensures the food is uniformly firm and thoroughly cooked from all sides. The stir-frying technique is further divided into the Bao and Chao methods.  </a:t>
            </a:r>
            <a:br>
              <a:rPr kumimoji="0" lang="en-US" altLang="en-US" sz="2800" b="0" i="0" u="none" strike="noStrike" cap="none" normalizeH="0" baseline="0" dirty="0">
                <a:ln>
                  <a:noFill/>
                </a:ln>
                <a:solidFill>
                  <a:srgbClr val="7C828A"/>
                </a:solidFill>
                <a:effectLst/>
                <a:latin typeface="Mulish"/>
              </a:rPr>
            </a:br>
            <a:endParaRPr kumimoji="0" lang="en-US" altLang="en-US" sz="3600" b="0" i="0" u="none" strike="noStrike" cap="none" normalizeH="0" baseline="0" dirty="0">
              <a:ln>
                <a:noFill/>
              </a:ln>
              <a:solidFill>
                <a:schemeClr val="tx1"/>
              </a:solidFill>
              <a:effectLst/>
              <a:latin typeface="Arial" panose="020B0604020202020204" pitchFamily="34" charset="0"/>
            </a:endParaRPr>
          </a:p>
          <a:p>
            <a:endParaRPr lang="en-IN" dirty="0"/>
          </a:p>
        </p:txBody>
      </p:sp>
      <p:pic>
        <p:nvPicPr>
          <p:cNvPr id="8194" name="Picture 2">
            <a:extLst>
              <a:ext uri="{FF2B5EF4-FFF2-40B4-BE49-F238E27FC236}">
                <a16:creationId xmlns:a16="http://schemas.microsoft.com/office/drawing/2014/main" id="{61B56531-8E9B-E96C-B252-378BCFD5A1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4779" y="1690688"/>
            <a:ext cx="4572000" cy="4572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68367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1EBAE-AF32-EC96-26B5-7FF3796851CE}"/>
              </a:ext>
            </a:extLst>
          </p:cNvPr>
          <p:cNvSpPr>
            <a:spLocks noGrp="1"/>
          </p:cNvSpPr>
          <p:nvPr>
            <p:ph type="title"/>
          </p:nvPr>
        </p:nvSpPr>
        <p:spPr>
          <a:xfrm>
            <a:off x="838200" y="-118347"/>
            <a:ext cx="10515600" cy="1325563"/>
          </a:xfrm>
        </p:spPr>
        <p:txBody>
          <a:bodyPr/>
          <a:lstStyle/>
          <a:p>
            <a:r>
              <a:rPr lang="en-US" dirty="0"/>
              <a:t>                        Food Laws in India</a:t>
            </a:r>
            <a:endParaRPr lang="en-IN" dirty="0"/>
          </a:p>
        </p:txBody>
      </p:sp>
      <p:sp>
        <p:nvSpPr>
          <p:cNvPr id="3" name="Content Placeholder 2">
            <a:extLst>
              <a:ext uri="{FF2B5EF4-FFF2-40B4-BE49-F238E27FC236}">
                <a16:creationId xmlns:a16="http://schemas.microsoft.com/office/drawing/2014/main" id="{CEAFB446-8E04-4A6B-92E4-0FD4315FFF9E}"/>
              </a:ext>
            </a:extLst>
          </p:cNvPr>
          <p:cNvSpPr>
            <a:spLocks noGrp="1"/>
          </p:cNvSpPr>
          <p:nvPr>
            <p:ph idx="1"/>
          </p:nvPr>
        </p:nvSpPr>
        <p:spPr>
          <a:xfrm>
            <a:off x="0" y="977462"/>
            <a:ext cx="12192000" cy="6159063"/>
          </a:xfrm>
        </p:spPr>
        <p:txBody>
          <a:bodyPr>
            <a:normAutofit fontScale="85000" lnSpcReduction="20000"/>
          </a:bodyPr>
          <a:lstStyle/>
          <a:p>
            <a:pPr>
              <a:buFont typeface="Wingdings" panose="05000000000000000000" pitchFamily="2" charset="2"/>
              <a:buChar char="v"/>
            </a:pPr>
            <a:r>
              <a:rPr lang="en-US" dirty="0"/>
              <a:t>Food laws in India are primarily governed by the Food Safety and Standards Act, 2006, and the regulations framed under this act. The objective of these laws is to regulate the manufacture, storage, distribution, sale, and import of food products to ensure their safety and quality.</a:t>
            </a:r>
          </a:p>
          <a:p>
            <a:pPr>
              <a:buFont typeface="Wingdings" panose="05000000000000000000" pitchFamily="2" charset="2"/>
              <a:buChar char="v"/>
            </a:pPr>
            <a:r>
              <a:rPr lang="en-US" dirty="0"/>
              <a:t>In India, food laws and regulations include:  </a:t>
            </a:r>
          </a:p>
          <a:p>
            <a:pPr>
              <a:buFont typeface="Wingdings" panose="05000000000000000000" pitchFamily="2" charset="2"/>
              <a:buChar char="Ø"/>
            </a:pPr>
            <a:r>
              <a:rPr lang="en-US" dirty="0"/>
              <a:t>Food Safety and Standards Act, 2006This act establishes the Food Safety and Standards Authority of India (FSSAI) to regulate the safety and quality of food. The FSSAI is responsible for monitoring the manufacturing, processing, storage, distribution, sale, and import of food.  </a:t>
            </a:r>
          </a:p>
          <a:p>
            <a:pPr>
              <a:buFont typeface="Wingdings" panose="05000000000000000000" pitchFamily="2" charset="2"/>
              <a:buChar char="v"/>
            </a:pPr>
            <a:r>
              <a:rPr lang="en-US" dirty="0"/>
              <a:t>Other food laws</a:t>
            </a:r>
          </a:p>
          <a:p>
            <a:pPr>
              <a:buFont typeface="Wingdings" panose="05000000000000000000" pitchFamily="2" charset="2"/>
              <a:buChar char="Ø"/>
            </a:pPr>
            <a:r>
              <a:rPr lang="en-US" dirty="0"/>
              <a:t>Some other food laws in India include:  </a:t>
            </a:r>
          </a:p>
          <a:p>
            <a:pPr>
              <a:buFont typeface="Wingdings" panose="05000000000000000000" pitchFamily="2" charset="2"/>
              <a:buChar char="§"/>
            </a:pPr>
            <a:r>
              <a:rPr lang="en-US" dirty="0"/>
              <a:t>The Vegetable Oil Products (Control) Order, 1947  </a:t>
            </a:r>
          </a:p>
          <a:p>
            <a:pPr>
              <a:buFont typeface="Wingdings" panose="05000000000000000000" pitchFamily="2" charset="2"/>
              <a:buChar char="§"/>
            </a:pPr>
            <a:r>
              <a:rPr lang="en-US" dirty="0"/>
              <a:t>The Fruit Product Order, 1955  </a:t>
            </a:r>
          </a:p>
          <a:p>
            <a:pPr>
              <a:buFont typeface="Wingdings" panose="05000000000000000000" pitchFamily="2" charset="2"/>
              <a:buChar char="§"/>
            </a:pPr>
            <a:r>
              <a:rPr lang="en-US" dirty="0"/>
              <a:t>The Solvent Extracted Oil, De-oiled Meal, and Edible Flour (Control) Order, 1967  </a:t>
            </a:r>
          </a:p>
          <a:p>
            <a:pPr>
              <a:buFont typeface="Wingdings" panose="05000000000000000000" pitchFamily="2" charset="2"/>
              <a:buChar char="§"/>
            </a:pPr>
            <a:r>
              <a:rPr lang="en-US" dirty="0"/>
              <a:t>The Meat Food Products Order, 1973  </a:t>
            </a:r>
          </a:p>
          <a:p>
            <a:pPr>
              <a:buFont typeface="Wingdings" panose="05000000000000000000" pitchFamily="2" charset="2"/>
              <a:buChar char="§"/>
            </a:pPr>
            <a:r>
              <a:rPr lang="en-US" dirty="0"/>
              <a:t>The Milk and Milk Products Order, 1992  </a:t>
            </a:r>
          </a:p>
          <a:p>
            <a:pPr>
              <a:buFont typeface="Wingdings" panose="05000000000000000000" pitchFamily="2" charset="2"/>
              <a:buChar char="§"/>
            </a:pPr>
            <a:r>
              <a:rPr lang="en-US" dirty="0"/>
              <a:t>The Edible Oils Packaging (Regulation) Order, 1998  </a:t>
            </a:r>
          </a:p>
          <a:p>
            <a:pPr>
              <a:buFont typeface="Wingdings" panose="05000000000000000000" pitchFamily="2" charset="2"/>
              <a:buChar char="Ø"/>
            </a:pPr>
            <a:r>
              <a:rPr lang="en-US" dirty="0"/>
              <a:t>Food laws and regulations also cover aspects like sanitation, licensing, and other permits that are required to run a food business.</a:t>
            </a:r>
            <a:endParaRPr lang="en-IN" dirty="0"/>
          </a:p>
        </p:txBody>
      </p:sp>
    </p:spTree>
    <p:extLst>
      <p:ext uri="{BB962C8B-B14F-4D97-AF65-F5344CB8AC3E}">
        <p14:creationId xmlns:p14="http://schemas.microsoft.com/office/powerpoint/2010/main" val="29278017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C958E9-B147-5F86-7AD4-812F025260F3}"/>
              </a:ext>
            </a:extLst>
          </p:cNvPr>
          <p:cNvSpPr>
            <a:spLocks noGrp="1"/>
          </p:cNvSpPr>
          <p:nvPr>
            <p:ph idx="1"/>
          </p:nvPr>
        </p:nvSpPr>
        <p:spPr>
          <a:xfrm>
            <a:off x="0" y="431800"/>
            <a:ext cx="12192000" cy="6426200"/>
          </a:xfrm>
        </p:spPr>
        <p:txBody>
          <a:bodyPr>
            <a:normAutofit/>
          </a:bodyPr>
          <a:lstStyle/>
          <a:p>
            <a:pPr marL="0" indent="0" algn="ctr">
              <a:buNone/>
            </a:pPr>
            <a:endParaRPr lang="en-US" sz="13000" dirty="0"/>
          </a:p>
          <a:p>
            <a:pPr marL="0" indent="0" algn="ctr">
              <a:buNone/>
            </a:pPr>
            <a:r>
              <a:rPr lang="en-US" sz="13000" dirty="0"/>
              <a:t>Thank You</a:t>
            </a:r>
            <a:endParaRPr lang="en-IN" sz="13000" dirty="0"/>
          </a:p>
        </p:txBody>
      </p:sp>
    </p:spTree>
    <p:extLst>
      <p:ext uri="{BB962C8B-B14F-4D97-AF65-F5344CB8AC3E}">
        <p14:creationId xmlns:p14="http://schemas.microsoft.com/office/powerpoint/2010/main" val="16317463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TotalTime>
  <Words>1092</Words>
  <Application>Microsoft Office PowerPoint</Application>
  <PresentationFormat>Widescreen</PresentationFormat>
  <Paragraphs>63</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Calibri Light</vt:lpstr>
      <vt:lpstr>French Script MT</vt:lpstr>
      <vt:lpstr>Mulish</vt:lpstr>
      <vt:lpstr>Wingdings</vt:lpstr>
      <vt:lpstr>Office Theme</vt:lpstr>
      <vt:lpstr>Cooking Methods</vt:lpstr>
      <vt:lpstr>PowerPoint Presentation</vt:lpstr>
      <vt:lpstr>Broiling</vt:lpstr>
      <vt:lpstr>Grilling</vt:lpstr>
      <vt:lpstr>                                Roasting</vt:lpstr>
      <vt:lpstr>                                  Boiling</vt:lpstr>
      <vt:lpstr>                                Poaching</vt:lpstr>
      <vt:lpstr>                               Sous Vide</vt:lpstr>
      <vt:lpstr>                                Sauteing</vt:lpstr>
      <vt:lpstr>                                   Searing</vt:lpstr>
      <vt:lpstr>                                Stir-frying</vt:lpstr>
      <vt:lpstr>                        Food Laws in India</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Soumitra Das</dc:creator>
  <cp:lastModifiedBy>Soumitra Das</cp:lastModifiedBy>
  <cp:revision>2</cp:revision>
  <dcterms:created xsi:type="dcterms:W3CDTF">2024-10-20T16:54:22Z</dcterms:created>
  <dcterms:modified xsi:type="dcterms:W3CDTF">2025-03-31T15:47:16Z</dcterms:modified>
</cp:coreProperties>
</file>